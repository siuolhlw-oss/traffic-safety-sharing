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e6c31704c4b30" /><Relationship Type="http://schemas.openxmlformats.org/officeDocument/2006/relationships/extended-properties" Target="/docProps/app.xml" Id="R9a3651847cad4061" /><Relationship Type="http://schemas.openxmlformats.org/officeDocument/2006/relationships/officeDocument" Target="/ppt/presentation.xml" Id="R2280e290aa98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3c93b7a264efb"/>
  </p:sldMasterIdLst>
  <p:notesMasterIdLst>
    <p:notesMasterId xmlns:r="http://schemas.openxmlformats.org/officeDocument/2006/relationships" r:id="Ree69fc3dd0c945b2"/>
  </p:notesMasterIdLst>
  <p:sldIdLst>
    <p:sldId xmlns:r="http://schemas.openxmlformats.org/officeDocument/2006/relationships" id="256" r:id="R8f6aa97fb5aa478f"/>
    <p:sldId xmlns:r="http://schemas.openxmlformats.org/officeDocument/2006/relationships" id="257" r:id="Rb9fa9eee210e4be6"/>
    <p:sldId xmlns:r="http://schemas.openxmlformats.org/officeDocument/2006/relationships" id="258" r:id="Rcc2d6b13869f45e2"/>
    <p:sldId xmlns:r="http://schemas.openxmlformats.org/officeDocument/2006/relationships" id="259" r:id="Rb810e2c4ce27489a"/>
    <p:sldId xmlns:r="http://schemas.openxmlformats.org/officeDocument/2006/relationships" id="260" r:id="Rdd5fd58757a04652"/>
    <p:sldId xmlns:r="http://schemas.openxmlformats.org/officeDocument/2006/relationships" id="261" r:id="Rd0d48edd065d456f"/>
    <p:sldId xmlns:r="http://schemas.openxmlformats.org/officeDocument/2006/relationships" id="262" r:id="Rd0409b23c7bb47aa"/>
    <p:sldId xmlns:r="http://schemas.openxmlformats.org/officeDocument/2006/relationships" id="263" r:id="R69bbffaaa7f74a80"/>
    <p:sldId xmlns:r="http://schemas.openxmlformats.org/officeDocument/2006/relationships" id="264" r:id="Rc373e55d040b4e42"/>
    <p:sldId xmlns:r="http://schemas.openxmlformats.org/officeDocument/2006/relationships" id="265" r:id="R4e12ebb6946e41a8"/>
    <p:sldId xmlns:r="http://schemas.openxmlformats.org/officeDocument/2006/relationships" id="266" r:id="Reb52bbde10494656"/>
    <p:sldId xmlns:r="http://schemas.openxmlformats.org/officeDocument/2006/relationships" id="267" r:id="R56564e87362e4fa5"/>
    <p:sldId xmlns:r="http://schemas.openxmlformats.org/officeDocument/2006/relationships" id="268" r:id="R725eaf4756ad4cca"/>
    <p:sldId xmlns:r="http://schemas.openxmlformats.org/officeDocument/2006/relationships" id="269" r:id="R4d890406bee8404e"/>
    <p:sldId xmlns:r="http://schemas.openxmlformats.org/officeDocument/2006/relationships" id="270" r:id="R5f622f1bb44845ca"/>
    <p:sldId xmlns:r="http://schemas.openxmlformats.org/officeDocument/2006/relationships" id="271" r:id="Rd4b6f4db8ee24221"/>
    <p:sldId xmlns:r="http://schemas.openxmlformats.org/officeDocument/2006/relationships" id="272" r:id="R6e66abf4dbab46d1"/>
    <p:sldId xmlns:r="http://schemas.openxmlformats.org/officeDocument/2006/relationships" id="273" r:id="Recc73ac03a664f63"/>
    <p:sldId xmlns:r="http://schemas.openxmlformats.org/officeDocument/2006/relationships" id="274" r:id="R7031726ffaec4af6"/>
    <p:sldId xmlns:r="http://schemas.openxmlformats.org/officeDocument/2006/relationships" id="275" r:id="R54967254f16a4c86"/>
    <p:sldId xmlns:r="http://schemas.openxmlformats.org/officeDocument/2006/relationships" id="276" r:id="R60a598aca45f4d43"/>
    <p:sldId xmlns:r="http://schemas.openxmlformats.org/officeDocument/2006/relationships" id="277" r:id="R729fd3971e8e4b25"/>
    <p:sldId xmlns:r="http://schemas.openxmlformats.org/officeDocument/2006/relationships" id="278" r:id="Rf87a680b68e14a03"/>
    <p:sldId xmlns:r="http://schemas.openxmlformats.org/officeDocument/2006/relationships" id="279" r:id="R22eaea7574964900"/>
    <p:sldId xmlns:r="http://schemas.openxmlformats.org/officeDocument/2006/relationships" id="280" r:id="R9cb4368bef1e446e"/>
    <p:sldId xmlns:r="http://schemas.openxmlformats.org/officeDocument/2006/relationships" id="281" r:id="R1942098ca8714959"/>
    <p:sldId xmlns:r="http://schemas.openxmlformats.org/officeDocument/2006/relationships" id="282" r:id="Rb33866f5166a49d6"/>
    <p:sldId xmlns:r="http://schemas.openxmlformats.org/officeDocument/2006/relationships" id="283" r:id="R037d2e734c364255"/>
    <p:sldId xmlns:r="http://schemas.openxmlformats.org/officeDocument/2006/relationships" id="284" r:id="Rc2c07efc8e6d4517"/>
    <p:sldId xmlns:r="http://schemas.openxmlformats.org/officeDocument/2006/relationships" id="285" r:id="Ra9d5e1524d374802"/>
    <p:sldId xmlns:r="http://schemas.openxmlformats.org/officeDocument/2006/relationships" id="286" r:id="R8de37d6046414441"/>
    <p:sldId xmlns:r="http://schemas.openxmlformats.org/officeDocument/2006/relationships" id="287" r:id="Refccb44db5d447e3"/>
    <p:sldId xmlns:r="http://schemas.openxmlformats.org/officeDocument/2006/relationships" id="288" r:id="R5cd37894cdaf42a6"/>
    <p:sldId xmlns:r="http://schemas.openxmlformats.org/officeDocument/2006/relationships" id="289" r:id="R9589d43e12ef45ad"/>
    <p:sldId xmlns:r="http://schemas.openxmlformats.org/officeDocument/2006/relationships" id="290" r:id="R362d451dca024c2a"/>
    <p:sldId xmlns:r="http://schemas.openxmlformats.org/officeDocument/2006/relationships" id="291" r:id="R257ed0e1a2bc40a4"/>
    <p:sldId xmlns:r="http://schemas.openxmlformats.org/officeDocument/2006/relationships" id="292" r:id="R448daa5c44b44532"/>
    <p:sldId xmlns:r="http://schemas.openxmlformats.org/officeDocument/2006/relationships" id="293" r:id="R32fa6fc860224882"/>
    <p:sldId xmlns:r="http://schemas.openxmlformats.org/officeDocument/2006/relationships" id="294" r:id="R8a44073b5ed5476b"/>
    <p:sldId xmlns:r="http://schemas.openxmlformats.org/officeDocument/2006/relationships" id="295" r:id="R110ac5b0493c4739"/>
    <p:sldId xmlns:r="http://schemas.openxmlformats.org/officeDocument/2006/relationships" id="296" r:id="R54468a3d07d14bc9"/>
    <p:sldId xmlns:r="http://schemas.openxmlformats.org/officeDocument/2006/relationships" id="297" r:id="Rc2c3352f5c434bf0"/>
    <p:sldId xmlns:r="http://schemas.openxmlformats.org/officeDocument/2006/relationships" id="298" r:id="Rae0b083d7c1d4c4b"/>
    <p:sldId xmlns:r="http://schemas.openxmlformats.org/officeDocument/2006/relationships" id="299" r:id="R5b41fbac21874c8d"/>
    <p:sldId xmlns:r="http://schemas.openxmlformats.org/officeDocument/2006/relationships" id="300" r:id="R3b8c972f36484e4d"/>
    <p:sldId xmlns:r="http://schemas.openxmlformats.org/officeDocument/2006/relationships" id="301" r:id="R15b61240eea84c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92f770756c4a72" /><Relationship Type="http://schemas.openxmlformats.org/officeDocument/2006/relationships/slideMaster" Target="/ppt/slideMasters/slideMaster1.xml" Id="R2263c93b7a264efb" /><Relationship Type="http://schemas.openxmlformats.org/officeDocument/2006/relationships/notesMaster" Target="/ppt/notesMasters/notesMaster1.xml" Id="Ree69fc3dd0c945b2" /><Relationship Type="http://schemas.openxmlformats.org/officeDocument/2006/relationships/presProps" Target="/ppt/presProps.xml" Id="R879dd61f41cd428d" /><Relationship Type="http://schemas.openxmlformats.org/officeDocument/2006/relationships/tableStyles" Target="/ppt/tableStyles.xml" Id="R1cf5ce0d13eb42e2" /><Relationship Type="http://schemas.openxmlformats.org/officeDocument/2006/relationships/slide" Target="/ppt/slides/slide1.xml" Id="R8f6aa97fb5aa478f" /><Relationship Type="http://schemas.openxmlformats.org/officeDocument/2006/relationships/slide" Target="/ppt/slides/slide2.xml" Id="Rb9fa9eee210e4be6" /><Relationship Type="http://schemas.openxmlformats.org/officeDocument/2006/relationships/slide" Target="/ppt/slides/slide3.xml" Id="Rcc2d6b13869f45e2" /><Relationship Type="http://schemas.openxmlformats.org/officeDocument/2006/relationships/slide" Target="/ppt/slides/slide4.xml" Id="Rb810e2c4ce27489a" /><Relationship Type="http://schemas.openxmlformats.org/officeDocument/2006/relationships/slide" Target="/ppt/slides/slide5.xml" Id="Rdd5fd58757a04652" /><Relationship Type="http://schemas.openxmlformats.org/officeDocument/2006/relationships/slide" Target="/ppt/slides/slide6.xml" Id="Rd0d48edd065d456f" /><Relationship Type="http://schemas.openxmlformats.org/officeDocument/2006/relationships/slide" Target="/ppt/slides/slide7.xml" Id="Rd0409b23c7bb47aa" /><Relationship Type="http://schemas.openxmlformats.org/officeDocument/2006/relationships/slide" Target="/ppt/slides/slide8.xml" Id="R69bbffaaa7f74a80" /><Relationship Type="http://schemas.openxmlformats.org/officeDocument/2006/relationships/slide" Target="/ppt/slides/slide9.xml" Id="Rc373e55d040b4e42" /><Relationship Type="http://schemas.openxmlformats.org/officeDocument/2006/relationships/slide" Target="/ppt/slides/slide10.xml" Id="R4e12ebb6946e41a8" /><Relationship Type="http://schemas.openxmlformats.org/officeDocument/2006/relationships/slide" Target="/ppt/slides/slide11.xml" Id="Reb52bbde10494656" /><Relationship Type="http://schemas.openxmlformats.org/officeDocument/2006/relationships/slide" Target="/ppt/slides/slide12.xml" Id="R56564e87362e4fa5" /><Relationship Type="http://schemas.openxmlformats.org/officeDocument/2006/relationships/slide" Target="/ppt/slides/slide13.xml" Id="R725eaf4756ad4cca" /><Relationship Type="http://schemas.openxmlformats.org/officeDocument/2006/relationships/slide" Target="/ppt/slides/slide14.xml" Id="R4d890406bee8404e" /><Relationship Type="http://schemas.openxmlformats.org/officeDocument/2006/relationships/slide" Target="/ppt/slides/slide15.xml" Id="R5f622f1bb44845ca" /><Relationship Type="http://schemas.openxmlformats.org/officeDocument/2006/relationships/slide" Target="/ppt/slides/slide16.xml" Id="Rd4b6f4db8ee24221" /><Relationship Type="http://schemas.openxmlformats.org/officeDocument/2006/relationships/slide" Target="/ppt/slides/slide17.xml" Id="R6e66abf4dbab46d1" /><Relationship Type="http://schemas.openxmlformats.org/officeDocument/2006/relationships/slide" Target="/ppt/slides/slide18.xml" Id="Recc73ac03a664f63" /><Relationship Type="http://schemas.openxmlformats.org/officeDocument/2006/relationships/slide" Target="/ppt/slides/slide19.xml" Id="R7031726ffaec4af6" /><Relationship Type="http://schemas.openxmlformats.org/officeDocument/2006/relationships/slide" Target="/ppt/slides/slide20.xml" Id="R54967254f16a4c86" /><Relationship Type="http://schemas.openxmlformats.org/officeDocument/2006/relationships/slide" Target="/ppt/slides/slide21.xml" Id="R60a598aca45f4d43" /><Relationship Type="http://schemas.openxmlformats.org/officeDocument/2006/relationships/slide" Target="/ppt/slides/slide22.xml" Id="R729fd3971e8e4b25" /><Relationship Type="http://schemas.openxmlformats.org/officeDocument/2006/relationships/slide" Target="/ppt/slides/slide23.xml" Id="Rf87a680b68e14a03" /><Relationship Type="http://schemas.openxmlformats.org/officeDocument/2006/relationships/slide" Target="/ppt/slides/slide24.xml" Id="R22eaea7574964900" /><Relationship Type="http://schemas.openxmlformats.org/officeDocument/2006/relationships/slide" Target="/ppt/slides/slide25.xml" Id="R9cb4368bef1e446e" /><Relationship Type="http://schemas.openxmlformats.org/officeDocument/2006/relationships/slide" Target="/ppt/slides/slide26.xml" Id="R1942098ca8714959" /><Relationship Type="http://schemas.openxmlformats.org/officeDocument/2006/relationships/slide" Target="/ppt/slides/slide27.xml" Id="Rb33866f5166a49d6" /><Relationship Type="http://schemas.openxmlformats.org/officeDocument/2006/relationships/slide" Target="/ppt/slides/slide28.xml" Id="R037d2e734c364255" /><Relationship Type="http://schemas.openxmlformats.org/officeDocument/2006/relationships/slide" Target="/ppt/slides/slide29.xml" Id="Rc2c07efc8e6d4517" /><Relationship Type="http://schemas.openxmlformats.org/officeDocument/2006/relationships/slide" Target="/ppt/slides/slide30.xml" Id="Ra9d5e1524d374802" /><Relationship Type="http://schemas.openxmlformats.org/officeDocument/2006/relationships/slide" Target="/ppt/slides/slide31.xml" Id="R8de37d6046414441" /><Relationship Type="http://schemas.openxmlformats.org/officeDocument/2006/relationships/slide" Target="/ppt/slides/slide32.xml" Id="Refccb44db5d447e3" /><Relationship Type="http://schemas.openxmlformats.org/officeDocument/2006/relationships/slide" Target="/ppt/slides/slide33.xml" Id="R5cd37894cdaf42a6" /><Relationship Type="http://schemas.openxmlformats.org/officeDocument/2006/relationships/slide" Target="/ppt/slides/slide34.xml" Id="R9589d43e12ef45ad" /><Relationship Type="http://schemas.openxmlformats.org/officeDocument/2006/relationships/slide" Target="/ppt/slides/slide35.xml" Id="R362d451dca024c2a" /><Relationship Type="http://schemas.openxmlformats.org/officeDocument/2006/relationships/slide" Target="/ppt/slides/slide36.xml" Id="R257ed0e1a2bc40a4" /><Relationship Type="http://schemas.openxmlformats.org/officeDocument/2006/relationships/slide" Target="/ppt/slides/slide37.xml" Id="R448daa5c44b44532" /><Relationship Type="http://schemas.openxmlformats.org/officeDocument/2006/relationships/slide" Target="/ppt/slides/slide38.xml" Id="R32fa6fc860224882" /><Relationship Type="http://schemas.openxmlformats.org/officeDocument/2006/relationships/slide" Target="/ppt/slides/slide39.xml" Id="R8a44073b5ed5476b" /><Relationship Type="http://schemas.openxmlformats.org/officeDocument/2006/relationships/slide" Target="/ppt/slides/slide40.xml" Id="R110ac5b0493c4739" /><Relationship Type="http://schemas.openxmlformats.org/officeDocument/2006/relationships/slide" Target="/ppt/slides/slide41.xml" Id="R54468a3d07d14bc9" /><Relationship Type="http://schemas.openxmlformats.org/officeDocument/2006/relationships/slide" Target="/ppt/slides/slide42.xml" Id="Rc2c3352f5c434bf0" /><Relationship Type="http://schemas.openxmlformats.org/officeDocument/2006/relationships/slide" Target="/ppt/slides/slide43.xml" Id="Rae0b083d7c1d4c4b" /><Relationship Type="http://schemas.openxmlformats.org/officeDocument/2006/relationships/slide" Target="/ppt/slides/slide44.xml" Id="R5b41fbac21874c8d" /><Relationship Type="http://schemas.openxmlformats.org/officeDocument/2006/relationships/slide" Target="/ppt/slides/slide45.xml" Id="R3b8c972f36484e4d" /><Relationship Type="http://schemas.openxmlformats.org/officeDocument/2006/relationships/slide" Target="/ppt/slides/slide46.xml" Id="R15b61240eea84c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5246adf6e3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157a1252e74afe" /><Relationship Type="http://schemas.openxmlformats.org/officeDocument/2006/relationships/notesMaster" Target="/ppt/notesMasters/notesMaster1.xml" Id="R4c1377aa7d5f41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2a22f0ece49b2" /><Relationship Type="http://schemas.openxmlformats.org/officeDocument/2006/relationships/notesMaster" Target="/ppt/notesMasters/notesMaster1.xml" Id="R9d6aefad51a74a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822933194f4ed0" /><Relationship Type="http://schemas.openxmlformats.org/officeDocument/2006/relationships/notesMaster" Target="/ppt/notesMasters/notesMaster1.xml" Id="R1914cf55480e45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3b5c78f27c481a" /><Relationship Type="http://schemas.openxmlformats.org/officeDocument/2006/relationships/notesMaster" Target="/ppt/notesMasters/notesMaster1.xml" Id="R54c0a8ce79084f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e4a0fa860544f0" /><Relationship Type="http://schemas.openxmlformats.org/officeDocument/2006/relationships/notesMaster" Target="/ppt/notesMasters/notesMaster1.xml" Id="Rb9e0a724d19d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5879cb983493f" /><Relationship Type="http://schemas.openxmlformats.org/officeDocument/2006/relationships/notesMaster" Target="/ppt/notesMasters/notesMaster1.xml" Id="R32bdc6e1492447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5a7a067a754292" /><Relationship Type="http://schemas.openxmlformats.org/officeDocument/2006/relationships/notesMaster" Target="/ppt/notesMasters/notesMaster1.xml" Id="Rafd26bad9fa44c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f1f06ae76e4dd8" /><Relationship Type="http://schemas.openxmlformats.org/officeDocument/2006/relationships/notesMaster" Target="/ppt/notesMasters/notesMaster1.xml" Id="R883e42ab999a4b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6913fbc44047d0" /><Relationship Type="http://schemas.openxmlformats.org/officeDocument/2006/relationships/notesMaster" Target="/ppt/notesMasters/notesMaster1.xml" Id="Rf65664aa40de42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7d653b29114b07" /><Relationship Type="http://schemas.openxmlformats.org/officeDocument/2006/relationships/notesMaster" Target="/ppt/notesMasters/notesMaster1.xml" Id="Rf8026a2206ff44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58a52722cb4576" /><Relationship Type="http://schemas.openxmlformats.org/officeDocument/2006/relationships/notesMaster" Target="/ppt/notesMasters/notesMaster1.xml" Id="Re647e578106043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7c622e35ca44e1" /><Relationship Type="http://schemas.openxmlformats.org/officeDocument/2006/relationships/notesMaster" Target="/ppt/notesMasters/notesMaster1.xml" Id="Rd00b16eaabe748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3a54f7e52a4bf0" /><Relationship Type="http://schemas.openxmlformats.org/officeDocument/2006/relationships/notesMaster" Target="/ppt/notesMasters/notesMaster1.xml" Id="R447af6bc92124b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5a44f4b7e0446b" /><Relationship Type="http://schemas.openxmlformats.org/officeDocument/2006/relationships/notesMaster" Target="/ppt/notesMasters/notesMaster1.xml" Id="R69e84aa7bfa54c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ef47cbd3f4447c" /><Relationship Type="http://schemas.openxmlformats.org/officeDocument/2006/relationships/notesMaster" Target="/ppt/notesMasters/notesMaster1.xml" Id="Ra2dc01c2e1a345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e6361227a94a5d" /><Relationship Type="http://schemas.openxmlformats.org/officeDocument/2006/relationships/notesMaster" Target="/ppt/notesMasters/notesMaster1.xml" Id="R5684bbd2b60a48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7c4b9dda424422" /><Relationship Type="http://schemas.openxmlformats.org/officeDocument/2006/relationships/notesMaster" Target="/ppt/notesMasters/notesMaster1.xml" Id="R66bcf55b1bce4e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67037e1af143aa" /><Relationship Type="http://schemas.openxmlformats.org/officeDocument/2006/relationships/notesMaster" Target="/ppt/notesMasters/notesMaster1.xml" Id="R68b05169caaf44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3d818f94b84d22" /><Relationship Type="http://schemas.openxmlformats.org/officeDocument/2006/relationships/notesMaster" Target="/ppt/notesMasters/notesMaster1.xml" Id="Rf8688e99979f48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f24ff58029411d" /><Relationship Type="http://schemas.openxmlformats.org/officeDocument/2006/relationships/notesMaster" Target="/ppt/notesMasters/notesMaster1.xml" Id="Rc22e5df4c4354e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e500858f634e04" /><Relationship Type="http://schemas.openxmlformats.org/officeDocument/2006/relationships/notesMaster" Target="/ppt/notesMasters/notesMaster1.xml" Id="R2016937f10114b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705a016fdd4b64" /><Relationship Type="http://schemas.openxmlformats.org/officeDocument/2006/relationships/notesMaster" Target="/ppt/notesMasters/notesMaster1.xml" Id="R6b9b89c42f6a49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3d33740dd14fcf" /><Relationship Type="http://schemas.openxmlformats.org/officeDocument/2006/relationships/notesMaster" Target="/ppt/notesMasters/notesMaster1.xml" Id="Rac870a2d927249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e7a4f398794f89" /><Relationship Type="http://schemas.openxmlformats.org/officeDocument/2006/relationships/notesMaster" Target="/ppt/notesMasters/notesMaster1.xml" Id="Rea96572b8ef14f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b1005035694007" /><Relationship Type="http://schemas.openxmlformats.org/officeDocument/2006/relationships/notesMaster" Target="/ppt/notesMasters/notesMaster1.xml" Id="Ra69900903e0449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e637806ef4f42bf" /><Relationship Type="http://schemas.openxmlformats.org/officeDocument/2006/relationships/notesMaster" Target="/ppt/notesMasters/notesMaster1.xml" Id="R16b644bb5c894ce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e24cf4f05e04ec0" /><Relationship Type="http://schemas.openxmlformats.org/officeDocument/2006/relationships/notesMaster" Target="/ppt/notesMasters/notesMaster1.xml" Id="R16bc87df84eb44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a7677470514f1c" /><Relationship Type="http://schemas.openxmlformats.org/officeDocument/2006/relationships/notesMaster" Target="/ppt/notesMasters/notesMaster1.xml" Id="R487a1f2c6425497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a1971ed9f3455b" /><Relationship Type="http://schemas.openxmlformats.org/officeDocument/2006/relationships/notesMaster" Target="/ppt/notesMasters/notesMaster1.xml" Id="R7787c58d1ca745c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20b6007abb474f" /><Relationship Type="http://schemas.openxmlformats.org/officeDocument/2006/relationships/notesMaster" Target="/ppt/notesMasters/notesMaster1.xml" Id="Rd5196da74b384d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1a80eed8bbc4ccc" /><Relationship Type="http://schemas.openxmlformats.org/officeDocument/2006/relationships/notesMaster" Target="/ppt/notesMasters/notesMaster1.xml" Id="R3aeaa24c6306447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bca71e8c7f476f" /><Relationship Type="http://schemas.openxmlformats.org/officeDocument/2006/relationships/notesMaster" Target="/ppt/notesMasters/notesMaster1.xml" Id="R952e304792644e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3de43a400944fcb" /><Relationship Type="http://schemas.openxmlformats.org/officeDocument/2006/relationships/notesMaster" Target="/ppt/notesMasters/notesMaster1.xml" Id="R8d1ee9e4f31f487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3e13cd4baa14c9e" /><Relationship Type="http://schemas.openxmlformats.org/officeDocument/2006/relationships/notesMaster" Target="/ppt/notesMasters/notesMaster1.xml" Id="Rba731fba1a1e4c8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461e36183b1417f" /><Relationship Type="http://schemas.openxmlformats.org/officeDocument/2006/relationships/notesMaster" Target="/ppt/notesMasters/notesMaster1.xml" Id="R7f3b915348e947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713e95b055c45ae" /><Relationship Type="http://schemas.openxmlformats.org/officeDocument/2006/relationships/notesMaster" Target="/ppt/notesMasters/notesMaster1.xml" Id="Re26f69dd9a644fc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721d5fb76b4e54" /><Relationship Type="http://schemas.openxmlformats.org/officeDocument/2006/relationships/notesMaster" Target="/ppt/notesMasters/notesMaster1.xml" Id="Rd06fc113541a46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2d2dfbea8f14ab6" /><Relationship Type="http://schemas.openxmlformats.org/officeDocument/2006/relationships/notesMaster" Target="/ppt/notesMasters/notesMaster1.xml" Id="R006eb5841f2a40c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0d08ab3cbe94409" /><Relationship Type="http://schemas.openxmlformats.org/officeDocument/2006/relationships/notesMaster" Target="/ppt/notesMasters/notesMaster1.xml" Id="Rb220e103c19b46f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007e561ac74089" /><Relationship Type="http://schemas.openxmlformats.org/officeDocument/2006/relationships/notesMaster" Target="/ppt/notesMasters/notesMaster1.xml" Id="R767ab400edd54e2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29fe5e5a40647d2" /><Relationship Type="http://schemas.openxmlformats.org/officeDocument/2006/relationships/notesMaster" Target="/ppt/notesMasters/notesMaster1.xml" Id="R6867b15e1359425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541f42c9e6b4950" /><Relationship Type="http://schemas.openxmlformats.org/officeDocument/2006/relationships/notesMaster" Target="/ppt/notesMasters/notesMaster1.xml" Id="R4d1134ccca554e0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d7f42aa545437b" /><Relationship Type="http://schemas.openxmlformats.org/officeDocument/2006/relationships/notesMaster" Target="/ppt/notesMasters/notesMaster1.xml" Id="R871c1fdb43a1469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764d357eeac45b5" /><Relationship Type="http://schemas.openxmlformats.org/officeDocument/2006/relationships/notesMaster" Target="/ppt/notesMasters/notesMaster1.xml" Id="Rd4d4ee025d314cd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9ee358d58f14b03" /><Relationship Type="http://schemas.openxmlformats.org/officeDocument/2006/relationships/notesMaster" Target="/ppt/notesMasters/notesMaster1.xml" Id="R3f748e779fc24d4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cec1cc5d94d4d65" /><Relationship Type="http://schemas.openxmlformats.org/officeDocument/2006/relationships/notesMaster" Target="/ppt/notesMasters/notesMaster1.xml" Id="R31b61db2f74b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aafb9e7a94b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3984c1b4be46bb" /><Relationship Type="http://schemas.openxmlformats.org/officeDocument/2006/relationships/slideLayout" Target="/ppt/slideLayouts/slideLayout1.xml" Id="R03f7735774724f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f7735774724f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a2da08ebf498e" /><Relationship Type="http://schemas.openxmlformats.org/officeDocument/2006/relationships/notesSlide" Target="/ppt/notesSlides/notesSlide1.xml" Id="R1df7ed2cf7394b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0052166d14ff1" /><Relationship Type="http://schemas.openxmlformats.org/officeDocument/2006/relationships/notesSlide" Target="/ppt/notesSlides/notesSlide2.xml" Id="R17e66e0960d14b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0d0d59344890" /><Relationship Type="http://schemas.openxmlformats.org/officeDocument/2006/relationships/notesSlide" Target="/ppt/notesSlides/notesSlide3.xml" Id="R8ff41ce4bb6c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24b5d4954fbd" /><Relationship Type="http://schemas.openxmlformats.org/officeDocument/2006/relationships/notesSlide" Target="/ppt/notesSlides/notesSlide4.xml" Id="Rfaffc4d3337940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0241335184f52" /><Relationship Type="http://schemas.openxmlformats.org/officeDocument/2006/relationships/notesSlide" Target="/ppt/notesSlides/notesSlide5.xml" Id="R26b23fd6794b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3adac1513410c" /><Relationship Type="http://schemas.openxmlformats.org/officeDocument/2006/relationships/image" Target="/ppt/media/image.png" Id="R8644257f627f476a" /><Relationship Type="http://schemas.openxmlformats.org/officeDocument/2006/relationships/notesSlide" Target="/ppt/notesSlides/notesSlide6.xml" Id="Rbafe93f5a69e4f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95e64324a40a6" /><Relationship Type="http://schemas.openxmlformats.org/officeDocument/2006/relationships/notesSlide" Target="/ppt/notesSlides/notesSlide7.xml" Id="R455b4454c5a245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27fcc91d54d94" /><Relationship Type="http://schemas.openxmlformats.org/officeDocument/2006/relationships/image" Target="/ppt/media/image2.png" Id="R38df9438abe24db4" /><Relationship Type="http://schemas.openxmlformats.org/officeDocument/2006/relationships/notesSlide" Target="/ppt/notesSlides/notesSlide8.xml" Id="Rd613172d12bc45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d5a4bac9843d7" /><Relationship Type="http://schemas.openxmlformats.org/officeDocument/2006/relationships/notesSlide" Target="/ppt/notesSlides/notesSlide9.xml" Id="Rc4bd1433b606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948d49b044fd2" /><Relationship Type="http://schemas.openxmlformats.org/officeDocument/2006/relationships/notesSlide" Target="/ppt/notesSlides/notesSlide10.xml" Id="R34fb88033d7c4f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8d2785c2440f8" /><Relationship Type="http://schemas.openxmlformats.org/officeDocument/2006/relationships/notesSlide" Target="/ppt/notesSlides/notesSlide11.xml" Id="Re86d5dfebc2b4a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4cf27655a4ba4" /><Relationship Type="http://schemas.openxmlformats.org/officeDocument/2006/relationships/notesSlide" Target="/ppt/notesSlides/notesSlide12.xml" Id="R8e53ca46befe40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460ad089044da" /><Relationship Type="http://schemas.openxmlformats.org/officeDocument/2006/relationships/notesSlide" Target="/ppt/notesSlides/notesSlide13.xml" Id="R72f364c322bd44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bca5329b146ca" /><Relationship Type="http://schemas.openxmlformats.org/officeDocument/2006/relationships/notesSlide" Target="/ppt/notesSlides/notesSlide14.xml" Id="Rc3c5806f48a645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0fc45e7a4af1" /><Relationship Type="http://schemas.openxmlformats.org/officeDocument/2006/relationships/notesSlide" Target="/ppt/notesSlides/notesSlide15.xml" Id="Ra7e8dbfdb59840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f06c75b10417c" /><Relationship Type="http://schemas.openxmlformats.org/officeDocument/2006/relationships/notesSlide" Target="/ppt/notesSlides/notesSlide16.xml" Id="R820b1195056344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0867d4a34563" /><Relationship Type="http://schemas.openxmlformats.org/officeDocument/2006/relationships/notesSlide" Target="/ppt/notesSlides/notesSlide17.xml" Id="Raa372504841e4b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27f099abb4ac6" /><Relationship Type="http://schemas.openxmlformats.org/officeDocument/2006/relationships/notesSlide" Target="/ppt/notesSlides/notesSlide18.xml" Id="R58af54130def44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6892bcd4f49c4" /><Relationship Type="http://schemas.openxmlformats.org/officeDocument/2006/relationships/notesSlide" Target="/ppt/notesSlides/notesSlide19.xml" Id="Ra41b794daa7240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64f343bbf4ff4" /><Relationship Type="http://schemas.openxmlformats.org/officeDocument/2006/relationships/notesSlide" Target="/ppt/notesSlides/notesSlide20.xml" Id="Rcf57a3d244684b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95eae08094dbd" /><Relationship Type="http://schemas.openxmlformats.org/officeDocument/2006/relationships/notesSlide" Target="/ppt/notesSlides/notesSlide21.xml" Id="R76ff1aab051541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471b10cd54ac4" /><Relationship Type="http://schemas.openxmlformats.org/officeDocument/2006/relationships/notesSlide" Target="/ppt/notesSlides/notesSlide22.xml" Id="R02998e875e1349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3fe9ea0594d14" /><Relationship Type="http://schemas.openxmlformats.org/officeDocument/2006/relationships/notesSlide" Target="/ppt/notesSlides/notesSlide23.xml" Id="Rc154bd121f3a470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415d0910e4eb4" /><Relationship Type="http://schemas.openxmlformats.org/officeDocument/2006/relationships/notesSlide" Target="/ppt/notesSlides/notesSlide24.xml" Id="Re6a14bd492c54a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3c0e42c3b412b" /><Relationship Type="http://schemas.openxmlformats.org/officeDocument/2006/relationships/notesSlide" Target="/ppt/notesSlides/notesSlide25.xml" Id="Re4143da796f348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014d39c3646b0" /><Relationship Type="http://schemas.openxmlformats.org/officeDocument/2006/relationships/notesSlide" Target="/ppt/notesSlides/notesSlide26.xml" Id="Re998eb12b2094b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21a26cc3c4f60" /><Relationship Type="http://schemas.openxmlformats.org/officeDocument/2006/relationships/notesSlide" Target="/ppt/notesSlides/notesSlide27.xml" Id="R8eeb45a66f534b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18517579a4c37" /><Relationship Type="http://schemas.openxmlformats.org/officeDocument/2006/relationships/notesSlide" Target="/ppt/notesSlides/notesSlide28.xml" Id="Rba68acf33a9f4b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af64ccd5c49ec" /><Relationship Type="http://schemas.openxmlformats.org/officeDocument/2006/relationships/notesSlide" Target="/ppt/notesSlides/notesSlide29.xml" Id="R2716353a7c4849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992a5152c434c" /><Relationship Type="http://schemas.openxmlformats.org/officeDocument/2006/relationships/notesSlide" Target="/ppt/notesSlides/notesSlide30.xml" Id="R3266c5b9ed54484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2a761405749f2" /><Relationship Type="http://schemas.openxmlformats.org/officeDocument/2006/relationships/notesSlide" Target="/ppt/notesSlides/notesSlide31.xml" Id="R76adaba56a69430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00bc3980745f7" /><Relationship Type="http://schemas.openxmlformats.org/officeDocument/2006/relationships/notesSlide" Target="/ppt/notesSlides/notesSlide32.xml" Id="R2d9dfe4765ac44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dcba4a64c445a" /><Relationship Type="http://schemas.openxmlformats.org/officeDocument/2006/relationships/notesSlide" Target="/ppt/notesSlides/notesSlide33.xml" Id="R1df7f63db54a4f8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8bdef21bf40a6" /><Relationship Type="http://schemas.openxmlformats.org/officeDocument/2006/relationships/image" Target="/ppt/media/image3.png" Id="Re0754c7e1df64024" /><Relationship Type="http://schemas.openxmlformats.org/officeDocument/2006/relationships/notesSlide" Target="/ppt/notesSlides/notesSlide34.xml" Id="Rae08bc7196444d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b80f970eb4302" /><Relationship Type="http://schemas.openxmlformats.org/officeDocument/2006/relationships/notesSlide" Target="/ppt/notesSlides/notesSlide35.xml" Id="R7749697959e54c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64b0df28843e6" /><Relationship Type="http://schemas.openxmlformats.org/officeDocument/2006/relationships/notesSlide" Target="/ppt/notesSlides/notesSlide36.xml" Id="Rce1680da9c2e4e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18bbd05734bdb" /><Relationship Type="http://schemas.openxmlformats.org/officeDocument/2006/relationships/notesSlide" Target="/ppt/notesSlides/notesSlide37.xml" Id="R7e719556ffcb493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2a09ecb7a43fc" /><Relationship Type="http://schemas.openxmlformats.org/officeDocument/2006/relationships/notesSlide" Target="/ppt/notesSlides/notesSlide38.xml" Id="R68c3dd6281bb471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a5b458bce4b83" /><Relationship Type="http://schemas.openxmlformats.org/officeDocument/2006/relationships/notesSlide" Target="/ppt/notesSlides/notesSlide39.xml" Id="R52d8cd977aad441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b35891a546e5" /><Relationship Type="http://schemas.openxmlformats.org/officeDocument/2006/relationships/notesSlide" Target="/ppt/notesSlides/notesSlide40.xml" Id="Rdd2f63bda2ad4d3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e165cb7204cb9" /><Relationship Type="http://schemas.openxmlformats.org/officeDocument/2006/relationships/notesSlide" Target="/ppt/notesSlides/notesSlide41.xml" Id="R6c0f0da4161f413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9df5e8ad944dc" /><Relationship Type="http://schemas.openxmlformats.org/officeDocument/2006/relationships/notesSlide" Target="/ppt/notesSlides/notesSlide42.xml" Id="R9daf2d8d701d4db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eaa0b35344829" /><Relationship Type="http://schemas.openxmlformats.org/officeDocument/2006/relationships/notesSlide" Target="/ppt/notesSlides/notesSlide43.xml" Id="R1b7133cdcc9a4e2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230c98fec4c9d" /><Relationship Type="http://schemas.openxmlformats.org/officeDocument/2006/relationships/image" Target="/ppt/media/image4.png" Id="R26ea81b9d8964609" /><Relationship Type="http://schemas.openxmlformats.org/officeDocument/2006/relationships/notesSlide" Target="/ppt/notesSlides/notesSlide44.xml" Id="R3b66ee10b75d480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9162eade44b21" /><Relationship Type="http://schemas.openxmlformats.org/officeDocument/2006/relationships/notesSlide" Target="/ppt/notesSlides/notesSlide45.xml" Id="R5c4021c5a011433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cbe4df56e4885" /><Relationship Type="http://schemas.openxmlformats.org/officeDocument/2006/relationships/image" Target="/ppt/media/image5.png" Id="R3f34fc6309784ec2" /><Relationship Type="http://schemas.openxmlformats.org/officeDocument/2006/relationships/notesSlide" Target="/ppt/notesSlides/notesSlide46.xml" Id="Re73dc1ea73b84b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BAF4E-32A5-48C1-876E-49A64E2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01B24-06AB-4C62-86D9-5D937007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交通安全訪視經驗分享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0DBA6-8626-4C07-AF84-65D4478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訪視可以打分，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49984-473F-4973-82F0-24590CB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安全不能靠打分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EF2DB-30DC-465D-91A6-DFB5298C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從三次訪視、低效度評鑑，走向人本交通與教育現場的合理角色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011A6-5D3B-4012-9E21-A28323A6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竹光國中　學務主任 黃隆偉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AB53D-4A5E-4100-AC21-4335AC7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7D3DF-65C1-4313-AEC9-FF08E1E8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71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7047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1CF52-BF98-4EB9-B236-C05A2432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23EDA-BCD9-4CF6-AAE4-89B74189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這場分享不只是成果展示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32F96-93D5-47B7-80F1-E812AA5E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今天，我想和大家一起釐清四件事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FCBA6-B150-458C-8301-EE01258A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7A099-4F13-4797-93CC-4097421C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BAD74-5266-444D-95DE-D5A89D2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經驗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E3D3A-A1FB-4B71-B000-6402E39F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194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三次訪視，為什麼會得到三種不同結果？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4A1E6-A53B-4997-A7D1-EFE3FE90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0C4EC-8601-4DAB-BB14-8E15928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E4DEC-CEBF-452D-8536-6ED1B72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效度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4B5E6-F636-4ABA-A9B1-E85579DA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文件齊全，能代表道路更安全嗎？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48041-CBA9-4CE1-9A5F-AD97CB1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0948-3C2D-423E-A8C5-1BD141D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63FC7-52DF-4B5C-8EAA-BCF266E4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目的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49989-38ED-4D2D-A26D-D5181A2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交通安全應打造什麼樣的人本環境？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37FEB-E858-436D-B265-52E91D75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985A8-8894-4854-A7D9-357757F7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767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26406-945B-4472-8A72-12DADF9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邊界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0A141-34D2-4C5A-964F-F0E9FE8C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339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教育可以做什麼，制度必須承擔什麼？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4C962-6402-420C-9793-05514B9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希望最後，我們能把「通過訪視」與「真正降低風險」分開思考。</a:t>
            </a:r>
          </a:p>
        </p:txBody>
      </p:sp>
    </p:spTree>
    <p:extLst>
      <p:ext uri="{BB962C8B-B14F-4D97-AF65-F5344CB8AC3E}">
        <p14:creationId xmlns:p14="http://schemas.microsoft.com/office/powerpoint/2010/main" val="761508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7EBF0-BD0A-44F4-992A-236B958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BB720-2F82-401E-9008-5B025EDE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先看最重要的證據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C5A6A-0495-4DB2-A7E2-9B5BA9FD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同一批資料，三種判決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098CB-B43A-47EC-AE0D-35BE84A4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15561-43CB-4262-AFAB-7824A71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第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54828-C5CB-4076-8DAA-F54326CE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108 年｜甲等第一名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C3C5D-2EAE-4DED-996C-B03B7C7D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76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7CA13-9198-4F1C-B465-D00FC0CE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860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1BB99-D239-47EB-A8F7-23D6905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0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111 年｜甲等倒數第一名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A4D86-8E57-48B5-8E80-F5DDAB30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DB02B-94E5-4C7D-9761-4914908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第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F70F3-5489-41FA-AD0B-E973EDB0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114 年｜優等第一名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5A001-8D89-4077-8AB3-BEC60161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資料幾乎一樣。如果真實安全沒有劇烈變動，名次到底代表什麼？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4478C-E015-4636-AC39-00DE70A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來源：使用者提供之《交通安全訪視經驗分享115.pptx》第 5–6 頁。</a:t>
            </a:r>
          </a:p>
        </p:txBody>
      </p:sp>
    </p:spTree>
    <p:extLst>
      <p:ext uri="{BB962C8B-B14F-4D97-AF65-F5344CB8AC3E}">
        <p14:creationId xmlns:p14="http://schemas.microsoft.com/office/powerpoint/2010/main" val="1873627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24813-807B-4C66-A300-13CCB41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331F9-6148-4898-8C9B-402813B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114 年優等，到底做對了什麼？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4A873-F8A4-4C40-BE51-053962D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先把有用的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2F609-B3A0-4F99-9915-34B03290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留下來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CF47A-E03A-4CEB-B99A-7BBA743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不是教大家做更厚的成果冊，而是拆出能複製、能省時間、能真的降低風險的做法。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E426C-6109-4B79-9B7B-EE3733C8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40D1C-1D44-4508-8A86-DE140EC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案例來源：竹光國中 114 年交通安全訪視網站與使用者原始簡報。</a:t>
            </a:r>
          </a:p>
        </p:txBody>
      </p:sp>
    </p:spTree>
    <p:extLst>
      <p:ext uri="{BB962C8B-B14F-4D97-AF65-F5344CB8AC3E}">
        <p14:creationId xmlns:p14="http://schemas.microsoft.com/office/powerpoint/2010/main" val="1508228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4996F-308D-4E05-9BB8-0E1D3B6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E52D6-EEA6-4CBA-848F-CB38570E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先看評鑑架構，再決定資料放哪裡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3C55B-4A71-45AF-84B8-3187F504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114 訪視看的，是四條工作線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5A5FE-6DC8-4BCC-BC72-01EA54D5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BCE51-3679-4AEF-BA81-04A9E35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FE1D0-C21A-4561-AA87-DC0614B4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組織計畫與宣導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EF764-C620-4891-8EB3-E2BCB50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19425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目標、分工、會議與追蹤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7DE32-E417-4891-8169-4E715F50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4611F-B0DF-4BBC-91E0-CB7C4779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01792-E812-48E8-9C96-F9788C4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教學與活動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BE47C-F91F-46A8-A771-3D69C2B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19425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課程、活動、能力與回饋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B8B71-1E55-4309-8B1A-22F0A721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3DC47-EF2B-4FBA-9754-16CB6D46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18AB8-0A20-4DBA-B7F4-540F1118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14825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安全與輔導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312B2-CD38-47D5-B62E-8044389B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815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通學、導護、事故與接送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D100A-763A-42A2-8961-ADF5A63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B587E-AEBF-486E-93C7-F7181A2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2CD80-44A9-4E3F-BC2E-912DDAD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14825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創新與成效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2E1E3-537B-44C8-B5C8-82CB7902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815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校本問題與可檢核改變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8F331-3A11-42E7-B4CB-75360D6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來源：竹光國中交通安全訪視網站分類；原簡報第 33 頁。</a:t>
            </a:r>
          </a:p>
        </p:txBody>
      </p:sp>
    </p:spTree>
    <p:extLst>
      <p:ext uri="{BB962C8B-B14F-4D97-AF65-F5344CB8AC3E}">
        <p14:creationId xmlns:p14="http://schemas.microsoft.com/office/powerpoint/2010/main" val="982730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0CDD8-8DC6-4566-A58F-CD4E2FAD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EB832-347D-422B-A4DF-2654201B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效率亮點 01｜資料治理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B712D-7B3C-447B-A6BC-E92C9923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61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資料平時進網站，訪視前不用重做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64F76-1EDC-439A-ABC3-E30FB709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同一份證據，平時就依指標歸位。訪視只是打開網站，不再臨時追照片、重排成果冊。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B48A8-F9D1-4E45-B4CD-84686272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一次蒐集，多次使用。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6F499-3FB0-4E66-9E59-E4A2665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90625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4257f627f476a"/>
          <a:stretch xmlns:a="http://schemas.openxmlformats.org/drawingml/2006/main"/>
        </p:blipFill>
        <p:spPr>
          <a:xfrm xmlns:a="http://schemas.openxmlformats.org/drawingml/2006/main">
            <a:off x="6286500" y="187225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7873C-B9BC-4B87-895F-622D2C3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來源：使用者原簡報第 31–32 頁；竹光國中交通安全訪視網站。</a:t>
            </a:r>
          </a:p>
        </p:txBody>
      </p:sp>
    </p:spTree>
    <p:extLst>
      <p:ext uri="{BB962C8B-B14F-4D97-AF65-F5344CB8AC3E}">
        <p14:creationId xmlns:p14="http://schemas.microsoft.com/office/powerpoint/2010/main" val="963865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B5718-ED32-4FDA-B767-0B9219A8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3EF1-375E-477A-9BB9-1C94112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效率亮點 02｜借既有時間做深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2C5E6-E9A6-467B-BEED-61BB61A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每週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AAFE4-86DB-4184-BE43-8D98F333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2 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414C8-822A-4E42-BD78-A95248D0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既有導師時間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8D3B1-7344-4910-B0F1-8550939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素材集中在網路，導師直接取用；不另開一門交通安全課。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8E380-EEF0-4831-B4F0-93F5E0C9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69AFC-6739-46A7-B1C7-1F47CA7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來源：網站 4-3「學校自評特色與優點」。</a:t>
            </a:r>
          </a:p>
        </p:txBody>
      </p:sp>
    </p:spTree>
    <p:extLst>
      <p:ext uri="{BB962C8B-B14F-4D97-AF65-F5344CB8AC3E}">
        <p14:creationId xmlns:p14="http://schemas.microsoft.com/office/powerpoint/2010/main" val="2006905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7F7A5-E657-4493-B268-8C92EB78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0AF2E-CCA5-41C4-A7EA-BE506818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效率亮點 03｜公民講堂素材庫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439AD-56E9-42CC-8FCD-660F72AF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61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不是每位導師各做一份教材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274B6-8328-456E-B962-5AF38B44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行政端整理主題資料夾，教師在導師時間選用；交通安全只是共享素材庫的一部分。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2A6D-00DD-4C56-8158-235B9FE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048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f9438abe24db4"/>
          <a:stretch xmlns:a="http://schemas.openxmlformats.org/drawingml/2006/main"/>
        </p:blipFill>
        <p:spPr>
          <a:xfrm xmlns:a="http://schemas.openxmlformats.org/drawingml/2006/main">
            <a:off x="6286500" y="187225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6A99C-F17E-46DA-A711-4C7183DD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來源：使用者原簡報第 27–28 頁。</a:t>
            </a:r>
          </a:p>
        </p:txBody>
      </p:sp>
    </p:spTree>
    <p:extLst>
      <p:ext uri="{BB962C8B-B14F-4D97-AF65-F5344CB8AC3E}">
        <p14:creationId xmlns:p14="http://schemas.microsoft.com/office/powerpoint/2010/main" val="2026787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C9B42-C1B0-4B34-A730-D9BD48FD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8FF98-4C52-402B-B0AD-F2C05C8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效率亮點 04｜不另開課，借學科教風險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8F0C2-4591-4A9C-B9F2-98C64E23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現有課程，本來就能承載交通問題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1ABA-DC72-4AA1-A017-4961778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A1F4B-6763-46ED-B936-72EED7A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數學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DE79-451C-446F-ADF1-D918F012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05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相似形 × 大車視線死角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6A0D5-895E-4EDE-BAA1-ADCC2FC2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D2691-B088-4F7F-A15C-3AE3A18E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自然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4C5EC-5882-4C98-A0C7-5E24B518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623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摩擦力、速率、牛頓運動定律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110F6-493E-4A82-B2EC-2B92C84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B93FE-007D-4C25-9B42-CF4D519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社會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F851D-46EB-4267-8455-986FCCD8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95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政府與人民在行政法中的角色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BD058-0DAA-4915-86FC-7783A08A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32D5B-496E-4ACD-8066-2F19E4D3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英語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0F0DD-EB10-4329-B3FC-0F197464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768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移動情境與交通表達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6035B-CF80-40BD-92D1-480001B0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來源：網站 2-1-1、2-1-2；課程清單涵蓋七至九年級。</a:t>
            </a:r>
          </a:p>
        </p:txBody>
      </p:sp>
    </p:spTree>
    <p:extLst>
      <p:ext uri="{BB962C8B-B14F-4D97-AF65-F5344CB8AC3E}">
        <p14:creationId xmlns:p14="http://schemas.microsoft.com/office/powerpoint/2010/main" val="198549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AF5D4-D97F-4DAA-BD32-A249718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D1550-A746-4B71-A4D9-40562809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一個可直接帶走的跨域案例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42112-EB4B-4AF4-8BA9-83FBF0D3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相似形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758C8-8E16-4373-9F5C-DBCAD58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不只算比例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2C87D-638F-44EB-A65A-E791DB8C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用因材網題目模擬大車視線死角，再搭配真實影片，讓抽象幾何變成風險判斷。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886B0-B251-44C9-97E7-11D63E1A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看得見你，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你看得見我？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65099-8CD3-442D-873D-0809BEFB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來源：網站 2-1-1；使用者原簡報第 23 頁。</a:t>
            </a:r>
          </a:p>
        </p:txBody>
      </p:sp>
    </p:spTree>
    <p:extLst>
      <p:ext uri="{BB962C8B-B14F-4D97-AF65-F5344CB8AC3E}">
        <p14:creationId xmlns:p14="http://schemas.microsoft.com/office/powerpoint/2010/main" val="517049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B551C-05B8-4E29-8FD9-8D5F34BD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37ACC-E327-4465-BAD0-860DBFA6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效率亮點 05｜先調查，再決定教什麼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F615F-D0C4-4631-A378-A3B738A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不是先辦活動，而是先看校本問題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F5C5C-BC50-402E-B450-C580A30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40423-860F-4B18-9C93-17587594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2FC4E-A68A-4634-A302-97204B12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資訊課填 Google 表單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9384A-F129-43D6-988D-6A50AFF0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建立全校通學方式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C6C94-89D3-480E-8B96-94B180B6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DE129-C6DB-4BA1-A22B-6B4D6DA8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52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0A7B3-94F6-4DCA-BDB3-4ED3FF5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004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量化整理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29FF0-1D99-46E2-8318-7DEF4AF5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71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看見接送與動線需求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EBCCE-445F-4315-8A81-D01373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3E6A7-F242-4B99-9680-FA28C45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0011E-E4DF-4424-83C6-8DE6539A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004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SWOT 找策略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82523-247A-4903-9DE2-C3AE939A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分流、步行、導護配置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8D222-562F-4880-B9EF-34123981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來源：網站 3-1-1、1-2-1。</a:t>
            </a:r>
          </a:p>
        </p:txBody>
      </p:sp>
    </p:spTree>
    <p:extLst>
      <p:ext uri="{BB962C8B-B14F-4D97-AF65-F5344CB8AC3E}">
        <p14:creationId xmlns:p14="http://schemas.microsoft.com/office/powerpoint/2010/main" val="1922334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D06B4-02A5-477E-A121-943315E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DE333-7E06-44A8-946F-D7EADF8C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校本策略｜先把動線做清楚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C2F8C-1E90-4B08-8EEC-10434749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汽車、機車、步行，不搶同一條線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0EC02-C52B-45FB-8F39-8ED2AB03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98550-9A44-40C3-88FC-7EC88C8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前門長側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E7F2C-61BF-42CD-8DB2-266247C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汽車為主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89781-8D59-4EF3-9924-3A7FCA50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9F651-72C9-43EA-AEC0-0BD897F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48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前門短側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F2C20-1690-4C2C-928C-5E28477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62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機車為主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32031-3DB3-4F5A-9D12-5572B267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006FF-4C47-4552-8B9A-DA5BB1A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後門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9CC34-8A23-4E83-A54A-FBE358B9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62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機車為主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775D0-9709-420C-816A-2D6EEB0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校內再做人車分流，接送區與學生動線分開。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F8174-BE21-49DC-879D-9E4CA87E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來源：網站 1-2-1、3-2-1、3-5-1。</a:t>
            </a:r>
          </a:p>
        </p:txBody>
      </p:sp>
    </p:spTree>
    <p:extLst>
      <p:ext uri="{BB962C8B-B14F-4D97-AF65-F5344CB8AC3E}">
        <p14:creationId xmlns:p14="http://schemas.microsoft.com/office/powerpoint/2010/main" val="2548433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7A656-F2C2-4F92-9F98-37E2E0AD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0883-2E50-4FC9-B735-8E16885E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導護亮點｜不是站了多少人，而是系統能不能接手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7602-CF24-4AA3-880C-DCD5AF45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四件事讓導護工作可持續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BA328-66D3-4484-A410-BC776ED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9EEF4-BAC7-43EC-AAA4-001F488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72D95-B944-4407-8716-80403563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有計畫與名單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C78C9-3376-4B12-8B82-8E38BC72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1D2BB-F6AB-4F73-B95D-2C29AEC2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C389B-EB5F-4AD6-83DB-E4030359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會舉旗、懂風險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5FA6D-0B7B-4BF2-8A63-35C9DD35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146A6-8BE7-4023-969E-5B8FF2AA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配備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05861-E370-4255-9459-C1E2DFB9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背心、旗子齊備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1D007-460E-4479-BC4A-39D7DA9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96B9A-FCD1-48C2-A204-93553E6C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616A5-4823-4EDD-8315-BDA8FA7F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班表與違規紀錄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F5E73-CB94-42ED-B814-A63D092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來源：網站 3-3-1、3-3-2。</a:t>
            </a:r>
          </a:p>
        </p:txBody>
      </p:sp>
    </p:spTree>
    <p:extLst>
      <p:ext uri="{BB962C8B-B14F-4D97-AF65-F5344CB8AC3E}">
        <p14:creationId xmlns:p14="http://schemas.microsoft.com/office/powerpoint/2010/main" val="985097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2C58A-98E7-402B-A17B-1CB3AA8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F8CAB-2B90-442D-9E5B-3C81C25E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輔導亮點｜資料要回到學生身上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045C8-735A-44D5-B16C-0ACFDF1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違規資料，不只拿來處罰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63038-EC7A-4167-88F2-B24118FD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4291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2CCF-F4F7-4DFF-B842-8C72FA3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立即制止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D9FF7-3324-4102-A4E0-50C54DA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留下勸導紀錄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必要時依規定處理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1B98B-ABD3-485E-A7A8-A4C7409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24125"/>
            <a:ext cx="60769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D5B92-62D4-4ECC-8650-AFA86D29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更重要的是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E5C67-EE23-474F-91C1-C802A83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385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了解違規原因 → 同理處境 → 教會可調整策略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F3764-B050-49D1-A81D-EA5E0D3D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事故熱點另整理至班親會資料。來源：網站 3-4-1、3-4-2。</a:t>
            </a:r>
          </a:p>
        </p:txBody>
      </p:sp>
    </p:spTree>
    <p:extLst>
      <p:ext uri="{BB962C8B-B14F-4D97-AF65-F5344CB8AC3E}">
        <p14:creationId xmlns:p14="http://schemas.microsoft.com/office/powerpoint/2010/main" val="18935348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2FBD-3A16-44AA-8FED-4D84B9A6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48F41-EE62-4651-8C67-8BB27C0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114 最值得分享的，不是活動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CA471-7007-4FDC-A2E5-06CFABB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真正的亮點，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1441A-2E51-4EE8-ABC1-E6C37555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876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是讓工程發生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B4323-E5EF-4521-B94F-802B304D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學校沒有把危險的最後一哩，再丟回給學生『自己小心』。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3CDE6-6808-46DE-9249-82DFC83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DD67B-0837-47AD-A056-12013517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來源：網站 4-4「學校創新特色」。</a:t>
            </a:r>
          </a:p>
        </p:txBody>
      </p:sp>
    </p:spTree>
    <p:extLst>
      <p:ext uri="{BB962C8B-B14F-4D97-AF65-F5344CB8AC3E}">
        <p14:creationId xmlns:p14="http://schemas.microsoft.com/office/powerpoint/2010/main" val="1506310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16B8B-8C6F-489C-970C-503F53DF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7BDCD-2222-4137-9CA3-F518E9AD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工程不會只靠學校完成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F597D-68FC-4C21-83B8-AD270327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一條通學路，需要五方坐在一起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FCCA5-9638-4F1B-8055-10A80F9E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9EA2A-DE6F-4BCE-8335-3E17F5C2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學校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0BF26-07C7-49BA-AAC5-0137BC8A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1462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D05DE-3D3B-40F2-A05D-B66641B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交通處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1CBDD-B208-4FC2-AF81-39142A6E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1462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B071-B63D-4993-829B-A03691AF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教育處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C4DE1-8AF3-46DC-9D76-C319CFD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25913-8FE1-4E2F-9244-E3C3B3CF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里長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5F215-4D6E-43A6-90BF-505C5C5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CC7B6-39A4-497A-8220-80A9267B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居民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767D5-6EAA-43D7-8A4B-BE5E4C81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共同會勘｜協商停車｜討論標線｜確認可行方案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41C7B-5209-4C58-8518-7E2DDE11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來源：網站 4-4；112.6 至 113.5 的會勘、協調與施工紀錄。</a:t>
            </a:r>
          </a:p>
        </p:txBody>
      </p:sp>
    </p:spTree>
    <p:extLst>
      <p:ext uri="{BB962C8B-B14F-4D97-AF65-F5344CB8AC3E}">
        <p14:creationId xmlns:p14="http://schemas.microsoft.com/office/powerpoint/2010/main" val="11032466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85938-64A4-4127-92DC-6C9578D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DAC9C-A543-426C-BB25-8D6FDDF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最後一哩，具體改了什麼？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C8E31-A23D-4EBC-9CD2-1E8FB741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1 公尺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A221D-8F1C-44D5-AF24-E65B16F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4BBFE-CE5A-430B-9AF3-44981FC6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和平路邊線外推，挪出行走空間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0602-CB2B-4C37-ADA3-68F8876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050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行人號誌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9BEC4-7C69-4822-9D60-B7B98A2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48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55442-532E-48BA-9379-AA0D69A5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813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提高辨識，降低誤闖紅燈風險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6C8B9-229F-4FA5-B9AA-16F7245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113.05.01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D3AF7-C450-46F8-9448-89CCFF3B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BCC7A-C8BB-44EC-B115-1E23438F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開始畫設標線型人行道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C83D3-4199-4FAE-B5EC-78E0A598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這些是可被現場看見的改變，不是照片數量。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95882-8BDE-4964-A3A3-55C0FDE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來源：網站 4-4；僅描述工程產出，不宣稱已證明事故下降。</a:t>
            </a:r>
          </a:p>
        </p:txBody>
      </p:sp>
    </p:spTree>
    <p:extLst>
      <p:ext uri="{BB962C8B-B14F-4D97-AF65-F5344CB8AC3E}">
        <p14:creationId xmlns:p14="http://schemas.microsoft.com/office/powerpoint/2010/main" val="1456898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64FED-250B-4AEE-A30D-47764255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2E924-E052-4928-8E49-1221F61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資料與成果要分開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63D4B-08D6-4F07-B607-BEB0EFB5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這才叫成果：風險條件被改變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3427-4249-48A3-9767-EF457195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有文件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AF2D4-DBD8-4073-8026-ED3153A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• 會議紀錄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• 活動照片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• 網站頁面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A67AF-991F-481B-BE11-A995B99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有改變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CF907-B7E9-4C76-B3EF-D88452EA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多出行走空間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號誌更可辨識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跨單位有決議與時程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5A88C-B38A-4F09-80D9-05116311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案例來源：網站 4-4。事故與車速結果仍需另行追蹤。</a:t>
            </a:r>
          </a:p>
        </p:txBody>
      </p:sp>
    </p:spTree>
    <p:extLst>
      <p:ext uri="{BB962C8B-B14F-4D97-AF65-F5344CB8AC3E}">
        <p14:creationId xmlns:p14="http://schemas.microsoft.com/office/powerpoint/2010/main" val="731154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60FE0-76B0-4AE6-A6CD-7983FF7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78626-B6A4-4C8C-84D4-341CE73D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教授的回饋：肯定做法，也指出下一步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A48CD-86D8-41AA-8347-3240E88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三個優點，三個還要補強的地方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56EC9-9DF1-496F-A354-C6D4A2F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10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5F8C4-8AEE-4E19-98DF-09F9668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看見的優點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78210-06A3-4E1B-953C-EA60BA4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計畫執行落實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活動融入交安議題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標誌安排於合適地點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EECCD-E982-4988-9487-C8B9BD6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5695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0B746-F293-4840-A884-1B0EE7A4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教授的建議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1C1C5-510C-439E-93B2-0C0C866B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8137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交通能力融入課程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建立交通能力指標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融入交通四守則與交通素養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FE218-E8D7-4FB6-B65B-7D22060C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來源：使用者原簡報第 34 頁「教授的建議」。</a:t>
            </a:r>
          </a:p>
        </p:txBody>
      </p:sp>
    </p:spTree>
    <p:extLst>
      <p:ext uri="{BB962C8B-B14F-4D97-AF65-F5344CB8AC3E}">
        <p14:creationId xmlns:p14="http://schemas.microsoft.com/office/powerpoint/2010/main" val="2189352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03F2D-1E44-44FD-BB89-0D79108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4A67E-C556-46D8-B983-014439F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訪視時由誰報告？原始資料給了意外答案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37B6-531B-4E85-B2E5-D5241312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三次訪視，三種報告者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19503-9F1D-4550-A3FB-9371B21B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5C8AC-5DB7-49B6-9B97-73824897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07341-46A1-423D-ACBC-CEFEE84D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生教組長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27D44-D482-4260-B2C6-D67D505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105CF-65E6-4FB8-895D-CA3795A1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0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111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10048-F003-48A9-B949-190EE1B3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62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校長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91B8D-370C-4A75-ACD7-D1C42169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146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A8031-1D23-4C37-878C-F8DF7F1B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0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114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E5959-5A21-4736-90E9-05F74BE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62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學務主任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08C45-4104-4B17-BA90-AED4D5E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名次不能只歸因於報告者職稱。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3DB79-311D-40FC-8467-42D70316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來源：使用者原簡報第 29 頁。</a:t>
            </a:r>
          </a:p>
        </p:txBody>
      </p:sp>
    </p:spTree>
    <p:extLst>
      <p:ext uri="{BB962C8B-B14F-4D97-AF65-F5344CB8AC3E}">
        <p14:creationId xmlns:p14="http://schemas.microsoft.com/office/powerpoint/2010/main" val="14940358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722AD-519B-421A-BF6B-98246EB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125F7-DC57-430C-A3F5-0F146D17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我的建議：不要迷信校長一定要上台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29B39-130F-428B-8EB0-965B7F2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誰最適合報告？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8B4F7-82C0-4F6E-9485-BE2FAFC5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C985F-7E41-47B0-89BB-43E1FC0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823A-CAC0-478D-AD06-C8C2666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知道校本問題的人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B5FEF-0A7D-4D9C-B0A8-0054152A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B6ED9-0BE0-4DFC-8B61-75537A5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401E5-E751-47F3-9E84-2A81D86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找得到證據的人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D4FB-EFBC-4D23-8CDF-6B414417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5EE18-BD88-4387-8E94-AC823901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EF1F2-3F86-4AF4-AFBB-B44FC40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敢說出制度界線的人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61A2B-B24F-4A75-96D2-25C6B859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本頁為依三次報告者經驗提出的實務建議，不是評分規定。</a:t>
            </a:r>
          </a:p>
        </p:txBody>
      </p:sp>
    </p:spTree>
    <p:extLst>
      <p:ext uri="{BB962C8B-B14F-4D97-AF65-F5344CB8AC3E}">
        <p14:creationId xmlns:p14="http://schemas.microsoft.com/office/powerpoint/2010/main" val="425291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903B-7A26-461F-B0A4-E86051A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4F885-2E98-4B6E-A8A8-802D789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事半功倍的核心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872BF-526C-4CC6-A5EC-890DB52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效率不是少做，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DF75D-B1E2-4940-8C68-89CE748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是每份資料只做一次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8EA4C-9521-428D-9041-DE156A4F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平時服務教學與安全管理，訪視時只是再次使用。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732EF-5D00-4624-97C3-E8EDE027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619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0E23B-09E2-4C29-9C26-E086CEEF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整理自網站即時上傳、公民講堂共用素材與校本資料流程。</a:t>
            </a:r>
          </a:p>
        </p:txBody>
      </p:sp>
    </p:spTree>
    <p:extLst>
      <p:ext uri="{BB962C8B-B14F-4D97-AF65-F5344CB8AC3E}">
        <p14:creationId xmlns:p14="http://schemas.microsoft.com/office/powerpoint/2010/main" val="21414083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1081D-5328-46BD-831A-6CE41DCF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A75A0-1848-4AA4-9EC1-58C945F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可直接複製的工作流程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F3F7F-7B15-4637-ADEF-EEF6AEC4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五步驟，把訪視變成平常工作副產品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9ED38-DF6D-4395-ABD6-3DD8F7BD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1F3D7-6EC4-43A1-961B-5038A02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C87EC-77FC-4BBC-9C04-0ACA6C7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列問題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F513-08FB-40FB-8E06-1656A63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通學與事故風險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E8663-2C68-41C4-82E6-63E61C2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055B1-47DB-408A-BD2F-EF3081C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44907-A9FF-46E0-8414-CD8BD811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借時間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F973C-647D-4130-8B4D-05EC8B21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導師課與既有學科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F49C1-9DB1-4000-A64A-A3E4B6F2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40C4A-73E6-437F-915F-A9E8DE31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38D7E-CFA3-4271-A30A-07B16AA1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共用素材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BFBE3-1B5C-422F-AC33-FEF5609F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一個資料庫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68045-DD4F-48E4-AA7D-A9F06D5C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F6E78-B3F7-4014-9583-2B88552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34BB5-1E6B-431F-B5A8-3CE105C3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即時歸檔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ABB59-833A-41C7-9625-976EF99A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依指標放網站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00A8C-A5C8-429F-9ED5-9C6063CD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28E4F-E80E-433F-9343-E2D2D1FE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36BAE-59F2-4D26-8AE8-7D0C1E0F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追工程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298AA-A6DB-42ED-B18C-AB3F2DA0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433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責任人與時程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A1AAA-CB3E-4138-B775-FACDFA0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案例轉譯：竹光國中 114 訪視網站。</a:t>
            </a:r>
          </a:p>
        </p:txBody>
      </p:sp>
    </p:spTree>
    <p:extLst>
      <p:ext uri="{BB962C8B-B14F-4D97-AF65-F5344CB8AC3E}">
        <p14:creationId xmlns:p14="http://schemas.microsoft.com/office/powerpoint/2010/main" val="17488735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3B9E3-75E8-4F5F-BDA1-9ED75952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11878-51A3-480A-BD26-9004C44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報告不需要一本書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A9DAB-518F-4A46-B250-8A39617C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一張表，只講五件事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9A741-3716-4407-91B2-BE9EAB28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C244C-FA82-4CFD-AE05-434BBECE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150BB-E562-48AD-85D2-46443BAE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56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哪裡有風險？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D5B30-85F2-4A56-AAB2-A3B39678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91282-6DDB-40E5-8FD7-4D566BD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A6C20-4F41-4BFF-9114-B9B2F82B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62375"/>
            <a:ext cx="156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誰做了什麼？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3E70E-F2E7-4FBD-9D78-6E2FB25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52424-2E6A-4C76-B6A5-EF1E7355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24222-60CE-4A23-8013-C9AE65A6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62375"/>
            <a:ext cx="156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如何確認做過？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D1365-2EDE-4C42-8905-AABCFF96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747C9-8F60-4C6B-8A5A-101BD51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0375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04BC0-A128-4B94-9475-E16C035C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2375"/>
            <a:ext cx="156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什麼條件改變？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3C0EB-FA95-40AD-9523-BC31197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190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456CB-5A01-4452-B58E-AB7E6BE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0375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39FEE-32F8-42A1-B409-EDE1F973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62375"/>
            <a:ext cx="1562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誰何時接手？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1084E-CDB3-48DE-A6A5-950E349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建議格式：問題 → 做法 → 證據 → 結果 → 下一步。</a:t>
            </a:r>
          </a:p>
        </p:txBody>
      </p:sp>
    </p:spTree>
    <p:extLst>
      <p:ext uri="{BB962C8B-B14F-4D97-AF65-F5344CB8AC3E}">
        <p14:creationId xmlns:p14="http://schemas.microsoft.com/office/powerpoint/2010/main" val="11864562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FD434-2862-4B32-BE36-4213B72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15062-DDB4-4067-B2D8-95E456B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減量清單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9CB4E-8696-4EFA-B46D-271A51AD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五樣東西，不必為訪視重做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C4FBA-476E-45B1-9DDA-3A3C571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B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5CC62-17AE-4EA4-9112-FBA0092C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18704-0D1E-4A62-93B7-D7614AF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717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不另開一門交通安全課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39611-85CA-4516-B251-9C0162C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B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737FE-2CF1-4612-8408-7EAFB059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BE2C8-D9D5-4EEB-88A0-89BEFC50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575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不為每次訪視重做網站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A51BE-08F3-4504-99FF-C4357A51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B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3857E-2D4C-4063-9110-FFD42ED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86574-FCB9-4EDA-AA8F-822AB35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433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不臨時補活動與照片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5E90A-B49D-4A6B-928F-C368D8E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B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1414E-6C9B-4AB1-A558-3FB268E5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B8BF3-149E-4AA1-8953-B529734C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不重複向處室收同一份資料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C185B-20DD-41CF-90F6-56FE79A4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B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E9467-A9A0-4112-82D1-718BDB2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90817-F0C6-4D0A-8DFB-4CFD0CD8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149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不把工程問題包成教育成果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CC468-0444-4597-8774-A0FF2C3D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把時間留給真正能降低風險的工作。</a:t>
            </a:r>
          </a:p>
        </p:txBody>
      </p:sp>
    </p:spTree>
    <p:extLst>
      <p:ext uri="{BB962C8B-B14F-4D97-AF65-F5344CB8AC3E}">
        <p14:creationId xmlns:p14="http://schemas.microsoft.com/office/powerpoint/2010/main" val="15582719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76F6F-278C-4951-97A5-FDED38E6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772FB-303B-4773-99E4-57DE2CF0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訪視的測量邊界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AEADC-D3F4-425E-ABEB-CE447260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評鑑測到的，可能只是資料呈現能力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EB0F2-107A-4055-B782-31567CD2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4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6701B-992A-44D6-8C9F-AE07FDDF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投入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85E1E-523F-4230-BD30-DE1FB87F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人力、經費、會議、志工與行政時間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EDF15-1026-47A0-B99C-4930AC7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4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42DFC-8403-42A1-A883-12611F3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FAFD4-D45E-4FA5-8867-95F3AB80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課程、宣導、網站上傳、資料彙整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E162D-8F53-4110-8D09-F3024AB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4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90CA9-DA59-46EE-8FC4-5BA4B657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產出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9F075-E380-4210-ACBF-DF392C8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活動場次、文件份數、照片與成果冊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FFC3F-4718-47E9-B917-D24AE535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14288">
            <a:solidFill>
              <a:srgbClr val="FFC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18293-81B7-488C-80F5-2AFEE0C5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8CFFA-A070-4B2C-B417-938A517D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00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速度下降？風險降低？通學路線更安全？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7CC52-328D-4B6B-A463-1D988D05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前三者可以證明「做過」；只有結果能回答「有沒有更安全」。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FB1D4-22B5-48AB-B046-67EBB9FE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評估架構參考：UK Government, Magenta Book（process / impact / outcomes）。</a:t>
            </a:r>
          </a:p>
        </p:txBody>
      </p:sp>
    </p:spTree>
    <p:extLst>
      <p:ext uri="{BB962C8B-B14F-4D97-AF65-F5344CB8AC3E}">
        <p14:creationId xmlns:p14="http://schemas.microsoft.com/office/powerpoint/2010/main" val="1346629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40A2F-ED16-442C-9002-2547B45F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3F87F-BEA8-4922-883D-6A4F299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不是反對評鑑，是要求評鑑回答正確問題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F41D8-329D-4C3C-A59C-9FCA8ED9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四問評鑑：它有資格代表「安全」嗎？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20B37-B7F5-4FBB-92BB-2445201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7E903-4C9A-4433-AD3E-926F041A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2D62-52A7-4C61-9159-EC019951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構念是什麼？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CFA15-42AE-468D-960D-7355AFF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194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評的是交通安全、行政完整度，還是簡報表現？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E6AA2-EEAF-4C67-B95A-7A00252B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33A6B-4EDB-43F9-A588-A07386FB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4FFAF-8C5E-4F3B-8392-B805ECB2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評分穩不穩？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86548-B808-4093-A7B6-760B75C6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相同證據換一組人，結果會不會完全不同？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AD6D5-9806-4EB3-8E20-C1D561E2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C079A-E0E2-4D84-9153-7076EA90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984B6-C350-4B86-966E-71EB4B7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能連到結果嗎？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77742-1AC8-4023-9137-FEA5639E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高分是否對應更低的速度、事故與通學風險？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8BCC0-EE1C-42EF-A1F6-C8D3640D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C25F8-04E6-4E43-A1FE-4967F38C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96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67B53-E8E8-4887-A260-91ADCC4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29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會不會扭曲行為？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E9435-BB6A-4277-AD9C-BAD5E8B5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768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學校是否被迫把時間花在可拍照、可裝訂的工作？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CAFBF-8FE8-41FA-8835-D32AEB63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依三次訪視經驗提出的效度檢核；不宣稱已完成正式心理計量研究。</a:t>
            </a:r>
          </a:p>
        </p:txBody>
      </p:sp>
    </p:spTree>
    <p:extLst>
      <p:ext uri="{BB962C8B-B14F-4D97-AF65-F5344CB8AC3E}">
        <p14:creationId xmlns:p14="http://schemas.microsoft.com/office/powerpoint/2010/main" val="5890877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5C016-2861-4676-920D-5BF0FFA3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D2E80-4B39-476C-B0AF-C8F4C2FD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教育現場已經 overloading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DF8A5-F438-4989-8427-5DFBF77C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把行政負荷當成安全證據，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5AAFC-D85B-4904-A3CB-D231EF24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成本由誰承擔？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BFAFF-F840-46D1-9FB3-790094A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81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OECD TALIS 2024：平均約 52% 教師把過多行政工作視為工作壓力來源；行政時間增加與福祉下降的關聯尤其明顯。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64024-0A27-4904-A19A-183EFF00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71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新增任務前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請先說明：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要刪掉什麼？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6EB83-0B86-46BD-9958-91C0948F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19625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20EAF-6D45-4918-811A-B5F17B0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來源：OECD, Results from TALIS 2024, “The demands of teaching”.</a:t>
            </a:r>
          </a:p>
        </p:txBody>
      </p:sp>
    </p:spTree>
    <p:extLst>
      <p:ext uri="{BB962C8B-B14F-4D97-AF65-F5344CB8AC3E}">
        <p14:creationId xmlns:p14="http://schemas.microsoft.com/office/powerpoint/2010/main" val="16329565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C3D94-57A6-4056-B65D-847948A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01DB6-9E99-40E1-858D-886B362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把注意力拉回真實世界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9D238-6AAC-42C2-859A-60924439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即使評鑑失真，交通安全仍然真實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127C1-BF08-4FFA-A5DD-A14C460F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75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75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2,858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A7995-8A8C-47A0-8CC0-59BDBE9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臺灣 2025 年道路交通事故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30 日內死亡人數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BF5BC-2D9C-4B33-A4DF-C58DA82D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75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75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119萬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6E85D-AC0E-4BEC-9355-671EB0E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862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全球每年道路交通死亡；道路傷害仍是 5–29 歲主要死因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FCF7-7871-497E-BC4E-D4EA5B6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來源：交通部 168 交通安全入口網（2026-03-25）；WHO Global status report on road safety 2023。</a:t>
            </a:r>
          </a:p>
        </p:txBody>
      </p:sp>
    </p:spTree>
    <p:extLst>
      <p:ext uri="{BB962C8B-B14F-4D97-AF65-F5344CB8AC3E}">
        <p14:creationId xmlns:p14="http://schemas.microsoft.com/office/powerpoint/2010/main" val="12805583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5ABAC-3BD9-4E97-BED6-568B866C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ADCE2-FF37-4AA3-9FA3-92D8E0B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重新定義交通安全教育的目的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DDD33-C95C-43CB-A019-D960FF1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目的不是訓練永不犯錯的用路人。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619D5-3ED8-4505-8E5D-97E4421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9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而是打造犯錯仍能回家的環境。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41304-C2B3-404D-A0AB-9CF3F1E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743AD-E885-42F0-B2FF-3DCF6DC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這就是人本交通，也是 Safe System 的倫理起點。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591E1-EB10-43EC-A5B6-4DC451D6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概念來源：FHWA Zero Deaths and Safe System；WHO Safe System approach。</a:t>
            </a:r>
          </a:p>
        </p:txBody>
      </p:sp>
    </p:spTree>
    <p:extLst>
      <p:ext uri="{BB962C8B-B14F-4D97-AF65-F5344CB8AC3E}">
        <p14:creationId xmlns:p14="http://schemas.microsoft.com/office/powerpoint/2010/main" val="9009661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C58AE-89C4-46FB-891E-DC65B3D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40CE3-FD2B-4B87-85F4-9570CB07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國際共同語言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9754F-8C8A-4A84-A36F-E4F8744B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Safe System 的六個原則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8B725-7267-434C-BCF5-0DB92052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2B6AE-2C82-44A0-8370-73E65EC0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93F1A-521B-4256-BA25-988BE05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死傷不可接受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590FE-1C8E-46B5-AFF6-418E1B1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目標不是少一點，而是避免死亡與重傷。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114ED-4C6A-4513-9275-273968B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9B649-AA35-4B1D-B324-1B124C5C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12C1B-FB73-42E6-A77C-BB8F3839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人一定會犯錯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4F57E-EE92-4553-B70D-9D3FA4E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系統必須預期錯誤，而不是只責怪個人。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001D0-4213-44E4-840F-5B0F0A54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4AFAD-DAE4-4391-81B9-9D0FB2F8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9B051-4F03-4A25-9368-7666999F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955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人體承受有限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EFDCE-5B49-4949-B579-19AB8F41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速度與撞擊角度必須符合人的生理極限。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5DA9D-2866-4FBF-884C-9E1AD0AB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709BA-5A2B-4E82-B3A1-D41D539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3205E-030C-4D22-8544-451D9E0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責任共同承擔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40542-15EA-4BAF-8304-D002126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設計者、管理者與用路人都有責任。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87BDA-F956-4780-8D8F-2A48BBE8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48125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0846E-CE3C-4123-A89B-E8E32B8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481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43D20-D8BF-49F0-A3C7-732441D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57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安全要主動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73B32-9056-4B3E-8EEA-2376F81F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148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在死亡發生前，先找出高風險位置。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83656-7F41-42C6-83FB-DF9BAD5C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7368E-998A-4783-B76E-C51FAB8F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6E70B-5725-4EB2-AECB-68282CD4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57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需要多重防護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F9051-BEA9-403F-B3CF-E62EBC8F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148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一道防線失敗，還有下一道保住生命。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D5F2C-1C83-4B89-AC06-3A609501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來源：FHWA, Zero Deaths and Safe System。</a:t>
            </a:r>
          </a:p>
        </p:txBody>
      </p:sp>
    </p:spTree>
    <p:extLst>
      <p:ext uri="{BB962C8B-B14F-4D97-AF65-F5344CB8AC3E}">
        <p14:creationId xmlns:p14="http://schemas.microsoft.com/office/powerpoint/2010/main" val="14847788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D0DFD-E6C0-41A9-883B-31B9BB44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E957A-9C5B-4FED-81A4-52EB64C6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責任必須被看見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7298F-20C3-486B-A7FC-695C0DC7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教育只是五道防線之一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74C0D-C970-4E1F-8A45-AF51A55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不能獨自背負安全結果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BB6D9-F207-4F1C-885E-27854E5C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75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F4344-2B09-41D2-BF10-5331647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安全用路人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9C9D2-8691-4E94-973B-D732AA56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146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DAE4B-68B7-4C70-B0DC-E99EF7D7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7662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安全道路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65333-719E-46C5-816D-B1870F5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146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209B9-D7B0-4F8A-BE75-BEB6E76A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7662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安全速度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F78A0-C552-4369-827E-4F06BFA1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8C5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2448D-D3F3-4AD4-8676-583A03B9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安全車輛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D6AFB-033D-4912-B12A-6360CA3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1905000" cy="2000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555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77D3C-F8E3-405F-92D2-CE3771B2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事故後照護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26D88-9CB1-44D7-96F5-5A7373CB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任何一層失效，其他層都應降低後果；這才叫系統。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33E77-AF0C-4573-B509-4D283F6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來源：FHWA Safe System elements。</a:t>
            </a:r>
          </a:p>
        </p:txBody>
      </p:sp>
    </p:spTree>
    <p:extLst>
      <p:ext uri="{BB962C8B-B14F-4D97-AF65-F5344CB8AC3E}">
        <p14:creationId xmlns:p14="http://schemas.microsoft.com/office/powerpoint/2010/main" val="17960115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30074-B6C1-4D48-888E-555A132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E739A-3B6F-4DFE-A71E-C8D83D60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教育的邊界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37522-CF07-4938-9E3D-1890C8D3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只給資訊，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63FAB-DA72-4F5F-80CE-B410684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幾乎不會單獨奏效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2DBE-6C80-4422-8A01-F0777355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FHWA 的人因教材直接指出：僅提供資訊通常無法改變行為。教育要與工程、執法、制度與可行選擇一起發生。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A94BA-5C63-47EC-8F3B-27D0A3BF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F46F1-5565-4B33-9322-C5B030F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不要把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工程怠惰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的後果，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歸咎到教育上。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2510F-1394-469C-A464-6790826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720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2AEEB-6C69-48CB-9918-4DAC2A4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來源：FHWA Road Safety Fundamentals, Unit 2；使用者原簡報第 14 頁。</a:t>
            </a:r>
          </a:p>
        </p:txBody>
      </p:sp>
    </p:spTree>
    <p:extLst>
      <p:ext uri="{BB962C8B-B14F-4D97-AF65-F5344CB8AC3E}">
        <p14:creationId xmlns:p14="http://schemas.microsoft.com/office/powerpoint/2010/main" val="347635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5E4D6-F023-4F94-BABF-BF8DD1E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72FD8-B47A-412E-9AC6-942BE66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在地經驗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6656D-6F6C-4C56-A9A1-9E314EA0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環境決定人能不能做對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9B422-4083-4EB3-829A-DD6D1D3C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一句「十次車禍九次快」，敵不過讓駕駛自然減速、縮短穿越距離、提升可見性的工程。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E1D47-84C5-4366-A600-D5A92E2B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教育教判斷；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環境讓正確判斷做得到。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7B7D5-A428-4782-863C-D923406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095375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54c7e1df64024"/>
          <a:stretch xmlns:a="http://schemas.openxmlformats.org/drawingml/2006/main"/>
        </p:blipFill>
        <p:spPr>
          <a:xfrm xmlns:a="http://schemas.openxmlformats.org/drawingml/2006/main">
            <a:off x="6229350" y="1750219"/>
            <a:ext cx="4953000" cy="278606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52F24-E4A6-42B5-983A-75CBF868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476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79E6C-D6EA-4778-BBE5-4A19B733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案例來源：使用者原簡報第 10–11 頁。</a:t>
            </a:r>
          </a:p>
        </p:txBody>
      </p:sp>
    </p:spTree>
    <p:extLst>
      <p:ext uri="{BB962C8B-B14F-4D97-AF65-F5344CB8AC3E}">
        <p14:creationId xmlns:p14="http://schemas.microsoft.com/office/powerpoint/2010/main" val="18699656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6CC04-8932-455C-93A7-98BC48DD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285EC-8A9C-47C8-AAD5-021BF58C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國外不是更會宣導，而是更早改變系統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827ED-5F9D-4D61-8541-F3D4C5FC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瑞典與荷蘭把安全放進設計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035A-FC54-4546-BC54-509F7665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AD43A-D4AB-4331-BD66-4FFFA42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瑞典｜Vision 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15070-C80A-4BF3-B709-70A943D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1997 年成為國家政策。倫理前提是死亡與重傷不可接受；道路系統設計者必須承擔防止嚴重後果的責任。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E9BB6-A628-4220-93F5-21697A4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83F78-31BC-4D7E-AA5B-C1D9F09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荷蘭｜Sustainable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7C960-2C86-41DE-BB12-2333A81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道路功能要清楚、速度與使用者相容、設計可預期、容錯且具限制性；安全是設計原則，不是補救活動。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5370B-CF30-4690-80F7-EA852CC4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來源：Swedish Transport Administration / Vision Zero Academy；SWOV Sustainable Road Safety。</a:t>
            </a:r>
          </a:p>
        </p:txBody>
      </p:sp>
    </p:spTree>
    <p:extLst>
      <p:ext uri="{BB962C8B-B14F-4D97-AF65-F5344CB8AC3E}">
        <p14:creationId xmlns:p14="http://schemas.microsoft.com/office/powerpoint/2010/main" val="11506077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1FC40-8B92-4535-B613-482C4DD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AC9B8-BBF1-44DA-8B8A-7A0B52FA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教育仍然重要，但角色要精準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22A4D-573C-43EE-B55A-7A68FE6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學校真正該教的三件事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9F68-7E49-488F-A333-14856DA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2816F-9526-4DF7-871D-ADE112AD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7C0D9-A3B3-4C23-82BD-32951702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保護自己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4C15E-BAB3-402B-9809-32B59FE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風險感知、視線死角、速度判斷、防衛性用路與不同環境的應變。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91562-2A60-4FD1-8C75-DC4736E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B84F7-3B01-4085-8553-917C868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91125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4445E-EF50-4D51-B423-7B98D89B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看懂系統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819A9-237F-49A0-8504-2E0C7A8C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辨識道路功能、穿越距離、車速、衝突點，以及設計如何影響行為。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869D3-D309-49A1-88DF-88E57501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E29C5-FB72-4F11-AD54-EF6F45CE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91125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98ED0-AAE0-4845-A4C3-5343234A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參與改變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62344-6D84-43AE-8851-5AB2B5E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調查通學路線、提出改善方案、與公部門溝通，成為支持人本交通的公民。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3BC07-6661-456D-A6AF-E9DBF66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內容整合：Safe System、人本交通與使用者原簡報第 20–25 頁。</a:t>
            </a:r>
          </a:p>
        </p:txBody>
      </p:sp>
    </p:spTree>
    <p:extLst>
      <p:ext uri="{BB962C8B-B14F-4D97-AF65-F5344CB8AC3E}">
        <p14:creationId xmlns:p14="http://schemas.microsoft.com/office/powerpoint/2010/main" val="2784858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2F455-0F3A-42F7-83E2-CC267716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188AC-A56B-4A3D-A1E6-D825EDBA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不用再新增一套大型課程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575E3-7CAF-435F-B8B4-CE269C49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一支影片，轉成 10 分鐘的公民課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EB77-5220-465E-A45B-34C38DF5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AD4D0-1678-4089-930A-2B6A1D6D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2AE10-A3C2-4979-9DC0-6E78EBD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6B1B7-F53D-47B8-A389-55D86022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哪個位置讓人不安？誰最脆弱？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CBFE-747A-456A-9074-BFE9120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CED05-49F5-4A0A-B747-E22F4D4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EC91B-A299-4679-9FEF-0767758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命名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21145-9D94-4009-9986-9E9524C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6712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問題是速度、視距、動線，還是責任設計？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81FA0-0EB1-47AA-AD00-75E937C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3A654-9D69-42AF-A1D6-8C4ABF56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FB773-D016-480A-A322-9D8D531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重畫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95331-423D-4407-8F66-655B7215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如果容許人犯錯，道路要改哪一處？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7B588-7ADD-4E91-B936-EB53FE9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4E5CB-A979-4271-8D82-0A8D090C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37AF9-5032-470E-9BF0-5E798E3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發聲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90040-0945-48A7-802E-75BDAC2D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5D0C7"/>
                </a:solidFill>
                <a:latin typeface="Microsoft JhengHei"/>
                <a:ea typeface="Microsoft JhengHei"/>
                <a:cs typeface="Microsoft JhengHei"/>
              </a:rPr>
              <a:t>用一張圖、一段理由，提出可回應的建議。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C856F-8E16-4E0C-9C43-896D9E42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教學轉譯建議：觀察 → 系統語言 → 設計 → 公民表達。</a:t>
            </a:r>
          </a:p>
        </p:txBody>
      </p:sp>
    </p:spTree>
    <p:extLst>
      <p:ext uri="{BB962C8B-B14F-4D97-AF65-F5344CB8AC3E}">
        <p14:creationId xmlns:p14="http://schemas.microsoft.com/office/powerpoint/2010/main" val="5599285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E1696-A6E2-4490-B32E-A911C116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530FD-E409-465A-980C-FF5FE90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影片不是答案，是討論的起點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B7C07-7E69-45DB-BB8F-B74EEC9C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三支可直接使用的影片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F9AE7-3DC9-4F51-9C82-1F165A29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70359-B04C-435D-AF4F-17FE36C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5′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F0588-C5BA-4710-ABAC-C9405399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FHWA｜The Safe System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79200-1F06-4056-980B-7CF405E4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479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官方資源：人會犯錯、責任共享、多重防護。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1CCB0-8934-4C16-A0E3-971371C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03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highways.dot.gov/safety/zero-deaths/zero-deaths-resources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D47E9-8EA1-48B7-A2A1-53B2458A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3620B-8249-4AE3-BED6-163A1E8F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8′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0EBBD-C095-4428-AFD8-DBA128CF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BicycleDutch｜Systematic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21474-2158-4A5C-8A82-BB6EC86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8622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荷蘭街道如何把 Vision Zero 變成系統設計。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520F6-B479-475A-9B70-82D790F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385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youtu.be/5aNtsWvNYKE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BA845-C313-40BE-B711-0976660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CA41C-7D00-48F3-9562-47AA57DE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5′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29D8F-51BD-4905-99F7-0570DB4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Not Just Bikes｜Traffic Calming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9FA1B-125E-4437-B3D3-F7863DC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觀察自我解釋的減速設計，而非只看速限牌。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A3DFD-C3D0-4875-AED6-286C207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768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youtu.be/bAxRYrpbnuA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07E5C-D586-47A8-86A2-2C462080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非官方影片用於引發觀察與比較；政策事實請回到 FHWA、WHO、SWOV 等來源。</a:t>
            </a:r>
          </a:p>
        </p:txBody>
      </p:sp>
    </p:spTree>
    <p:extLst>
      <p:ext uri="{BB962C8B-B14F-4D97-AF65-F5344CB8AC3E}">
        <p14:creationId xmlns:p14="http://schemas.microsoft.com/office/powerpoint/2010/main" val="9720591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2F5D8-B87C-46DE-BFF4-9DAD0767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8733-5899-4641-891E-7FE5BDD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不加課，把零散議題變成進程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ADB8F-0C11-4FDC-9C8C-FB7C44B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把既有班會課排成可累積的能力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1A00F-A906-46C6-BA10-3476AD74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62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BA989-82F4-41E6-9BA7-19C26F13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6E1F7-6BA3-495F-92DA-28B8BACB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七上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AE281-1A90-43F5-A330-8263CCD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我家在這裡：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畫出通學路線與風險點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1D8DE-82E3-4038-A6A5-16CF0DC6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562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5B22D-18D6-4BC3-90FC-D16A4D34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9B712-3DB4-41F6-8336-3EFE59DB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七下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1DD18-04ED-4788-B08F-E6DD81C1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危險路口：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停、看、聽與視距判斷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FC1DD-0E32-4BE3-8DA2-53029CC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562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41AC6-6C66-47B1-BFE4-C94C96F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31424-27F4-4985-BF78-56719FC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八上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C63E2-C4AC-419B-A0A8-EAEDF14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行路禮儀：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權利義務與弱勢用路人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606DF-7A1E-4F60-8A07-04E915C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562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6EDAE-AE4F-4F46-A9B7-76F35BF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61E70-B7E5-486D-B21C-44F3802C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八下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0D233-CE06-4E0D-8AB4-EF397A4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乘車安全：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速度、碰撞與防護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BB036-3602-4DA3-A4F0-0C7DB02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562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E4209-BFFA-44B6-AEE4-4B61231D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03F41-288F-4005-BFDF-495A863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九上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364FB-50BF-4259-B1F3-C4995B4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大眾運輸：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公共空間與移動公平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8A9C8-2FE9-4389-A130-0E12D3F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5621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777E4-6DB7-4BDC-9959-A966622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C4603-8D28-4C3E-8165-BFBA7AF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九下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16823-7438-4986-91D9-6953112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2900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防衛駕駛：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Safe System 與公民提案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629E2-1C0C-433E-961A-20339B48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改寫自使用者原簡報第 25–26 頁。</a:t>
            </a:r>
          </a:p>
        </p:txBody>
      </p:sp>
    </p:spTree>
    <p:extLst>
      <p:ext uri="{BB962C8B-B14F-4D97-AF65-F5344CB8AC3E}">
        <p14:creationId xmlns:p14="http://schemas.microsoft.com/office/powerpoint/2010/main" val="12005247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AD51B-5144-46E9-A13C-61D5E405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B7C50-4DE3-4F0A-9CF0-CB693599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減量，才有可能做深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49453-895F-45E9-9D14-01E5EC5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停止堆疊，開始聚焦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6036-E284-4904-A592-A87E58CF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78B8C-4318-4BE8-9928-480C08ED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6E1AF-3BD5-4C79-9512-85B2FAF0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為訪視臨時補照片與成果冊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用口號與道德勸說責怪弱勢者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每個社會問題都新增一堂課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用活動數量代替風險變化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E637B-36D6-4A90-A6FC-276F23B2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76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E9E72-3CFB-42A5-A42D-985966B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7877D"/>
                </a:solidFill>
                <a:latin typeface="Microsoft JhengHei"/>
                <a:ea typeface="Microsoft JhengHei"/>
                <a:cs typeface="Microsoft JhengHei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BD40B-2A66-41FA-BA06-2F80E39C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每年做一次通學路線風險盤點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每屆完成一個學生改善提案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跨公民、數學、科技課共用素材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同一網站即時保存真實工作</a:t>
            </a:r>
          </a:p>
        </p:txBody>
      </p:sp>
    </p:spTree>
    <p:extLst>
      <p:ext uri="{BB962C8B-B14F-4D97-AF65-F5344CB8AC3E}">
        <p14:creationId xmlns:p14="http://schemas.microsoft.com/office/powerpoint/2010/main" val="129625789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82079-62DB-4187-9A78-63832BA6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FE976-51A5-4F82-98C5-3FB3304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共同責任不是共同甩鍋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F1980-A361-44ED-8C75-4AF4156C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學校負責學習；政府負責讓改變發生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8C734-C0E9-4ED1-B088-240325CA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4BBBC-4A2C-4D8D-9217-B210AE62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學校可以承擔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246A9-0D35-4C81-A524-D01B170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學生風險感知與系統素養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通學經驗與風險點的回報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跨領域公民提案與公共溝通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• 校內接送管理與志工協作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30903-9154-4C13-BEC9-22BCCDB2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64103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1D850-95EA-463A-80D0-5BF6CDC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670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主管機關／教授／交通專業必須承擔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297A6-CE8F-47D8-AB2E-D70DB636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561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道路設計、速度管理與執法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風險資料、工程優先順序與改善時程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一致、可重現、有申訴機制的評估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刪減行政要求並提供人力、經費、素材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• 學校提報後得到正式工程回應</a:t>
            </a:r>
          </a:p>
        </p:txBody>
      </p:sp>
    </p:spTree>
    <p:extLst>
      <p:ext uri="{BB962C8B-B14F-4D97-AF65-F5344CB8AC3E}">
        <p14:creationId xmlns:p14="http://schemas.microsoft.com/office/powerpoint/2010/main" val="6563876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2A477-DB86-42C9-B9A9-19C393C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72DD6-8757-49EE-AC58-7BC3FCE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建議的新評估邏輯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2544A-2067-4D90-9A9D-A95520D2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評鑑要從「資料齊全」走向「安全改變」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C75CD-47B4-4ABF-82DC-794DEDC7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72D85-4B6B-489E-AE19-FFB953E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28FC9-B655-4F0F-B5FB-2102E6A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流程證據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D14DE-0DBD-4DC7-80BA-FCA4D1D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是否建立跨局處責任、風險提報與回應機制？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329F9-3D66-4B8A-B6AF-A66A7094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38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57F38-70A5-411F-A502-6E30274B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E6E73-CC13-4AB1-A4E8-C2687B5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產出證據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F95CE-EADE-4A4F-BA1E-04FF38A0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718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完成哪些工程、課程與學生提案？品質如何？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DB14F-B506-42A8-B7DB-B11EECB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38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99448-50FA-4E48-9CEF-4D627B2A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D7BF0-047F-46E7-B1C7-522B4A5C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結果證據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7E3D2-ACFD-4605-871D-BF9EE501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18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車速、停讓、衝突點、通學感受與系統理解是否改善？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8BF1C-F974-4CFF-9C7E-7BC5C774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381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904FF-B61A-4AB2-A3E9-3F2716E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2B894-E25F-4210-8E23-840987A2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可信機制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6C875-4FAC-422A-B9B8-6ECF1504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718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評分者校準、多重證據、公開準則、回饋與申訴。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01ED5-DF65-4E79-9997-7584F852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評估設計參考：UK Government Magenta Book；Safe System proactive safety。</a:t>
            </a:r>
          </a:p>
        </p:txBody>
      </p:sp>
    </p:spTree>
    <p:extLst>
      <p:ext uri="{BB962C8B-B14F-4D97-AF65-F5344CB8AC3E}">
        <p14:creationId xmlns:p14="http://schemas.microsoft.com/office/powerpoint/2010/main" val="116013398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79CC0-7576-42E7-BF77-FE13259F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63BB2-C419-4BA9-B24A-6EB7D84D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請把制度改成支持安全，而不是生產資料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FB1A2-55B1-4E4D-A51B-A689BF4B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給教授與長官的三個請求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40C95-3010-42C0-A050-2B333DF9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D6BDC-D2EE-4200-B48B-E619143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5D2F2-9D53-4F4E-9921-ECFA9590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955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少看一本成果冊，多看一條通學路。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8F793-F168-4FDF-A8FC-C5DE0CDE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00668-5756-4D0C-AADA-724A06A0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D1B8F-BF81-40AC-90AA-3E706F6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385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新增任務前，先刪除等量行政負擔。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61A38-40F0-40D3-A239-CF9452AC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32E6C-5864-45D4-93AA-4BFEED3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CF3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24EA3-0E9D-4277-BC88-8D89220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815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學校提出風險後，請給工程回應、時程與責任人。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57713-03C9-40BC-8CAD-493FDB2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DB9B0"/>
                </a:solidFill>
                <a:latin typeface="Microsoft JhengHei"/>
                <a:ea typeface="Microsoft JhengHei"/>
                <a:cs typeface="Microsoft JhengHei"/>
              </a:rPr>
              <a:t>本頁為演講者依教育現場經驗提出的制度倡議。</a:t>
            </a:r>
          </a:p>
        </p:txBody>
      </p:sp>
    </p:spTree>
    <p:extLst>
      <p:ext uri="{BB962C8B-B14F-4D97-AF65-F5344CB8AC3E}">
        <p14:creationId xmlns:p14="http://schemas.microsoft.com/office/powerpoint/2010/main" val="19435210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C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D69C8-C70E-4C00-A84E-D73D8E77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4BAF2-732B-4C2C-B7C4-E9566932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最後，不要只問學校做了幾份資料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83D84-D70F-4C68-8C6F-63FDE3F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請問孩子走出校門時，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FF435-3443-4880-8486-C164C4C5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05A47"/>
                </a:solidFill>
                <a:latin typeface="Microsoft JhengHei"/>
                <a:ea typeface="Microsoft JhengHei"/>
                <a:cs typeface="Microsoft JhengHei"/>
              </a:rPr>
              <a:t>這個系統，容許他犯一次錯嗎？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294B-1D77-46DC-B82F-75B73F0E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600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AB37E-6873-4191-9FF3-A6F8409D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09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a81b9d8964609"/>
          <a:stretch xmlns:a="http://schemas.openxmlformats.org/drawingml/2006/main"/>
        </p:blipFill>
        <p:spPr>
          <a:xfrm xmlns:a="http://schemas.openxmlformats.org/drawingml/2006/main">
            <a:off x="9144000" y="16192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7479B-2FCE-489A-97E2-F65E3C4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19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案例資料網站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08C41-9BBA-4C56-B0B7-2329FF6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網站：https://sites.google.com/mail.zgjh.hc.edu.tw/safe/首頁</a:t>
            </a:r>
          </a:p>
        </p:txBody>
      </p:sp>
    </p:spTree>
    <p:extLst>
      <p:ext uri="{BB962C8B-B14F-4D97-AF65-F5344CB8AC3E}">
        <p14:creationId xmlns:p14="http://schemas.microsoft.com/office/powerpoint/2010/main" val="15120424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87993-3C6A-4F70-B3E6-31C5189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A33E7-0AC6-473F-8FCD-122DB3B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帶回去繼續看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3B989-9EB5-4079-A77C-647C2772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延伸資源與影片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28517-11D6-4678-951A-0E4D360B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80F70-32F8-4A66-83FC-43D2797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WHO｜Global road safety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9F776-8EC0-431E-B04E-52BF057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who.int/publications/b/68866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683E9-1A5E-4AF7-AC45-5D799B5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88FF0-1423-4C42-BCF1-D526726B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FHWA｜Zero Deaths and Safe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731C2-F398-4654-9D7A-1D1C0240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highways.dot.gov/safety/zero-deaths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08DB7-905C-41BF-8C7E-1F3676A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56BE5-E989-4F7B-A1C2-7F4D542F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SWOV｜Sustainable Road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A5195-EB3D-4A4E-B4B8-7BA41944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swov.nl/.../FS Sustainable Safety.pdf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AB17C-D3C0-40DE-ADD7-4EF4F194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18D35-8BC7-4C9D-A4C0-A56E0B3F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00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OECD｜TALIS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1160E-57ED-4DE5-A454-0B4B9CB4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oecd.org/.../the-demands-of-teaching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40097-930E-4398-9045-9A87E5B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C2084-9E21-446A-A2B2-67E6E74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BicycleDutch｜Systematic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2E1C4-BC6C-49AC-8BC9-4F4F6B2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youtu.be/5aNtsWvNYKE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696F7-3B3C-4058-8875-782525D6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72000"/>
            <a:ext cx="485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EFC2B-2886-4C9C-8977-7330B7F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Not Just Bikes｜Traffic Calming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83D91-4337-44D1-8011-BB78BB4A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youtu.be/bAxRYrpbnuA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5BE73-911E-4746-8CEA-318DF769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完整來源與使用說明見本專案 SOURCES.md。</a:t>
            </a:r>
          </a:p>
        </p:txBody>
      </p:sp>
    </p:spTree>
    <p:extLst>
      <p:ext uri="{BB962C8B-B14F-4D97-AF65-F5344CB8AC3E}">
        <p14:creationId xmlns:p14="http://schemas.microsoft.com/office/powerpoint/2010/main" val="91952953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17AE8-EA15-44FC-B6AB-7A44E8F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D45EF-CB76-4027-9944-D2CBED9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附錄｜案例證據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60BED-CD91-41F0-BB56-F790A03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原始訪視材料保留為案例證據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DD539-F66C-4B8F-8398-66EEE2D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1717"/>
                </a:solidFill>
                <a:latin typeface="Microsoft JhengHei"/>
                <a:ea typeface="Microsoft JhengHei"/>
                <a:cs typeface="Microsoft JhengHei"/>
              </a:rPr>
              <a:t>平時即時上傳、訪視重點、教授建議與評分表都應被保留；但它們證明的是工作歷程，不自動等於道路風險下降。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D6D65-2737-4FB7-BCA5-5F254CF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95375"/>
            <a:ext cx="51816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4fc6309784ec2"/>
          <a:stretch xmlns:a="http://schemas.openxmlformats.org/drawingml/2006/main"/>
        </p:blipFill>
        <p:spPr>
          <a:xfrm xmlns:a="http://schemas.openxmlformats.org/drawingml/2006/main">
            <a:off x="6191250" y="1810941"/>
            <a:ext cx="4991100" cy="28074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204B9-069C-4C12-B57C-C296168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054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9BB5-DBB4-4958-A99E-3520DAF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D6A63"/>
                </a:solidFill>
                <a:latin typeface="Microsoft JhengHei"/>
                <a:ea typeface="Microsoft JhengHei"/>
                <a:cs typeface="Microsoft JhengHei"/>
              </a:rPr>
              <a:t>案例來源：使用者原簡報第 32–36 頁。</a:t>
            </a:r>
          </a:p>
        </p:txBody>
      </p:sp>
    </p:spTree>
    <p:extLst>
      <p:ext uri="{BB962C8B-B14F-4D97-AF65-F5344CB8AC3E}">
        <p14:creationId xmlns:p14="http://schemas.microsoft.com/office/powerpoint/2010/main" val="170342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2026-07-22T14:18:05.1890000Z</dcterms:created>
  <dcterms:modified xsi:type="dcterms:W3CDTF">2026-07-22T14:18:05.1890000Z</dcterms:modified>
</coreProperties>
</file>