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3b8bca8d091421a" /><Relationship Type="http://schemas.openxmlformats.org/officeDocument/2006/relationships/extended-properties" Target="/docProps/app.xml" Id="R74409c87d8fe421e" /><Relationship Type="http://schemas.openxmlformats.org/officeDocument/2006/relationships/officeDocument" Target="/ppt/presentation.xml" Id="Rf82e62e0c370444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1ec506225bd429e"/>
  </p:sldMasterIdLst>
  <p:notesMasterIdLst>
    <p:notesMasterId xmlns:r="http://schemas.openxmlformats.org/officeDocument/2006/relationships" r:id="R3d7b91c518a648a1"/>
  </p:notesMasterIdLst>
  <p:sldIdLst>
    <p:sldId xmlns:r="http://schemas.openxmlformats.org/officeDocument/2006/relationships" id="256" r:id="Reb6256d5b7e34160"/>
    <p:sldId xmlns:r="http://schemas.openxmlformats.org/officeDocument/2006/relationships" id="257" r:id="Rec1c2636a96247a5"/>
    <p:sldId xmlns:r="http://schemas.openxmlformats.org/officeDocument/2006/relationships" id="258" r:id="Re5c787a3441741e8"/>
    <p:sldId xmlns:r="http://schemas.openxmlformats.org/officeDocument/2006/relationships" id="259" r:id="R3c4e3682bc834ec0"/>
    <p:sldId xmlns:r="http://schemas.openxmlformats.org/officeDocument/2006/relationships" id="260" r:id="R95ba0c8e80474719"/>
    <p:sldId xmlns:r="http://schemas.openxmlformats.org/officeDocument/2006/relationships" id="261" r:id="R5965517d3a064d01"/>
    <p:sldId xmlns:r="http://schemas.openxmlformats.org/officeDocument/2006/relationships" id="262" r:id="R2b6b336e2aa24d4a"/>
    <p:sldId xmlns:r="http://schemas.openxmlformats.org/officeDocument/2006/relationships" id="263" r:id="Rae146bb227f548a9"/>
    <p:sldId xmlns:r="http://schemas.openxmlformats.org/officeDocument/2006/relationships" id="264" r:id="Re068280c0015403b"/>
    <p:sldId xmlns:r="http://schemas.openxmlformats.org/officeDocument/2006/relationships" id="265" r:id="Rc562922b023941d5"/>
    <p:sldId xmlns:r="http://schemas.openxmlformats.org/officeDocument/2006/relationships" id="266" r:id="R39b3a22d4ed747ce"/>
    <p:sldId xmlns:r="http://schemas.openxmlformats.org/officeDocument/2006/relationships" id="267" r:id="R3ff7a36bad2c4903"/>
    <p:sldId xmlns:r="http://schemas.openxmlformats.org/officeDocument/2006/relationships" id="268" r:id="Rd939a2a685e44651"/>
    <p:sldId xmlns:r="http://schemas.openxmlformats.org/officeDocument/2006/relationships" id="269" r:id="R2b0f051b1d3a4f78"/>
    <p:sldId xmlns:r="http://schemas.openxmlformats.org/officeDocument/2006/relationships" id="270" r:id="R4761a67500d14171"/>
    <p:sldId xmlns:r="http://schemas.openxmlformats.org/officeDocument/2006/relationships" id="271" r:id="R0d21f45442cf48e1"/>
    <p:sldId xmlns:r="http://schemas.openxmlformats.org/officeDocument/2006/relationships" id="272" r:id="Rfc587392277d4eeb"/>
    <p:sldId xmlns:r="http://schemas.openxmlformats.org/officeDocument/2006/relationships" id="273" r:id="R0af308af75584830"/>
    <p:sldId xmlns:r="http://schemas.openxmlformats.org/officeDocument/2006/relationships" id="274" r:id="R6d7c76cb20dd43c9"/>
    <p:sldId xmlns:r="http://schemas.openxmlformats.org/officeDocument/2006/relationships" id="275" r:id="R763375bb919e451f"/>
    <p:sldId xmlns:r="http://schemas.openxmlformats.org/officeDocument/2006/relationships" id="276" r:id="Re3f92dd354b44ac5"/>
    <p:sldId xmlns:r="http://schemas.openxmlformats.org/officeDocument/2006/relationships" id="277" r:id="R0715a1d899ba4248"/>
    <p:sldId xmlns:r="http://schemas.openxmlformats.org/officeDocument/2006/relationships" id="278" r:id="R5230baf5b721434d"/>
    <p:sldId xmlns:r="http://schemas.openxmlformats.org/officeDocument/2006/relationships" id="279" r:id="Rfaedb30e2eb44e11"/>
    <p:sldId xmlns:r="http://schemas.openxmlformats.org/officeDocument/2006/relationships" id="280" r:id="R155843b9eb2c4f8c"/>
    <p:sldId xmlns:r="http://schemas.openxmlformats.org/officeDocument/2006/relationships" id="281" r:id="R6a4af88b9e5345a0"/>
    <p:sldId xmlns:r="http://schemas.openxmlformats.org/officeDocument/2006/relationships" id="282" r:id="R02d279b659ea41f1"/>
    <p:sldId xmlns:r="http://schemas.openxmlformats.org/officeDocument/2006/relationships" id="283" r:id="Ra3f1061af9044408"/>
    <p:sldId xmlns:r="http://schemas.openxmlformats.org/officeDocument/2006/relationships" id="284" r:id="Ra6d94f0a8904498f"/>
    <p:sldId xmlns:r="http://schemas.openxmlformats.org/officeDocument/2006/relationships" id="285" r:id="R1ea615f1b9b1418e"/>
    <p:sldId xmlns:r="http://schemas.openxmlformats.org/officeDocument/2006/relationships" id="286" r:id="Reec0641012cf40f1"/>
    <p:sldId xmlns:r="http://schemas.openxmlformats.org/officeDocument/2006/relationships" id="287" r:id="R3277548bce3e4aa2"/>
    <p:sldId xmlns:r="http://schemas.openxmlformats.org/officeDocument/2006/relationships" id="288" r:id="R6ca445d4dad34ece"/>
    <p:sldId xmlns:r="http://schemas.openxmlformats.org/officeDocument/2006/relationships" id="289" r:id="R16664e30f198491b"/>
    <p:sldId xmlns:r="http://schemas.openxmlformats.org/officeDocument/2006/relationships" id="290" r:id="R1fbf0b3a42e041d2"/>
    <p:sldId xmlns:r="http://schemas.openxmlformats.org/officeDocument/2006/relationships" id="291" r:id="Re7979f5347d04f6c"/>
    <p:sldId xmlns:r="http://schemas.openxmlformats.org/officeDocument/2006/relationships" id="292" r:id="R2ae43756ffa54d4f"/>
    <p:sldId xmlns:r="http://schemas.openxmlformats.org/officeDocument/2006/relationships" id="293" r:id="Rc121e2a2c1a14f57"/>
    <p:sldId xmlns:r="http://schemas.openxmlformats.org/officeDocument/2006/relationships" id="294" r:id="R1ff01c6175e8447b"/>
    <p:sldId xmlns:r="http://schemas.openxmlformats.org/officeDocument/2006/relationships" id="295" r:id="R5e1d65fde38a484a"/>
    <p:sldId xmlns:r="http://schemas.openxmlformats.org/officeDocument/2006/relationships" id="296" r:id="Rd6df9e63803b4683"/>
    <p:sldId xmlns:r="http://schemas.openxmlformats.org/officeDocument/2006/relationships" id="297" r:id="Rac1139a542704c4e"/>
    <p:sldId xmlns:r="http://schemas.openxmlformats.org/officeDocument/2006/relationships" id="298" r:id="Rffef12d7f71246ac"/>
    <p:sldId xmlns:r="http://schemas.openxmlformats.org/officeDocument/2006/relationships" id="299" r:id="R0a0307c3863741f8"/>
    <p:sldId xmlns:r="http://schemas.openxmlformats.org/officeDocument/2006/relationships" id="300" r:id="R9c8babca52ce449a"/>
    <p:sldId xmlns:r="http://schemas.openxmlformats.org/officeDocument/2006/relationships" id="301" r:id="R00c8421a5f984a8c"/>
    <p:sldId xmlns:r="http://schemas.openxmlformats.org/officeDocument/2006/relationships" id="302" r:id="R4b5156ed11b848c7"/>
    <p:sldId xmlns:r="http://schemas.openxmlformats.org/officeDocument/2006/relationships" id="303" r:id="R4f7c52ab891747e3"/>
    <p:sldId xmlns:r="http://schemas.openxmlformats.org/officeDocument/2006/relationships" id="304" r:id="Rcca1a434ccd04de0"/>
    <p:sldId xmlns:r="http://schemas.openxmlformats.org/officeDocument/2006/relationships" id="305" r:id="R9481a3cb5e524e8d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37933f5aa39415f" /><Relationship Type="http://schemas.openxmlformats.org/officeDocument/2006/relationships/slideMaster" Target="/ppt/slideMasters/slideMaster1.xml" Id="Rb1ec506225bd429e" /><Relationship Type="http://schemas.openxmlformats.org/officeDocument/2006/relationships/notesMaster" Target="/ppt/notesMasters/notesMaster1.xml" Id="R3d7b91c518a648a1" /><Relationship Type="http://schemas.openxmlformats.org/officeDocument/2006/relationships/presProps" Target="/ppt/presProps.xml" Id="R490a1979c7094188" /><Relationship Type="http://schemas.openxmlformats.org/officeDocument/2006/relationships/tableStyles" Target="/ppt/tableStyles.xml" Id="R3cedc333f690431c" /><Relationship Type="http://schemas.openxmlformats.org/officeDocument/2006/relationships/slide" Target="/ppt/slides/slide1.xml" Id="Reb6256d5b7e34160" /><Relationship Type="http://schemas.openxmlformats.org/officeDocument/2006/relationships/slide" Target="/ppt/slides/slide2.xml" Id="Rec1c2636a96247a5" /><Relationship Type="http://schemas.openxmlformats.org/officeDocument/2006/relationships/slide" Target="/ppt/slides/slide3.xml" Id="Re5c787a3441741e8" /><Relationship Type="http://schemas.openxmlformats.org/officeDocument/2006/relationships/slide" Target="/ppt/slides/slide4.xml" Id="R3c4e3682bc834ec0" /><Relationship Type="http://schemas.openxmlformats.org/officeDocument/2006/relationships/slide" Target="/ppt/slides/slide5.xml" Id="R95ba0c8e80474719" /><Relationship Type="http://schemas.openxmlformats.org/officeDocument/2006/relationships/slide" Target="/ppt/slides/slide6.xml" Id="R5965517d3a064d01" /><Relationship Type="http://schemas.openxmlformats.org/officeDocument/2006/relationships/slide" Target="/ppt/slides/slide7.xml" Id="R2b6b336e2aa24d4a" /><Relationship Type="http://schemas.openxmlformats.org/officeDocument/2006/relationships/slide" Target="/ppt/slides/slide8.xml" Id="Rae146bb227f548a9" /><Relationship Type="http://schemas.openxmlformats.org/officeDocument/2006/relationships/slide" Target="/ppt/slides/slide9.xml" Id="Re068280c0015403b" /><Relationship Type="http://schemas.openxmlformats.org/officeDocument/2006/relationships/slide" Target="/ppt/slides/slide10.xml" Id="Rc562922b023941d5" /><Relationship Type="http://schemas.openxmlformats.org/officeDocument/2006/relationships/slide" Target="/ppt/slides/slide11.xml" Id="R39b3a22d4ed747ce" /><Relationship Type="http://schemas.openxmlformats.org/officeDocument/2006/relationships/slide" Target="/ppt/slides/slide12.xml" Id="R3ff7a36bad2c4903" /><Relationship Type="http://schemas.openxmlformats.org/officeDocument/2006/relationships/slide" Target="/ppt/slides/slide13.xml" Id="Rd939a2a685e44651" /><Relationship Type="http://schemas.openxmlformats.org/officeDocument/2006/relationships/slide" Target="/ppt/slides/slide14.xml" Id="R2b0f051b1d3a4f78" /><Relationship Type="http://schemas.openxmlformats.org/officeDocument/2006/relationships/slide" Target="/ppt/slides/slide15.xml" Id="R4761a67500d14171" /><Relationship Type="http://schemas.openxmlformats.org/officeDocument/2006/relationships/slide" Target="/ppt/slides/slide16.xml" Id="R0d21f45442cf48e1" /><Relationship Type="http://schemas.openxmlformats.org/officeDocument/2006/relationships/slide" Target="/ppt/slides/slide17.xml" Id="Rfc587392277d4eeb" /><Relationship Type="http://schemas.openxmlformats.org/officeDocument/2006/relationships/slide" Target="/ppt/slides/slide18.xml" Id="R0af308af75584830" /><Relationship Type="http://schemas.openxmlformats.org/officeDocument/2006/relationships/slide" Target="/ppt/slides/slide19.xml" Id="R6d7c76cb20dd43c9" /><Relationship Type="http://schemas.openxmlformats.org/officeDocument/2006/relationships/slide" Target="/ppt/slides/slide20.xml" Id="R763375bb919e451f" /><Relationship Type="http://schemas.openxmlformats.org/officeDocument/2006/relationships/slide" Target="/ppt/slides/slide21.xml" Id="Re3f92dd354b44ac5" /><Relationship Type="http://schemas.openxmlformats.org/officeDocument/2006/relationships/slide" Target="/ppt/slides/slide22.xml" Id="R0715a1d899ba4248" /><Relationship Type="http://schemas.openxmlformats.org/officeDocument/2006/relationships/slide" Target="/ppt/slides/slide23.xml" Id="R5230baf5b721434d" /><Relationship Type="http://schemas.openxmlformats.org/officeDocument/2006/relationships/slide" Target="/ppt/slides/slide24.xml" Id="Rfaedb30e2eb44e11" /><Relationship Type="http://schemas.openxmlformats.org/officeDocument/2006/relationships/slide" Target="/ppt/slides/slide25.xml" Id="R155843b9eb2c4f8c" /><Relationship Type="http://schemas.openxmlformats.org/officeDocument/2006/relationships/slide" Target="/ppt/slides/slide26.xml" Id="R6a4af88b9e5345a0" /><Relationship Type="http://schemas.openxmlformats.org/officeDocument/2006/relationships/slide" Target="/ppt/slides/slide27.xml" Id="R02d279b659ea41f1" /><Relationship Type="http://schemas.openxmlformats.org/officeDocument/2006/relationships/slide" Target="/ppt/slides/slide28.xml" Id="Ra3f1061af9044408" /><Relationship Type="http://schemas.openxmlformats.org/officeDocument/2006/relationships/slide" Target="/ppt/slides/slide29.xml" Id="Ra6d94f0a8904498f" /><Relationship Type="http://schemas.openxmlformats.org/officeDocument/2006/relationships/slide" Target="/ppt/slides/slide30.xml" Id="R1ea615f1b9b1418e" /><Relationship Type="http://schemas.openxmlformats.org/officeDocument/2006/relationships/slide" Target="/ppt/slides/slide31.xml" Id="Reec0641012cf40f1" /><Relationship Type="http://schemas.openxmlformats.org/officeDocument/2006/relationships/slide" Target="/ppt/slides/slide32.xml" Id="R3277548bce3e4aa2" /><Relationship Type="http://schemas.openxmlformats.org/officeDocument/2006/relationships/slide" Target="/ppt/slides/slide33.xml" Id="R6ca445d4dad34ece" /><Relationship Type="http://schemas.openxmlformats.org/officeDocument/2006/relationships/slide" Target="/ppt/slides/slide34.xml" Id="R16664e30f198491b" /><Relationship Type="http://schemas.openxmlformats.org/officeDocument/2006/relationships/slide" Target="/ppt/slides/slide35.xml" Id="R1fbf0b3a42e041d2" /><Relationship Type="http://schemas.openxmlformats.org/officeDocument/2006/relationships/slide" Target="/ppt/slides/slide36.xml" Id="Re7979f5347d04f6c" /><Relationship Type="http://schemas.openxmlformats.org/officeDocument/2006/relationships/slide" Target="/ppt/slides/slide37.xml" Id="R2ae43756ffa54d4f" /><Relationship Type="http://schemas.openxmlformats.org/officeDocument/2006/relationships/slide" Target="/ppt/slides/slide38.xml" Id="Rc121e2a2c1a14f57" /><Relationship Type="http://schemas.openxmlformats.org/officeDocument/2006/relationships/slide" Target="/ppt/slides/slide39.xml" Id="R1ff01c6175e8447b" /><Relationship Type="http://schemas.openxmlformats.org/officeDocument/2006/relationships/slide" Target="/ppt/slides/slide40.xml" Id="R5e1d65fde38a484a" /><Relationship Type="http://schemas.openxmlformats.org/officeDocument/2006/relationships/slide" Target="/ppt/slides/slide41.xml" Id="Rd6df9e63803b4683" /><Relationship Type="http://schemas.openxmlformats.org/officeDocument/2006/relationships/slide" Target="/ppt/slides/slide42.xml" Id="Rac1139a542704c4e" /><Relationship Type="http://schemas.openxmlformats.org/officeDocument/2006/relationships/slide" Target="/ppt/slides/slide43.xml" Id="Rffef12d7f71246ac" /><Relationship Type="http://schemas.openxmlformats.org/officeDocument/2006/relationships/slide" Target="/ppt/slides/slide44.xml" Id="R0a0307c3863741f8" /><Relationship Type="http://schemas.openxmlformats.org/officeDocument/2006/relationships/slide" Target="/ppt/slides/slide45.xml" Id="R9c8babca52ce449a" /><Relationship Type="http://schemas.openxmlformats.org/officeDocument/2006/relationships/slide" Target="/ppt/slides/slide46.xml" Id="R00c8421a5f984a8c" /><Relationship Type="http://schemas.openxmlformats.org/officeDocument/2006/relationships/slide" Target="/ppt/slides/slide47.xml" Id="R4b5156ed11b848c7" /><Relationship Type="http://schemas.openxmlformats.org/officeDocument/2006/relationships/slide" Target="/ppt/slides/slide48.xml" Id="R4f7c52ab891747e3" /><Relationship Type="http://schemas.openxmlformats.org/officeDocument/2006/relationships/slide" Target="/ppt/slides/slide49.xml" Id="Rcca1a434ccd04de0" /><Relationship Type="http://schemas.openxmlformats.org/officeDocument/2006/relationships/slide" Target="/ppt/slides/slide50.xml" Id="R9481a3cb5e524e8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c440ae4c5a9453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b25bcad860a491e" /><Relationship Type="http://schemas.openxmlformats.org/officeDocument/2006/relationships/notesMaster" Target="/ppt/notesMasters/notesMaster1.xml" Id="R2be7f925f5454a1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ad4363135344ddf" /><Relationship Type="http://schemas.openxmlformats.org/officeDocument/2006/relationships/notesMaster" Target="/ppt/notesMasters/notesMaster1.xml" Id="Rbf54e4240fa1418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d1dec6651364321" /><Relationship Type="http://schemas.openxmlformats.org/officeDocument/2006/relationships/notesMaster" Target="/ppt/notesMasters/notesMaster1.xml" Id="R3cfd3a6ed72741e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fa18ab4f2da4ac1" /><Relationship Type="http://schemas.openxmlformats.org/officeDocument/2006/relationships/notesMaster" Target="/ppt/notesMasters/notesMaster1.xml" Id="Rd0ec2ae0afa5431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09ec62c376a45a5" /><Relationship Type="http://schemas.openxmlformats.org/officeDocument/2006/relationships/notesMaster" Target="/ppt/notesMasters/notesMaster1.xml" Id="R4f4ddccb6f47426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9196a6fb9364ca9" /><Relationship Type="http://schemas.openxmlformats.org/officeDocument/2006/relationships/notesMaster" Target="/ppt/notesMasters/notesMaster1.xml" Id="R397b0bb0683f4b3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eb07670970f4a42" /><Relationship Type="http://schemas.openxmlformats.org/officeDocument/2006/relationships/notesMaster" Target="/ppt/notesMasters/notesMaster1.xml" Id="Rcad822d5508e43f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9749413cd1b461f" /><Relationship Type="http://schemas.openxmlformats.org/officeDocument/2006/relationships/notesMaster" Target="/ppt/notesMasters/notesMaster1.xml" Id="Re690687d361c434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e2889efb7224e5b" /><Relationship Type="http://schemas.openxmlformats.org/officeDocument/2006/relationships/notesMaster" Target="/ppt/notesMasters/notesMaster1.xml" Id="R86e08b23c0a8490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7050023d47144ab" /><Relationship Type="http://schemas.openxmlformats.org/officeDocument/2006/relationships/notesMaster" Target="/ppt/notesMasters/notesMaster1.xml" Id="Rfbcf9383408240f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d8892aef43847f8" /><Relationship Type="http://schemas.openxmlformats.org/officeDocument/2006/relationships/notesMaster" Target="/ppt/notesMasters/notesMaster1.xml" Id="R43fc8a69ba6e413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c3fac24b83942a1" /><Relationship Type="http://schemas.openxmlformats.org/officeDocument/2006/relationships/notesMaster" Target="/ppt/notesMasters/notesMaster1.xml" Id="R287a18102fd646b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a2c6b352d604f7d" /><Relationship Type="http://schemas.openxmlformats.org/officeDocument/2006/relationships/notesMaster" Target="/ppt/notesMasters/notesMaster1.xml" Id="Re318ece702e24305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d2d739b8042421a" /><Relationship Type="http://schemas.openxmlformats.org/officeDocument/2006/relationships/notesMaster" Target="/ppt/notesMasters/notesMaster1.xml" Id="R0091f84dc14f40f0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a9cd2a7230fe4021" /><Relationship Type="http://schemas.openxmlformats.org/officeDocument/2006/relationships/notesMaster" Target="/ppt/notesMasters/notesMaster1.xml" Id="Rdf74f97cc6c84ef9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ad1ae5885bc84245" /><Relationship Type="http://schemas.openxmlformats.org/officeDocument/2006/relationships/notesMaster" Target="/ppt/notesMasters/notesMaster1.xml" Id="Re7dfb2382b5b4ed1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7e603246f9e4439a" /><Relationship Type="http://schemas.openxmlformats.org/officeDocument/2006/relationships/notesMaster" Target="/ppt/notesMasters/notesMaster1.xml" Id="Rda3bdfe1daf948c6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4b77a0d45f9f48af" /><Relationship Type="http://schemas.openxmlformats.org/officeDocument/2006/relationships/notesMaster" Target="/ppt/notesMasters/notesMaster1.xml" Id="R9aee131b84254746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159f23706ce24573" /><Relationship Type="http://schemas.openxmlformats.org/officeDocument/2006/relationships/notesMaster" Target="/ppt/notesMasters/notesMaster1.xml" Id="Rcdf3670b74d84bd4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c9c66b0d768f4d7e" /><Relationship Type="http://schemas.openxmlformats.org/officeDocument/2006/relationships/notesMaster" Target="/ppt/notesMasters/notesMaster1.xml" Id="R2f20b594dc554123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ea88a58ebad24984" /><Relationship Type="http://schemas.openxmlformats.org/officeDocument/2006/relationships/notesMaster" Target="/ppt/notesMasters/notesMaster1.xml" Id="R4eaf86699e85467b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91e6ca1ac43b4216" /><Relationship Type="http://schemas.openxmlformats.org/officeDocument/2006/relationships/notesMaster" Target="/ppt/notesMasters/notesMaster1.xml" Id="Reb2923f7f0744985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8054e408297b486f" /><Relationship Type="http://schemas.openxmlformats.org/officeDocument/2006/relationships/notesMaster" Target="/ppt/notesMasters/notesMaster1.xml" Id="R776801891046430c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2d16b2d7b9be4fc3" /><Relationship Type="http://schemas.openxmlformats.org/officeDocument/2006/relationships/notesMaster" Target="/ppt/notesMasters/notesMaster1.xml" Id="Rb482666ae12c49fd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5c84199dca30481e" /><Relationship Type="http://schemas.openxmlformats.org/officeDocument/2006/relationships/notesMaster" Target="/ppt/notesMasters/notesMaster1.xml" Id="R39b0becdbe0f4956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c065219ac8e84001" /><Relationship Type="http://schemas.openxmlformats.org/officeDocument/2006/relationships/notesMaster" Target="/ppt/notesMasters/notesMaster1.xml" Id="Re1b72656359046e6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6d5d91905b314998" /><Relationship Type="http://schemas.openxmlformats.org/officeDocument/2006/relationships/notesMaster" Target="/ppt/notesMasters/notesMaster1.xml" Id="R4d75b5b70f4a49b4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afa35abdc1fc48bd" /><Relationship Type="http://schemas.openxmlformats.org/officeDocument/2006/relationships/notesMaster" Target="/ppt/notesMasters/notesMaster1.xml" Id="R10151c917d23413e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55d477bff49b4f47" /><Relationship Type="http://schemas.openxmlformats.org/officeDocument/2006/relationships/notesMaster" Target="/ppt/notesMasters/notesMaster1.xml" Id="R1756a71f3cc3467b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42616e23be724f5a" /><Relationship Type="http://schemas.openxmlformats.org/officeDocument/2006/relationships/notesMaster" Target="/ppt/notesMasters/notesMaster1.xml" Id="Rf7f4c54aad304d60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58155bb3278b4956" /><Relationship Type="http://schemas.openxmlformats.org/officeDocument/2006/relationships/notesMaster" Target="/ppt/notesMasters/notesMaster1.xml" Id="R19f85a5745204442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7a7d7206df1c4760" /><Relationship Type="http://schemas.openxmlformats.org/officeDocument/2006/relationships/notesMaster" Target="/ppt/notesMasters/notesMaster1.xml" Id="R2ea541dad9ce41d4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661f6483f8984302" /><Relationship Type="http://schemas.openxmlformats.org/officeDocument/2006/relationships/notesMaster" Target="/ppt/notesMasters/notesMaster1.xml" Id="Rc2dd69c351234f80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f5711dc36c964ea0" /><Relationship Type="http://schemas.openxmlformats.org/officeDocument/2006/relationships/notesMaster" Target="/ppt/notesMasters/notesMaster1.xml" Id="R781a40a2b8c34263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c2a196d910e74193" /><Relationship Type="http://schemas.openxmlformats.org/officeDocument/2006/relationships/notesMaster" Target="/ppt/notesMasters/notesMaster1.xml" Id="Rc0f19fbecf984daf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4b9a3bbdb4a74c31" /><Relationship Type="http://schemas.openxmlformats.org/officeDocument/2006/relationships/notesMaster" Target="/ppt/notesMasters/notesMaster1.xml" Id="R13d61adafa7c4c64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e00f4b07326d462c" /><Relationship Type="http://schemas.openxmlformats.org/officeDocument/2006/relationships/notesMaster" Target="/ppt/notesMasters/notesMaster1.xml" Id="R6150ebeed7674680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7a4312dc84e24c6f" /><Relationship Type="http://schemas.openxmlformats.org/officeDocument/2006/relationships/notesMaster" Target="/ppt/notesMasters/notesMaster1.xml" Id="R7856db058dca41fe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d66162540e9b47c8" /><Relationship Type="http://schemas.openxmlformats.org/officeDocument/2006/relationships/notesMaster" Target="/ppt/notesMasters/notesMaster1.xml" Id="Re7d928f3e23c4613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9cc6290795a14939" /><Relationship Type="http://schemas.openxmlformats.org/officeDocument/2006/relationships/notesMaster" Target="/ppt/notesMasters/notesMaster1.xml" Id="Re6f62238c51b43a8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61f9fe99d1af443b" /><Relationship Type="http://schemas.openxmlformats.org/officeDocument/2006/relationships/notesMaster" Target="/ppt/notesMasters/notesMaster1.xml" Id="Rdc05b8eae1e64129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4a66682bb8744125" /><Relationship Type="http://schemas.openxmlformats.org/officeDocument/2006/relationships/notesMaster" Target="/ppt/notesMasters/notesMaster1.xml" Id="Rc54067b40eb8468a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5571fb93b6bc4d23" /><Relationship Type="http://schemas.openxmlformats.org/officeDocument/2006/relationships/notesMaster" Target="/ppt/notesMasters/notesMaster1.xml" Id="Rb2733aeaeb104f07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6a996f2a17634425" /><Relationship Type="http://schemas.openxmlformats.org/officeDocument/2006/relationships/notesMaster" Target="/ppt/notesMasters/notesMaster1.xml" Id="R290b09a39e4f4ae4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6e66d963ddcb4502" /><Relationship Type="http://schemas.openxmlformats.org/officeDocument/2006/relationships/notesMaster" Target="/ppt/notesMasters/notesMaster1.xml" Id="R781ecacf175d4734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24dd21251de34212" /><Relationship Type="http://schemas.openxmlformats.org/officeDocument/2006/relationships/notesMaster" Target="/ppt/notesMasters/notesMaster1.xml" Id="Rce9b57bcd17849cd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caaacc864f584323" /><Relationship Type="http://schemas.openxmlformats.org/officeDocument/2006/relationships/notesMaster" Target="/ppt/notesMasters/notesMaster1.xml" Id="Rb86282bc8d434a70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abc8c71fa0f648b5" /><Relationship Type="http://schemas.openxmlformats.org/officeDocument/2006/relationships/notesMaster" Target="/ppt/notesMasters/notesMaster1.xml" Id="Re2a301cda2cc4f08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4f185c76695c43f9" /><Relationship Type="http://schemas.openxmlformats.org/officeDocument/2006/relationships/notesMaster" Target="/ppt/notesMasters/notesMaster1.xml" Id="Red9ceb7bb8254b13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716eb3f924d4443e" /><Relationship Type="http://schemas.openxmlformats.org/officeDocument/2006/relationships/notesMaster" Target="/ppt/notesMasters/notesMaster1.xml" Id="R5d3799abb8774a5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1d24225c10949b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9c5195fb82b4a31" /><Relationship Type="http://schemas.openxmlformats.org/officeDocument/2006/relationships/slideLayout" Target="/ppt/slideLayouts/slideLayout1.xml" Id="R26838e18fd4b42c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6838e18fd4b42c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789d3017854518" /><Relationship Type="http://schemas.openxmlformats.org/officeDocument/2006/relationships/notesSlide" Target="/ppt/notesSlides/notesSlide1.xml" Id="Rd4c2c9ebe78249a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c8aaf557cb443b" /><Relationship Type="http://schemas.openxmlformats.org/officeDocument/2006/relationships/notesSlide" Target="/ppt/notesSlides/notesSlide2.xml" Id="R6e921c9a70ce4a1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aa676e462a435d" /><Relationship Type="http://schemas.openxmlformats.org/officeDocument/2006/relationships/notesSlide" Target="/ppt/notesSlides/notesSlide3.xml" Id="R1f99df4e7fb844a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cf44eb6ff144cf" /><Relationship Type="http://schemas.openxmlformats.org/officeDocument/2006/relationships/notesSlide" Target="/ppt/notesSlides/notesSlide4.xml" Id="R85367d6ab53e4cf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6933730200423d" /><Relationship Type="http://schemas.openxmlformats.org/officeDocument/2006/relationships/notesSlide" Target="/ppt/notesSlides/notesSlide5.xml" Id="Rc05d8b48973a418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ff0f73abf540a5" /><Relationship Type="http://schemas.openxmlformats.org/officeDocument/2006/relationships/image" Target="/ppt/media/image.png" Id="R9fecff02c21842b3" /><Relationship Type="http://schemas.openxmlformats.org/officeDocument/2006/relationships/notesSlide" Target="/ppt/notesSlides/notesSlide6.xml" Id="Rde47e792651a418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187efeee8f44d8" /><Relationship Type="http://schemas.openxmlformats.org/officeDocument/2006/relationships/notesSlide" Target="/ppt/notesSlides/notesSlide7.xml" Id="R8087bf2e17384ef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7948e4e59c48e8" /><Relationship Type="http://schemas.openxmlformats.org/officeDocument/2006/relationships/image" Target="/ppt/media/image2.png" Id="R2ee2f200d1904545" /><Relationship Type="http://schemas.openxmlformats.org/officeDocument/2006/relationships/notesSlide" Target="/ppt/notesSlides/notesSlide8.xml" Id="Ra8674e2014774de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067703e61847c7" /><Relationship Type="http://schemas.openxmlformats.org/officeDocument/2006/relationships/notesSlide" Target="/ppt/notesSlides/notesSlide9.xml" Id="R5332c91297e9498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95d8b531f945ad" /><Relationship Type="http://schemas.openxmlformats.org/officeDocument/2006/relationships/notesSlide" Target="/ppt/notesSlides/notesSlide10.xml" Id="R9b16851dc0de434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65ea84fdde4086" /><Relationship Type="http://schemas.openxmlformats.org/officeDocument/2006/relationships/notesSlide" Target="/ppt/notesSlides/notesSlide11.xml" Id="R02c00684c203416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4d0be2d0764b1d" /><Relationship Type="http://schemas.openxmlformats.org/officeDocument/2006/relationships/notesSlide" Target="/ppt/notesSlides/notesSlide12.xml" Id="R0dd8d1bb5aa14aa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af7dd014ae47a5" /><Relationship Type="http://schemas.openxmlformats.org/officeDocument/2006/relationships/notesSlide" Target="/ppt/notesSlides/notesSlide13.xml" Id="R74ab6e15d004431f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bf7d53c7d44441" /><Relationship Type="http://schemas.openxmlformats.org/officeDocument/2006/relationships/notesSlide" Target="/ppt/notesSlides/notesSlide14.xml" Id="R77edf026360147eb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2075b27e2a4723" /><Relationship Type="http://schemas.openxmlformats.org/officeDocument/2006/relationships/notesSlide" Target="/ppt/notesSlides/notesSlide15.xml" Id="Read88a0d961a4a33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17448c4c374922" /><Relationship Type="http://schemas.openxmlformats.org/officeDocument/2006/relationships/notesSlide" Target="/ppt/notesSlides/notesSlide16.xml" Id="R4d36639829af41c1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984c9a4a0b4ea6" /><Relationship Type="http://schemas.openxmlformats.org/officeDocument/2006/relationships/notesSlide" Target="/ppt/notesSlides/notesSlide17.xml" Id="R70baeca800b94dc9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7df001dd774962" /><Relationship Type="http://schemas.openxmlformats.org/officeDocument/2006/relationships/image" Target="/ppt/media/image3.png" Id="R29fc764123724e83" /><Relationship Type="http://schemas.openxmlformats.org/officeDocument/2006/relationships/notesSlide" Target="/ppt/notesSlides/notesSlide18.xml" Id="R13274b2525024587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c15acd13b14dd6" /><Relationship Type="http://schemas.openxmlformats.org/officeDocument/2006/relationships/image" Target="/ppt/media/image.jpeg" Id="R6886d58873ce4702" /><Relationship Type="http://schemas.openxmlformats.org/officeDocument/2006/relationships/notesSlide" Target="/ppt/notesSlides/notesSlide19.xml" Id="Rcec4317eb69e4560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57637fc2064591" /><Relationship Type="http://schemas.openxmlformats.org/officeDocument/2006/relationships/image" Target="/ppt/media/image2.jpeg" Id="Ra872dd31f3e645a3" /><Relationship Type="http://schemas.openxmlformats.org/officeDocument/2006/relationships/notesSlide" Target="/ppt/notesSlides/notesSlide20.xml" Id="R2016cce7c3f047cb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3e068fa0d3483b" /><Relationship Type="http://schemas.openxmlformats.org/officeDocument/2006/relationships/image" Target="/ppt/media/image4.png" Id="Rff64cf7b77e84c3d" /><Relationship Type="http://schemas.openxmlformats.org/officeDocument/2006/relationships/notesSlide" Target="/ppt/notesSlides/notesSlide21.xml" Id="Rec94a078e6614ed3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c05887b9e046ef" /><Relationship Type="http://schemas.openxmlformats.org/officeDocument/2006/relationships/notesSlide" Target="/ppt/notesSlides/notesSlide22.xml" Id="R21d33898d4514c1e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288555fe004f58" /><Relationship Type="http://schemas.openxmlformats.org/officeDocument/2006/relationships/notesSlide" Target="/ppt/notesSlides/notesSlide23.xml" Id="R58ecc45bc4f64347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ac2c3a765247cc" /><Relationship Type="http://schemas.openxmlformats.org/officeDocument/2006/relationships/notesSlide" Target="/ppt/notesSlides/notesSlide24.xml" Id="R48bc5bdbf5fd430a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edcd9440d242a0" /><Relationship Type="http://schemas.openxmlformats.org/officeDocument/2006/relationships/notesSlide" Target="/ppt/notesSlides/notesSlide25.xml" Id="Rce19786162264a23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a442d1576a49fd" /><Relationship Type="http://schemas.openxmlformats.org/officeDocument/2006/relationships/notesSlide" Target="/ppt/notesSlides/notesSlide26.xml" Id="Rac9a2dd4e10e47e4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5eaa4a17174910" /><Relationship Type="http://schemas.openxmlformats.org/officeDocument/2006/relationships/notesSlide" Target="/ppt/notesSlides/notesSlide27.xml" Id="Rc0948abd91ad4448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329ab0301a4dae" /><Relationship Type="http://schemas.openxmlformats.org/officeDocument/2006/relationships/notesSlide" Target="/ppt/notesSlides/notesSlide28.xml" Id="R223b673c238b488c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93f7613d514561" /><Relationship Type="http://schemas.openxmlformats.org/officeDocument/2006/relationships/notesSlide" Target="/ppt/notesSlides/notesSlide29.xml" Id="Rf4ddcc88757c4aea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d166ddac744ecd" /><Relationship Type="http://schemas.openxmlformats.org/officeDocument/2006/relationships/notesSlide" Target="/ppt/notesSlides/notesSlide30.xml" Id="Rbcedc8ac442346b3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90d886cfa1412e" /><Relationship Type="http://schemas.openxmlformats.org/officeDocument/2006/relationships/notesSlide" Target="/ppt/notesSlides/notesSlide31.xml" Id="R2fd0a84935794225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fa576bbf964b60" /><Relationship Type="http://schemas.openxmlformats.org/officeDocument/2006/relationships/notesSlide" Target="/ppt/notesSlides/notesSlide32.xml" Id="Rf39da188d9c94585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2a2bfe5f0548e1" /><Relationship Type="http://schemas.openxmlformats.org/officeDocument/2006/relationships/notesSlide" Target="/ppt/notesSlides/notesSlide33.xml" Id="Re5a343bb1cfa477b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8634553ea44db0" /><Relationship Type="http://schemas.openxmlformats.org/officeDocument/2006/relationships/notesSlide" Target="/ppt/notesSlides/notesSlide34.xml" Id="R6e796db627894599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1d8604bbc549e4" /><Relationship Type="http://schemas.openxmlformats.org/officeDocument/2006/relationships/notesSlide" Target="/ppt/notesSlides/notesSlide35.xml" Id="R0d46e3f3ede14a3b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397314dfbd4bda" /><Relationship Type="http://schemas.openxmlformats.org/officeDocument/2006/relationships/notesSlide" Target="/ppt/notesSlides/notesSlide36.xml" Id="R25d59aa68bc34b1e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9fc29f27b44230" /><Relationship Type="http://schemas.openxmlformats.org/officeDocument/2006/relationships/notesSlide" Target="/ppt/notesSlides/notesSlide37.xml" Id="R203ceb3e19314a05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a92edc01d846e2" /><Relationship Type="http://schemas.openxmlformats.org/officeDocument/2006/relationships/image" Target="/ppt/media/image5.png" Id="R2236ff2c190646b6" /><Relationship Type="http://schemas.openxmlformats.org/officeDocument/2006/relationships/notesSlide" Target="/ppt/notesSlides/notesSlide38.xml" Id="R4faeee4d87324378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6434415bc447f1" /><Relationship Type="http://schemas.openxmlformats.org/officeDocument/2006/relationships/notesSlide" Target="/ppt/notesSlides/notesSlide39.xml" Id="Rb25dacaab0f5419e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c63044c154415e" /><Relationship Type="http://schemas.openxmlformats.org/officeDocument/2006/relationships/notesSlide" Target="/ppt/notesSlides/notesSlide40.xml" Id="R4364594ac5974b3e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dbd437b26046fe" /><Relationship Type="http://schemas.openxmlformats.org/officeDocument/2006/relationships/notesSlide" Target="/ppt/notesSlides/notesSlide41.xml" Id="Rf49a24ff218f40df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7d5ab1b7364d36" /><Relationship Type="http://schemas.openxmlformats.org/officeDocument/2006/relationships/notesSlide" Target="/ppt/notesSlides/notesSlide42.xml" Id="R076d05835b32456d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07716239034307" /><Relationship Type="http://schemas.openxmlformats.org/officeDocument/2006/relationships/notesSlide" Target="/ppt/notesSlides/notesSlide43.xml" Id="Re26fa713eb2f4d2d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09955f006a4a81" /><Relationship Type="http://schemas.openxmlformats.org/officeDocument/2006/relationships/notesSlide" Target="/ppt/notesSlides/notesSlide44.xml" Id="Ra261163031474a31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b779464985493a" /><Relationship Type="http://schemas.openxmlformats.org/officeDocument/2006/relationships/notesSlide" Target="/ppt/notesSlides/notesSlide45.xml" Id="Re63c0347f9214df4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1d1338c4aa47c2" /><Relationship Type="http://schemas.openxmlformats.org/officeDocument/2006/relationships/notesSlide" Target="/ppt/notesSlides/notesSlide46.xml" Id="R9b425835102a4901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57eab8cdb04ea9" /><Relationship Type="http://schemas.openxmlformats.org/officeDocument/2006/relationships/notesSlide" Target="/ppt/notesSlides/notesSlide47.xml" Id="R3696983a87884b3c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dfbe9280c94b0f" /><Relationship Type="http://schemas.openxmlformats.org/officeDocument/2006/relationships/image" Target="/ppt/media/image6.png" Id="Ra8c65e2758fe4d16" /><Relationship Type="http://schemas.openxmlformats.org/officeDocument/2006/relationships/notesSlide" Target="/ppt/notesSlides/notesSlide48.xml" Id="Rd7a1ce1940ac4774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75f076b9924471" /><Relationship Type="http://schemas.openxmlformats.org/officeDocument/2006/relationships/notesSlide" Target="/ppt/notesSlides/notesSlide49.xml" Id="R78a73fa182814f7d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79a453cbf4482b" /><Relationship Type="http://schemas.openxmlformats.org/officeDocument/2006/relationships/image" Target="/ppt/media/image7.png" Id="R0e52e89b5b7342f3" /><Relationship Type="http://schemas.openxmlformats.org/officeDocument/2006/relationships/notesSlide" Target="/ppt/notesSlides/notesSlide50.xml" Id="Rf7b16b6306674b3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717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618B2A-BB26-42FB-80A6-929422AAB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91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BDB9B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BDB9B0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DF7F19-3758-432D-9919-910996021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交通安全訪視經驗分享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F79E5A-1D32-4B41-B37D-A2764F86B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723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5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5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訪視可以打分，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9675B4-A863-4236-917C-D4FEFFBA2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7810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5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5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rPr>
              <a:t>安全不能靠打分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E18C91-33D7-4F23-950C-5FEB60F7F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81375"/>
            <a:ext cx="7620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25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從三次訪視、低效度評鑑，走向人本交通與教育現場的合理角色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016765-5A6D-4945-B801-49BCFA264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29125"/>
            <a:ext cx="571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竹光國中　學務主任 黃隆偉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1D7961-FD55-44AA-86BD-5FDB8AF94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10250"/>
            <a:ext cx="6191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F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E09984-655D-49D4-8355-AA5632123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971550"/>
            <a:ext cx="1238250" cy="1238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5A47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38398626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FDF4B68-DBA7-47E2-BFC3-E5E31B6C8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91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D48428-D9BE-44E8-9C2C-546D795CB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這場分享不只是成果展示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A246CB-6FA9-427D-BAA1-D2541A8F0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9906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今天，我想和大家一起釐清四件事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BCDC1E-3B87-4558-9C9A-167F3D5D8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33625"/>
            <a:ext cx="4857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4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55180D-79F9-4942-9054-2071AA4E9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62225"/>
            <a:ext cx="6286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8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051C0F-EC18-4F7F-B1EE-A79B7FE51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571750"/>
            <a:ext cx="3714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經驗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3D3B27-5E02-4A7D-9540-33082BF17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019425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三次訪視，為什麼會得到三種不同結果？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B34AE8-5241-478C-BB94-F39A4CDB3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333625"/>
            <a:ext cx="4857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4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C893AB-4E4D-4339-98E7-21817F0FF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562225"/>
            <a:ext cx="6286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8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1EC5DC-AF5E-4FBA-A271-302F4E766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571750"/>
            <a:ext cx="3714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效度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8D4F2A-BC69-4350-B56D-EE0E12DD4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019425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文件齊全，能代表道路更安全嗎？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E1A9D5-C019-451B-9F2E-4ABE3ED27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48125"/>
            <a:ext cx="4857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4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A966336-2788-429D-8EBC-B7933BD82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76725"/>
            <a:ext cx="6286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8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D9204CC-4523-4483-814A-5D546576D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286250"/>
            <a:ext cx="3714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目的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6F338F-8367-4F10-971E-F69028E27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733925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交通安全應打造什麼樣的人本環境？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1D3E82C-9A02-4175-82FF-887327A1C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048125"/>
            <a:ext cx="4857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4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35874EC-8E2C-4C7D-92AE-FB49249CC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276725"/>
            <a:ext cx="6286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87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850" b="1">
                <a:solidFill>
                  <a:srgbClr val="17877D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ED62CE-7D36-4930-B250-413AF6901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286250"/>
            <a:ext cx="3714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邊界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F76767F-318C-44C7-A06E-800EDCA40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733925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教育可以做什麼，制度必須承擔什麼？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B1A2BE3-7F46-40BB-B07B-E10300844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希望最後，我們能把「通過訪視」與「真正降低風險」分開思考。</a:t>
            </a:r>
          </a:p>
        </p:txBody>
      </p:sp>
    </p:spTree>
    <p:extLst>
      <p:ext uri="{BB962C8B-B14F-4D97-AF65-F5344CB8AC3E}">
        <p14:creationId xmlns:p14="http://schemas.microsoft.com/office/powerpoint/2010/main" val="113410808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CF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7EFA20-ED53-4BE7-B496-455D91D7F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91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006D6C-85CA-4CCC-907F-81EB60D11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先看最重要的證據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A68CA1-F0EF-4265-9214-F8E14B74D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9906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同一批資料，三種判決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901F86-EC8F-4849-921B-2E04179DC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2857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CA660A-917C-4C14-9C26-20D0DC7FA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86050"/>
            <a:ext cx="2857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7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7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第 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38D251-638D-4230-A7D9-3C8700C55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108 年｜甲等第一名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FA8C5F-938D-42BC-B3BF-D7CA33712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476500"/>
            <a:ext cx="2857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5A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3C0311-0C96-4DA2-AA9D-03782E93D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686050"/>
            <a:ext cx="2857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70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70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rPr>
              <a:t>倒 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BA61CD-C960-4F16-AAB3-2B177E6D5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381000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rPr>
              <a:t>111 年｜甲等倒數第一名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DE0C75-E179-4DA0-9371-D39CB4668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476500"/>
            <a:ext cx="2857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E9B627-40BC-4F86-97C7-568225C76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686050"/>
            <a:ext cx="2857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7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7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第 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73B0BE-2549-4943-B823-CE5B77554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81000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114 年｜優等第一名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CE16B53-01A3-4D67-A3AB-A504B87BA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95875"/>
            <a:ext cx="9620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資料幾乎一樣。如果真實安全沒有劇烈變動，名次到底代表什麼？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73F00D1-4E43-495C-97AD-1C1FAC48A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來源：使用者提供之《交通安全訪視經驗分享115.pptx》第 5–6 頁。</a:t>
            </a:r>
          </a:p>
        </p:txBody>
      </p:sp>
    </p:spTree>
    <p:extLst>
      <p:ext uri="{BB962C8B-B14F-4D97-AF65-F5344CB8AC3E}">
        <p14:creationId xmlns:p14="http://schemas.microsoft.com/office/powerpoint/2010/main" val="201611387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717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5DBA73-CA1B-4779-9970-AA29657E9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91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BDB9B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BDB9B0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4683D7-CFE7-4058-A8EB-168595A0D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114 年優等，到底做對了什麼？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11BE8B-D10B-4080-9628-7DE2C9563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7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7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先把有用的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CD7CD6-385B-4309-8B59-660D00054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7239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30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630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rPr>
              <a:t>留下來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B2D8F9-576F-401D-8F7B-172EBD3C2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67125"/>
            <a:ext cx="9144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2250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不是教大家做更厚的成果冊，而是拆出能複製、能省時間、能真的降低風險的做法。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8D1DA3-B4AA-41C9-9F7D-297FE177B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72125"/>
            <a:ext cx="4953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F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211F56-BDB9-4A65-897A-C4BA659FA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BDB9B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>
                <a:solidFill>
                  <a:srgbClr val="BDB9B0"/>
                </a:solidFill>
                <a:latin typeface="Microsoft JhengHei"/>
                <a:ea typeface="Microsoft JhengHei"/>
                <a:cs typeface="Microsoft JhengHei"/>
              </a:rPr>
              <a:t>案例來源：竹光國中 114 年交通安全訪視網站與使用者原始簡報。</a:t>
            </a:r>
          </a:p>
        </p:txBody>
      </p:sp>
    </p:spTree>
    <p:extLst>
      <p:ext uri="{BB962C8B-B14F-4D97-AF65-F5344CB8AC3E}">
        <p14:creationId xmlns:p14="http://schemas.microsoft.com/office/powerpoint/2010/main" val="189948021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A06B97C-34EE-45B4-BAC8-8D4CBEBFA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91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D91BE6-965C-46C6-9834-732D7EA0A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先看評鑑架構，再決定資料放哪裡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804E2E-08CA-4FB0-AF6B-D29C199FB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9906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114 訪視看的，是四條工作線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2F231C-2584-48D2-A816-EE64B60FF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33625"/>
            <a:ext cx="4857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4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5AF1B0-5F58-45BA-BBC8-AB4341BE8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43175"/>
            <a:ext cx="685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8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A3B40E-35C3-4E27-B420-A23A541A4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552700"/>
            <a:ext cx="3857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組織計畫與宣導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BFFE93-8DAB-43B8-966F-7DF89E272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019425"/>
            <a:ext cx="3857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目標、分工、會議與追蹤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0D1884-D11D-4A2D-873E-4690B2E78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333625"/>
            <a:ext cx="4857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4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AD3A90-A31E-48CF-9466-67456A8ED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543175"/>
            <a:ext cx="685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8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8264BD-90AE-4590-918E-D457EACF4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552700"/>
            <a:ext cx="3857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教學與活動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10C5FB-E25F-4B78-9D16-5D13069DA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019425"/>
            <a:ext cx="3857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課程、活動、能力與回饋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CB401B4-DD49-40B2-8A4E-F31011375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4857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4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A1BC584-B275-4309-ACE3-BBF256EA1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05300"/>
            <a:ext cx="685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8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103A05F-5BBF-4CF1-87A4-18609821B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314825"/>
            <a:ext cx="3857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安全與輔導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882DBD1-5A2B-408B-B90E-BBAB40C18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781550"/>
            <a:ext cx="3857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通學、導護、事故與接送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EB64938-BDB8-449F-B80D-597347C5C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095750"/>
            <a:ext cx="4857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4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68249D7-848B-44A8-A61C-C6C289786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305300"/>
            <a:ext cx="685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87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850" b="1">
                <a:solidFill>
                  <a:srgbClr val="17877D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9AB4F10-357D-4C31-A3D7-3EB7EB939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314825"/>
            <a:ext cx="3857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創新與成效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154C93F-BC1C-4A61-9611-83A808AD2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781550"/>
            <a:ext cx="3857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校本問題與可檢核改變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C3E8992-0CD0-4CD1-ADBD-2A5570EB8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來源：竹光國中交通安全訪視網站分類；原簡報第 33 頁。</a:t>
            </a:r>
          </a:p>
        </p:txBody>
      </p:sp>
    </p:spTree>
    <p:extLst>
      <p:ext uri="{BB962C8B-B14F-4D97-AF65-F5344CB8AC3E}">
        <p14:creationId xmlns:p14="http://schemas.microsoft.com/office/powerpoint/2010/main" val="128740468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2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F0560A-B66D-458F-BC6C-C39F43D75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91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06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274E0E-BD52-4612-B9BE-F43BF4470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效率亮點 01｜資料治理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A0B03F-16F1-4D13-AE86-C3AC27692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5619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資料平時進網站，訪視前不用重做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3B012A-2066-4A28-9F0E-55F6F54FA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4953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17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同一份證據，平時就依指標歸位。訪視只是打開網站，不再臨時追照片、重排成果冊。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D1879C-B4B3-4CE1-9BF9-34A17161E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rPr>
              <a:t>一次蒐集，多次使用。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217637-828F-4FE2-9B71-D3666A05D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190625"/>
            <a:ext cx="504825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71717"/>
            </a:solidFill>
            <a:prstDash val="solid"/>
          </a:ln>
        </p:spPr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ecff02c21842b3"/>
          <a:stretch xmlns:a="http://schemas.openxmlformats.org/drawingml/2006/main"/>
        </p:blipFill>
        <p:spPr>
          <a:xfrm xmlns:a="http://schemas.openxmlformats.org/drawingml/2006/main">
            <a:off x="6286500" y="1872258"/>
            <a:ext cx="4857750" cy="2732484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4E1EA3-11C1-45E1-B7A7-CD0BF1482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來源：使用者原簡報第 31–32 頁；竹光國中交通安全訪視網站。</a:t>
            </a:r>
          </a:p>
        </p:txBody>
      </p:sp>
    </p:spTree>
    <p:extLst>
      <p:ext uri="{BB962C8B-B14F-4D97-AF65-F5344CB8AC3E}">
        <p14:creationId xmlns:p14="http://schemas.microsoft.com/office/powerpoint/2010/main" val="92222543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CF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D01A2C-949F-4294-8A45-99B78CFEE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91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1FA3ED-7A71-4938-98A5-A232E682A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效率亮點 02｜借既有時間做深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FFAB71-0B51-41E9-AECC-C75B8CF4A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285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6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每週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BCF12E-D8D1-4672-9E25-BDFD0334B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4191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40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40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rPr>
              <a:t>2 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5B76DB-B599-4E91-9A1F-CFC18D062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0"/>
            <a:ext cx="495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既有導師時間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51A11B-0B1A-47E3-B143-3E0F8DB92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143125"/>
            <a:ext cx="4572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28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8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素材集中在網路，導師直接取用；不另開一門交通安全課。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5C35CC-72E8-423A-9919-AE78C8FBC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4095750"/>
            <a:ext cx="33337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8FBBAF-9097-4E1C-8D6E-922021C52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來源：網站 4-3「學校自評特色與優點」。</a:t>
            </a:r>
          </a:p>
        </p:txBody>
      </p:sp>
    </p:spTree>
    <p:extLst>
      <p:ext uri="{BB962C8B-B14F-4D97-AF65-F5344CB8AC3E}">
        <p14:creationId xmlns:p14="http://schemas.microsoft.com/office/powerpoint/2010/main" val="29039893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1717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20B95E-BA0F-4E09-94CC-174C463A3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91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BDB9B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BDB9B0"/>
                </a:solidFill>
                <a:latin typeface="Microsoft JhengHei"/>
                <a:ea typeface="Microsoft JhengHei"/>
                <a:cs typeface="Microsoft JhengHei"/>
              </a:rPr>
              <a:t>08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C427F2-7368-4754-8A69-19C175FEC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效率亮點 03｜公民講堂素材庫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BCEA95-B6BF-44B0-A99B-B4BD39298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5619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2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2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不是每位導師各做一份教材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317726-8AC3-4CF5-949D-A038AB8E9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0"/>
            <a:ext cx="4953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100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行政端整理主題資料夾，教師在導師時間選用；交通安全只是共享素材庫的一部分。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C3C1BB-425B-403B-9DCE-50BC3E277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143000"/>
            <a:ext cx="5048250" cy="419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e2f200d1904545"/>
          <a:stretch xmlns:a="http://schemas.openxmlformats.org/drawingml/2006/main"/>
        </p:blipFill>
        <p:spPr>
          <a:xfrm xmlns:a="http://schemas.openxmlformats.org/drawingml/2006/main">
            <a:off x="6286500" y="1872258"/>
            <a:ext cx="4857750" cy="2732484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79D4FD-6DEB-44D9-8E47-641BB9D8B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BDB9B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>
                <a:solidFill>
                  <a:srgbClr val="BDB9B0"/>
                </a:solidFill>
                <a:latin typeface="Microsoft JhengHei"/>
                <a:ea typeface="Microsoft JhengHei"/>
                <a:cs typeface="Microsoft JhengHei"/>
              </a:rPr>
              <a:t>來源：使用者原簡報第 27–28 頁。</a:t>
            </a:r>
          </a:p>
        </p:txBody>
      </p:sp>
    </p:spTree>
    <p:extLst>
      <p:ext uri="{BB962C8B-B14F-4D97-AF65-F5344CB8AC3E}">
        <p14:creationId xmlns:p14="http://schemas.microsoft.com/office/powerpoint/2010/main" val="106728555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A1CFF08-8D63-4F7F-96E8-139395F22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91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09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2B0098-EA26-4E2D-B444-7CD1EF218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效率亮點 04｜不另開課，借學科教風險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CCC4B0-692F-46EE-BF23-8E0EEE490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9906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現有課程，本來就能承載交通問題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7A9641-C14C-4FF6-A686-C268BDF3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336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4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F8121C-0598-485D-8768-754A9E0DE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05075"/>
            <a:ext cx="1524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rPr>
              <a:t>數學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3F7D2D-7EB5-454B-A584-D1FABDBF8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505075"/>
            <a:ext cx="828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相似形 × 大車視線死角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BEB18A-9CEA-4C6B-B003-785B40EEF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9087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4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9236C0-C122-4125-85FE-9790A1132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62325"/>
            <a:ext cx="1524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自然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7498661-ADB5-47E4-B79A-2277B2656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362325"/>
            <a:ext cx="828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摩擦力、速率、牛頓運動定律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121BF6-C2C0-4A15-AF4D-00658BDA0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481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4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7B7F3F-40E0-4733-A143-6BA8E71BF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19575"/>
            <a:ext cx="1524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社會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CA6AFC-E4AA-403C-A0EF-DA508AA26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219575"/>
            <a:ext cx="828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政府與人民在行政法中的角色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1ADC63-A4FB-4BC2-B42B-87A5E22D4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0537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4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F391D6-6F5C-4EB3-B579-57F4DD75D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76825"/>
            <a:ext cx="1524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英語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5086BA9-471F-4584-9BE3-6DB02FA4A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076825"/>
            <a:ext cx="828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移動情境與交通表達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8065CD1-16B8-4593-8461-4B7874800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來源：網站 2-1-1、2-1-2；課程清單涵蓋七至九年級。</a:t>
            </a:r>
          </a:p>
        </p:txBody>
      </p:sp>
    </p:spTree>
    <p:extLst>
      <p:ext uri="{BB962C8B-B14F-4D97-AF65-F5344CB8AC3E}">
        <p14:creationId xmlns:p14="http://schemas.microsoft.com/office/powerpoint/2010/main" val="40368753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1717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C541FE-7B83-4860-BB8B-3C5336969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91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BDB9B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BDB9B0"/>
                </a:solidFill>
                <a:latin typeface="Microsoft JhengHei"/>
                <a:ea typeface="Microsoft JhengHei"/>
                <a:cs typeface="Microsoft JhengHei"/>
              </a:rPr>
              <a:t>10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68DB3B-1F86-4A3B-B947-F5A074CF8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一個可直接帶走的跨域案例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C5DB93-F7AD-44A4-9757-C023AC6D0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33500"/>
            <a:ext cx="4476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700" b="1">
                <a:solidFill>
                  <a:srgbClr val="FFCF3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700" b="1">
                <a:solidFill>
                  <a:srgbClr val="FFCF33"/>
                </a:solidFill>
                <a:latin typeface="Microsoft JhengHei"/>
                <a:ea typeface="Microsoft JhengHei"/>
                <a:cs typeface="Microsoft JhengHei"/>
              </a:rPr>
              <a:t>相似形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06A632-185C-4D80-BA58-B74D57E62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5715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不只算比例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B86FF7-E268-4468-A24A-AFA821054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14750"/>
            <a:ext cx="5810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2325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用因材網題目模擬大車視線死角，再搭配真實影片，讓抽象幾何變成風險判斷。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0AE06F-0246-410F-9295-95B794DFE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952625"/>
            <a:ext cx="3429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90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90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rPr>
              <a:t>看得見你，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390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90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rPr>
              <a:t>你看得見我？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2E63C5-215C-41F6-AEDF-6AE0629BB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BDB9B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>
                <a:solidFill>
                  <a:srgbClr val="BDB9B0"/>
                </a:solidFill>
                <a:latin typeface="Microsoft JhengHei"/>
                <a:ea typeface="Microsoft JhengHei"/>
                <a:cs typeface="Microsoft JhengHei"/>
              </a:rPr>
              <a:t>來源：網站 2-1-1；使用者原簡報第 23 頁。</a:t>
            </a:r>
          </a:p>
        </p:txBody>
      </p:sp>
    </p:spTree>
    <p:extLst>
      <p:ext uri="{BB962C8B-B14F-4D97-AF65-F5344CB8AC3E}">
        <p14:creationId xmlns:p14="http://schemas.microsoft.com/office/powerpoint/2010/main" val="159020593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6F2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4C9E316-D5D0-424D-AC1B-57E9C4240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91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11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9CB744-72A5-4721-BD9E-128D37E0F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效率亮點 05｜先調查，再決定教什麼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EDDEF2-0704-4B6A-BD35-AF33D751C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9906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不是先辦活動，而是先看校本問題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10898F-2AA0-4BEF-B6DE-FF4FFC6E6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3143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5A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A38750-A61B-4297-84EC-0F0E03A82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0"/>
            <a:ext cx="66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8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03DF58-2AD5-4C00-9368-C76B1E439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0045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資訊課填 Google 表單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CAE9F5-BDB6-47B2-A8F2-AE692E5BB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71950"/>
            <a:ext cx="3143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650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建立全校通學方式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9104E4-401C-4724-9D6E-EFE69AC4D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2714625"/>
            <a:ext cx="3143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5A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7F508B-D9C6-49C4-B0A4-017B687DD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2952750"/>
            <a:ext cx="66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8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63B6AE-066F-4A8F-9B06-F8D6F0963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360045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量化整理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813442-5103-4995-99A3-41257678E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4171950"/>
            <a:ext cx="3143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650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看見接送與動線需求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30BE324-5D9F-440B-B62B-EE5ABDC45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714625"/>
            <a:ext cx="3143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87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F1F377-DBE0-4D02-9914-C91127160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952750"/>
            <a:ext cx="66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87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850" b="1">
                <a:solidFill>
                  <a:srgbClr val="17877D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753C376-3B9F-4157-AFA1-006AD6AD2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60045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SWOT 找策略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8319D48-BCF4-464D-86F1-AA3847D63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171950"/>
            <a:ext cx="3143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650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分流、步行、導護配置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344A19-3335-4AF9-AE73-645288026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來源：網站 3-1-1、1-2-1。</a:t>
            </a:r>
          </a:p>
        </p:txBody>
      </p:sp>
    </p:spTree>
    <p:extLst>
      <p:ext uri="{BB962C8B-B14F-4D97-AF65-F5344CB8AC3E}">
        <p14:creationId xmlns:p14="http://schemas.microsoft.com/office/powerpoint/2010/main" val="124487375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CF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C784562-EC7D-4419-8947-12EA08AC7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91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12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9CAE32-737B-462D-8556-029F18883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校本策略｜先把動線做清楚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5A08B2-DD2F-4398-855C-C15FB9693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9906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汽車、機車、步行，不搶同一條線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0118A6-D20E-4C54-9B6B-FE0CFAA5D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3143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213AEA-C20E-45A0-AAB9-96BCA0371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0"/>
            <a:ext cx="3143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前門長側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EB924C-2973-4CF5-858A-6F1C1BAC8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62375"/>
            <a:ext cx="3143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rPr>
              <a:t>汽車為主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88D2E0-957C-4755-B6B7-2D1019EFB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2714625"/>
            <a:ext cx="3143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E5C3E4-D547-4F57-887B-577091AC5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3048000"/>
            <a:ext cx="3143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前門短側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EEFD28-A5C0-40A8-980B-9893D6AA1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3762375"/>
            <a:ext cx="3143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787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877D"/>
                </a:solidFill>
                <a:latin typeface="Microsoft JhengHei"/>
                <a:ea typeface="Microsoft JhengHei"/>
                <a:cs typeface="Microsoft JhengHei"/>
              </a:rPr>
              <a:t>機車為主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860346-6588-4592-AE02-6F04AC29A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714625"/>
            <a:ext cx="3143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33C6AF9-035A-4520-9477-AAB785865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048000"/>
            <a:ext cx="3143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後門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8DD648-906B-41C7-9810-F7E52D315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762375"/>
            <a:ext cx="3143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787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877D"/>
                </a:solidFill>
                <a:latin typeface="Microsoft JhengHei"/>
                <a:ea typeface="Microsoft JhengHei"/>
                <a:cs typeface="Microsoft JhengHei"/>
              </a:rPr>
              <a:t>機車為主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1F32FC-1769-459A-B1F1-18B255541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95875"/>
            <a:ext cx="952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校內再做人車分流，接送區與學生動線分開。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156504-9212-49B0-8E7C-C423E98BF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來源：網站 1-2-1、3-2-1、3-5-1。</a:t>
            </a:r>
          </a:p>
        </p:txBody>
      </p:sp>
    </p:spTree>
    <p:extLst>
      <p:ext uri="{BB962C8B-B14F-4D97-AF65-F5344CB8AC3E}">
        <p14:creationId xmlns:p14="http://schemas.microsoft.com/office/powerpoint/2010/main" val="149601141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1717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0DC91E5-7145-4A8B-A382-6C5AFB1A4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91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BDB9B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BDB9B0"/>
                </a:solidFill>
                <a:latin typeface="Microsoft JhengHei"/>
                <a:ea typeface="Microsoft JhengHei"/>
                <a:cs typeface="Microsoft JhengHei"/>
              </a:rPr>
              <a:t>13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A5AD60-7CA1-486B-8732-35A6D28CA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導護亮點｜不是站了多少人，而是系統能不能接手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B3C292-32F0-45AC-8220-E3344F4A4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9906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2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2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四件事讓導護工作可持續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DD4BCA-D5E0-4FB6-A25D-3DDC61BBD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62250"/>
            <a:ext cx="2381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5A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35E994-8B38-4F5D-9A03-30C25B5D6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95625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選拔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5DC36F-C28B-4199-8FDA-ADBE03E8B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2381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725" b="0">
                <a:solidFill>
                  <a:srgbClr val="D5D0C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D5D0C7"/>
                </a:solidFill>
                <a:latin typeface="Microsoft JhengHei"/>
                <a:ea typeface="Microsoft JhengHei"/>
                <a:cs typeface="Microsoft JhengHei"/>
              </a:rPr>
              <a:t>有計畫與名單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75EA867-6CEE-4147-9FBD-54D7EEA9A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762250"/>
            <a:ext cx="2381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5A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B1F0EE-B784-4749-8A58-60D484735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095625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訓練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C31AF8-CF7C-43D7-86EA-79F322135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905250"/>
            <a:ext cx="2381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725" b="0">
                <a:solidFill>
                  <a:srgbClr val="D5D0C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D5D0C7"/>
                </a:solidFill>
                <a:latin typeface="Microsoft JhengHei"/>
                <a:ea typeface="Microsoft JhengHei"/>
                <a:cs typeface="Microsoft JhengHei"/>
              </a:rPr>
              <a:t>會舉旗、懂風險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072E2A-EB80-4E4F-B4AF-29BC493C5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762250"/>
            <a:ext cx="2381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5A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DC3D08-5385-413B-A6E6-1B85FDE2D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095625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配備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157D7BD-8DC1-42AF-A7E8-A4DDFE3AF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905250"/>
            <a:ext cx="2381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725" b="0">
                <a:solidFill>
                  <a:srgbClr val="D5D0C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D5D0C7"/>
                </a:solidFill>
                <a:latin typeface="Microsoft JhengHei"/>
                <a:ea typeface="Microsoft JhengHei"/>
                <a:cs typeface="Microsoft JhengHei"/>
              </a:rPr>
              <a:t>背心、旗子齊備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0BC011-9F84-4C4B-9513-B0342CA4A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762250"/>
            <a:ext cx="2381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F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B83AB3-BAE4-4A64-90C6-D53CA5024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095625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交接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9E0724-3D5C-41ED-B43D-32AB566CC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905250"/>
            <a:ext cx="2381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725" b="0">
                <a:solidFill>
                  <a:srgbClr val="D5D0C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D5D0C7"/>
                </a:solidFill>
                <a:latin typeface="Microsoft JhengHei"/>
                <a:ea typeface="Microsoft JhengHei"/>
                <a:cs typeface="Microsoft JhengHei"/>
              </a:rPr>
              <a:t>班表與違規紀錄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D0CB6CD-6C90-478F-A7B2-8BD167546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BDB9B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>
                <a:solidFill>
                  <a:srgbClr val="BDB9B0"/>
                </a:solidFill>
                <a:latin typeface="Microsoft JhengHei"/>
                <a:ea typeface="Microsoft JhengHei"/>
                <a:cs typeface="Microsoft JhengHei"/>
              </a:rPr>
              <a:t>來源：網站 3-3-1、3-3-2。</a:t>
            </a:r>
          </a:p>
        </p:txBody>
      </p:sp>
    </p:spTree>
    <p:extLst>
      <p:ext uri="{BB962C8B-B14F-4D97-AF65-F5344CB8AC3E}">
        <p14:creationId xmlns:p14="http://schemas.microsoft.com/office/powerpoint/2010/main" val="110052982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60F18C-8C97-4D3D-B45F-048886885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91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14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F1700C-BE16-4277-9944-1886CA6E7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輔導亮點｜資料要回到學生身上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749A97-6BAF-4EA1-9054-29BA7CC6A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9906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違規資料，不只拿來處罰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585975-264D-4A52-8F63-0C0CFD74B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24125"/>
            <a:ext cx="4429125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9FD42E-317B-4B97-9822-9E89AFFC2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857500"/>
            <a:ext cx="3714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0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rPr>
              <a:t>立即制止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55BD82-1418-4AD1-85D4-BFEADF5C6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67125"/>
            <a:ext cx="35242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7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留下勸導紀錄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87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必要時依規定處理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CDA924-3E79-48F8-A277-85FA85A98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524125"/>
            <a:ext cx="6076950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18FC71-B085-45E3-BA75-4E772BE56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2857500"/>
            <a:ext cx="5143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FCF3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FFCF33"/>
                </a:solidFill>
                <a:latin typeface="Microsoft JhengHei"/>
                <a:ea typeface="Microsoft JhengHei"/>
                <a:cs typeface="Microsoft JhengHei"/>
              </a:rPr>
              <a:t>更重要的是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6FF19C-E8A4-4DB2-A02E-DE8E67149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3638550"/>
            <a:ext cx="5143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2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了解違規原因 → 同理處境 → 教會可調整策略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E318FB-BEC2-4FB1-9269-7E62EE3FA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事故熱點另整理至班親會資料。來源：網站 3-4-1、3-4-2。</a:t>
            </a:r>
          </a:p>
        </p:txBody>
      </p:sp>
    </p:spTree>
    <p:extLst>
      <p:ext uri="{BB962C8B-B14F-4D97-AF65-F5344CB8AC3E}">
        <p14:creationId xmlns:p14="http://schemas.microsoft.com/office/powerpoint/2010/main" val="421217539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1717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5DF7B4-74D8-45C7-889C-01A144038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91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BDB9B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BDB9B0"/>
                </a:solidFill>
                <a:latin typeface="Microsoft JhengHei"/>
                <a:ea typeface="Microsoft JhengHei"/>
                <a:cs typeface="Microsoft JhengHei"/>
              </a:rPr>
              <a:t>15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69FCC8-9579-46FA-BFD6-4F7D019C1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114 最值得分享的，不是活動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E63939-EFC9-49CF-8F1C-4901D501A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6375"/>
            <a:ext cx="8096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7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7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真正的亮點，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EFB66B-D4E5-44C6-983F-8505FC10A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33625"/>
            <a:ext cx="8763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1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61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rPr>
              <a:t>是讓工程發生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214918-DFF7-4307-8AA0-5C7053DF3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00500"/>
            <a:ext cx="8572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學校沒有把危險的最後一哩，再丟回給學生『自己小心』。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EC8D41-28BE-4321-8C22-31FFA9D64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76875"/>
            <a:ext cx="5810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F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E1A668-C157-4103-9877-1E92241B6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BDB9B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>
                <a:solidFill>
                  <a:srgbClr val="BDB9B0"/>
                </a:solidFill>
                <a:latin typeface="Microsoft JhengHei"/>
                <a:ea typeface="Microsoft JhengHei"/>
                <a:cs typeface="Microsoft JhengHei"/>
              </a:rPr>
              <a:t>來源：網站 4-4「學校創新特色」。</a:t>
            </a:r>
          </a:p>
        </p:txBody>
      </p:sp>
    </p:spTree>
    <p:extLst>
      <p:ext uri="{BB962C8B-B14F-4D97-AF65-F5344CB8AC3E}">
        <p14:creationId xmlns:p14="http://schemas.microsoft.com/office/powerpoint/2010/main" val="616070648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6F2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31F138B-BD42-44B5-A111-82C8835B3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91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16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531E9F-BC60-4C4D-B4BC-BD5936BEE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工程不會只靠學校完成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7331E2-581D-47FB-BB29-730FC1B12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9906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一條通學路，需要五方坐在一起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3D4C40-99E4-4391-A589-79C873E57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1905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5A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FDAEE5-F650-4E24-A318-4349C443D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190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學校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D239A0-D721-408D-9494-8B4B775EA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714625"/>
            <a:ext cx="1905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8A0C6C-F684-487F-B75A-8E9ADE50C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3143250"/>
            <a:ext cx="190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交通處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CABCCD-914E-4FFC-BF86-291EB2B37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714625"/>
            <a:ext cx="1905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C6C35A-6F5E-4F11-A1A3-F2113C719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143250"/>
            <a:ext cx="190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教育處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FE0776-8869-4A49-A363-3A6257B0F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714625"/>
            <a:ext cx="1905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F4E11F-7CBD-426D-A8D9-C72EBA979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143250"/>
            <a:ext cx="190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里長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54393A-3B38-440B-8553-7CA54EF50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714625"/>
            <a:ext cx="1905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87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D36729-1C73-4CB0-AE14-D238A4D8A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143250"/>
            <a:ext cx="190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居民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9E10B5E-B927-4CAB-BA9B-0091F7C39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10820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rPr>
              <a:t>共同會勘｜協商停車｜討論標線｜確認可行方案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A2DD306-1667-46C8-88E8-31643FBC5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來源：網站 4-4；112.6 至 113.5 的會勘、協調與施工紀錄。</a:t>
            </a:r>
          </a:p>
        </p:txBody>
      </p:sp>
    </p:spTree>
    <p:extLst>
      <p:ext uri="{BB962C8B-B14F-4D97-AF65-F5344CB8AC3E}">
        <p14:creationId xmlns:p14="http://schemas.microsoft.com/office/powerpoint/2010/main" val="253944864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CF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F7607FA-145D-48D9-A802-BA5BBFF93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91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17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BF3FD8-5938-4C8A-B891-794717DDC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最後一哩，具體改了什麼？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F58908-103D-4973-9141-AA198CF0D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05000"/>
            <a:ext cx="323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80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rPr>
              <a:t>1 公尺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328B7C-28A1-40E2-8686-6EFF0CDFE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0"/>
            <a:ext cx="3143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AD75C2-AC00-4AE1-8B54-AA21C08D4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81375"/>
            <a:ext cx="3143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875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和平路邊線外推，挪出行走空間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69E93D-D8D2-4625-8FA4-D11C52AAC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1905000"/>
            <a:ext cx="323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1787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050" b="1">
                <a:solidFill>
                  <a:srgbClr val="17877D"/>
                </a:solidFill>
                <a:latin typeface="Microsoft JhengHei"/>
                <a:ea typeface="Microsoft JhengHei"/>
                <a:cs typeface="Microsoft JhengHei"/>
              </a:rPr>
              <a:t>行人號誌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AD96E3-AB88-4F3B-B1E5-C947974C9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3048000"/>
            <a:ext cx="3143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3001EF-7040-464C-8009-1150B0E18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3381375"/>
            <a:ext cx="3143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875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提高辨識，降低誤闖紅燈風險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2396B6-8055-4731-BF0B-A815FD0CD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1905000"/>
            <a:ext cx="323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80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rPr>
              <a:t>113.05.01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27760A-0EEB-4C53-8B8B-4FA9AB087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048000"/>
            <a:ext cx="3143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6AEF1A-48F9-4E80-8BDC-00237F162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381375"/>
            <a:ext cx="3143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875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開始畫設標線型人行道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EAC5AD-8FD5-41BF-8573-A48640300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0"/>
            <a:ext cx="9048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這些是可被現場看見的改變，不是照片數量。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9613E5-A5CD-4690-95A8-DE384C997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來源：網站 4-4；僅描述工程產出，不宣稱已證明事故下降。</a:t>
            </a:r>
          </a:p>
        </p:txBody>
      </p:sp>
    </p:spTree>
    <p:extLst>
      <p:ext uri="{BB962C8B-B14F-4D97-AF65-F5344CB8AC3E}">
        <p14:creationId xmlns:p14="http://schemas.microsoft.com/office/powerpoint/2010/main" val="1113770628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1717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685AB6-21CB-437F-96AE-9DDFB5269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91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BDB9B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BDB9B0"/>
                </a:solidFill>
                <a:latin typeface="Microsoft JhengHei"/>
                <a:ea typeface="Microsoft JhengHei"/>
                <a:cs typeface="Microsoft JhengHei"/>
              </a:rPr>
              <a:t>18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262F69-FC36-45D1-9F31-E28DA65E9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照片把動線中斷說清楚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383891-B12F-4BE9-9FDD-B772E713D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54292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2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2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下一步：把標線型人行道的缺口補滿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CF6632-D204-4BA2-A026-EE04004EB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38375"/>
            <a:ext cx="447675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025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校內人車分流已用紅箭頭標示方向；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2025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校外 4-4 紀錄仍有住戶門口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2025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暫不劃設的缺口。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BBE6C7-266C-4301-9546-F167C814C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38625"/>
            <a:ext cx="4286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800" b="0">
                <a:solidFill>
                  <a:srgbClr val="FFCF3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FFCF33"/>
                </a:solidFill>
                <a:latin typeface="Microsoft JhengHei"/>
                <a:ea typeface="Microsoft JhengHei"/>
                <a:cs typeface="Microsoft JhengHei"/>
              </a:rPr>
              <a:t>訪視資料要說實話：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800" b="0">
                <a:solidFill>
                  <a:srgbClr val="FFCF3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FFCF33"/>
                </a:solidFill>
                <a:latin typeface="Microsoft JhengHei"/>
                <a:ea typeface="Microsoft JhengHei"/>
                <a:cs typeface="Microsoft JhengHei"/>
              </a:rPr>
              <a:t>已完成哪一段？還缺哪一段？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fc764123724e83"/>
          <a:srcRect xmlns:a="http://schemas.openxmlformats.org/drawingml/2006/main" l="0" t="91" r="0" b="9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19750" y="1095375"/>
            <a:ext cx="5715000" cy="44767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E8BB0A-258D-40C7-BC93-F28442598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BDB9B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>
                <a:solidFill>
                  <a:srgbClr val="BDB9B0"/>
                </a:solidFill>
                <a:latin typeface="Microsoft JhengHei"/>
                <a:ea typeface="Microsoft JhengHei"/>
                <a:cs typeface="Microsoft JhengHei"/>
              </a:rPr>
              <a:t>來源：網站 3-2-1、4-4；紅箭頭為原照片標示，部分校外路段仍有缺口。</a:t>
            </a:r>
          </a:p>
        </p:txBody>
      </p:sp>
    </p:spTree>
    <p:extLst>
      <p:ext uri="{BB962C8B-B14F-4D97-AF65-F5344CB8AC3E}">
        <p14:creationId xmlns:p14="http://schemas.microsoft.com/office/powerpoint/2010/main" val="1413168690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0688D0-711D-488B-8F5F-B47F8CBA8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91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19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81F660-FCDA-4813-9A58-A9F288F0A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工程不是公文往返，是現場把問題說清楚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5D05BD-771D-43E7-9D71-58A0F26CD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9906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先一起走一次，才知道該改哪裡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86d58873ce4702"/>
          <a:srcRect xmlns:a="http://schemas.openxmlformats.org/drawingml/2006/main" l="0" t="8818" r="0" b="881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2143125"/>
            <a:ext cx="6858000" cy="3667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3283BC-F9D7-42AC-B744-C99D245A9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381250"/>
            <a:ext cx="276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rPr>
              <a:t>學校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9E9B9D-609F-40D7-BD0F-1B6BF41F7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000375"/>
            <a:ext cx="28575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22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交通處｜教育處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22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里長｜居民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C2585D-514A-4B1C-99EE-BA84A109F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619625"/>
            <a:ext cx="2762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F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F43DA3-D447-4456-BB72-3C6A5EB12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953000"/>
            <a:ext cx="2857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875" b="1">
                <a:solidFill>
                  <a:srgbClr val="1787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17877D"/>
                </a:solidFill>
                <a:latin typeface="Microsoft JhengHei"/>
                <a:ea typeface="Microsoft JhengHei"/>
                <a:cs typeface="Microsoft JhengHei"/>
              </a:rPr>
              <a:t>共同看見，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875" b="1">
                <a:solidFill>
                  <a:srgbClr val="1787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17877D"/>
                </a:solidFill>
                <a:latin typeface="Microsoft JhengHei"/>
                <a:ea typeface="Microsoft JhengHei"/>
                <a:cs typeface="Microsoft JhengHei"/>
              </a:rPr>
              <a:t>才有共同決議。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5D044E-924C-4A70-8CC6-C473E2D4E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來源：竹光國中 114 交通安全網站 4-4。</a:t>
            </a:r>
          </a:p>
        </p:txBody>
      </p:sp>
    </p:spTree>
    <p:extLst>
      <p:ext uri="{BB962C8B-B14F-4D97-AF65-F5344CB8AC3E}">
        <p14:creationId xmlns:p14="http://schemas.microsoft.com/office/powerpoint/2010/main" val="1975455430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CF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68B649-1044-4323-9AE5-C8B1DAA4D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91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66EB73-D7D0-4472-BAB7-46777468F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接送分流不是表格，是每天的現場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67A975-8EF0-423F-852A-BA2216809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7239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人、機車與汽車，需要不同的停等空間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D60349-394B-464E-8E56-D49186D12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58102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4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先看現場衝突，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24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再決定分流、停等與導護配置。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AC8A31-8AA0-4249-94CE-FC17B83FA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33875"/>
            <a:ext cx="5334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87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照片讓同仁不用靠想像，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87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一眼看見尖峰時段的壓力。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72dd31f3e645a3"/>
          <a:srcRect xmlns:a="http://schemas.openxmlformats.org/drawingml/2006/main" l="0" t="2613" r="0" b="261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24750" y="1428750"/>
            <a:ext cx="3429000" cy="433387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6C32E8-C51D-4F23-850A-FCFE742B8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來源：竹光國中 114 交通安全網站 3-5-1。</a:t>
            </a:r>
          </a:p>
        </p:txBody>
      </p:sp>
    </p:spTree>
    <p:extLst>
      <p:ext uri="{BB962C8B-B14F-4D97-AF65-F5344CB8AC3E}">
        <p14:creationId xmlns:p14="http://schemas.microsoft.com/office/powerpoint/2010/main" val="660384781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1717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F39C37-6B99-4738-892E-55D5033A3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91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BDB9B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BDB9B0"/>
                </a:solidFill>
                <a:latin typeface="Microsoft JhengHei"/>
                <a:ea typeface="Microsoft JhengHei"/>
                <a:cs typeface="Microsoft JhengHei"/>
              </a:rPr>
              <a:t>21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879943-E2BB-4165-8210-54FE30358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從駕駛視角看學校周邊常見路況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8B92CC-2518-4055-A37F-572F44BDC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65722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2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2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遠方號誌，會不會吃掉眼前的風險？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64cf7b77e84c3d"/>
          <a:srcRect xmlns:a="http://schemas.openxmlformats.org/drawingml/2006/main" l="0" t="2539" r="0" b="253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2190750"/>
            <a:ext cx="6858000" cy="3619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55EBEF-E904-4093-8DE5-E81A1A9C0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524125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FFCF3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625" b="1">
                <a:solidFill>
                  <a:srgbClr val="FFCF33"/>
                </a:solidFill>
                <a:latin typeface="Microsoft JhengHei"/>
                <a:ea typeface="Microsoft JhengHei"/>
                <a:cs typeface="Microsoft JhengHei"/>
              </a:rPr>
              <a:t>無號誌路口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328F81-4D15-4FA8-8223-573AF4927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333750"/>
            <a:ext cx="28575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2025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行人可能就在近端，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2025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駕駛注意力卻被遠方綠燈拉走。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97DBD8-2E10-4CB0-B147-B7925B9B4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095875"/>
            <a:ext cx="285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75" b="0">
                <a:solidFill>
                  <a:srgbClr val="D9D4C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D9D4C9"/>
                </a:solidFill>
                <a:latin typeface="Microsoft JhengHei"/>
                <a:ea typeface="Microsoft JhengHei"/>
                <a:cs typeface="Microsoft JhengHei"/>
              </a:rPr>
              <a:t>這不是只靠提醒就能消失的風險。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594139-5E8D-4B01-8600-2F5198BC1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BDB9B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>
                <a:solidFill>
                  <a:srgbClr val="BDB9B0"/>
                </a:solidFill>
                <a:latin typeface="Microsoft JhengHei"/>
                <a:ea typeface="Microsoft JhengHei"/>
                <a:cs typeface="Microsoft JhengHei"/>
              </a:rPr>
              <a:t>來源：使用者原簡報第 9 頁。</a:t>
            </a:r>
          </a:p>
        </p:txBody>
      </p:sp>
    </p:spTree>
    <p:extLst>
      <p:ext uri="{BB962C8B-B14F-4D97-AF65-F5344CB8AC3E}">
        <p14:creationId xmlns:p14="http://schemas.microsoft.com/office/powerpoint/2010/main" val="837529541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DEB009-AB2C-4EDF-978D-8DC3ED4F5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91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22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CD6BD2-2091-465D-B706-A9F0E1D70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資料與成果要分開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6FDD28-3ECA-44A6-BDC3-2DB140A1C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9906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這才叫成果：風險條件被改變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E9F5D1-EB3C-4FEC-BFB0-4C72507F7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4095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60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有文件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D3A98E-50FE-4750-A8AA-E5DD5BE38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24250"/>
            <a:ext cx="4000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202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• 會議紀錄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202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• 活動照片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202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• 網站頁面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E2CA5C-B9E6-4CAC-BD03-67FDAF91E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571750"/>
            <a:ext cx="4095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787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600" b="1">
                <a:solidFill>
                  <a:srgbClr val="17877D"/>
                </a:solidFill>
                <a:latin typeface="Microsoft JhengHei"/>
                <a:ea typeface="Microsoft JhengHei"/>
                <a:cs typeface="Microsoft JhengHei"/>
              </a:rPr>
              <a:t>有改變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DD6624-242D-4B98-A0B5-DE11A046B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524250"/>
            <a:ext cx="4762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202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• 多出行走空間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202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• 號誌更可辨識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202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• 跨單位有決議與時程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E4C383-9679-4BF8-922B-3F508CFB2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案例來源：網站 4-4。事故與車速結果仍需另行追蹤。</a:t>
            </a:r>
          </a:p>
        </p:txBody>
      </p:sp>
    </p:spTree>
    <p:extLst>
      <p:ext uri="{BB962C8B-B14F-4D97-AF65-F5344CB8AC3E}">
        <p14:creationId xmlns:p14="http://schemas.microsoft.com/office/powerpoint/2010/main" val="113431072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6F2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008761-8375-4277-B45F-8FF33F1C0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91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23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B76D35-6FD7-4190-ACBA-72B6A9AB4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教授的回饋：肯定做法，也指出下一步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DBB3E7-50D0-477A-B782-E5D04A499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9906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三個優點，三個還要補強的地方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547A70-52F8-430A-A58D-C4CFE7F82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4810125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2509F4-F5D6-4662-8CB9-BE8B50BDB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686050"/>
            <a:ext cx="4095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787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17877D"/>
                </a:solidFill>
                <a:latin typeface="Microsoft JhengHei"/>
                <a:ea typeface="Microsoft JhengHei"/>
                <a:cs typeface="Microsoft JhengHei"/>
              </a:rPr>
              <a:t>看見的優點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9F83E2-E2DC-46B8-8585-EA764DB61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381375"/>
            <a:ext cx="4000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87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• 計畫執行落實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87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• 活動融入交安議題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87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• 標誌安排於合適地點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37DE89-D24D-4354-9BB7-A014D11E2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381250"/>
            <a:ext cx="56959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27C4C85-A8CB-40F0-81DE-645F4587A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686050"/>
            <a:ext cx="4762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FCF3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FFCF33"/>
                </a:solidFill>
                <a:latin typeface="Microsoft JhengHei"/>
                <a:ea typeface="Microsoft JhengHei"/>
                <a:cs typeface="Microsoft JhengHei"/>
              </a:rPr>
              <a:t>教授的建議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F7CCFAB-B3AB-405C-8356-B574B9F6F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381375"/>
            <a:ext cx="4762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875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• 交通能力融入課程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875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• 建立交通能力指標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875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• 融入交通四守則與交通素養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D7C9C7-98C5-4FC1-99E1-37E8FEB13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來源：使用者原簡報第 34 頁「教授的建議」。</a:t>
            </a:r>
          </a:p>
        </p:txBody>
      </p:sp>
    </p:spTree>
    <p:extLst>
      <p:ext uri="{BB962C8B-B14F-4D97-AF65-F5344CB8AC3E}">
        <p14:creationId xmlns:p14="http://schemas.microsoft.com/office/powerpoint/2010/main" val="934346240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CF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6B24AE7-17B8-4C9C-8F48-4B743A12C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91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24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CC5BF2-FB7A-48C5-8B61-7842A7C49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訪視時由誰報告？原始資料給了意外答案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F5B885-37E4-45BB-987D-6E1430C1E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9906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三次訪視，三種報告者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B06255-E01D-4748-A311-1F5AF026E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3143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E583AF-5DBD-4D30-9D6A-813EB7383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0375"/>
            <a:ext cx="314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8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rPr>
              <a:t>108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F4C424-4444-4B29-B8E3-AD711DD87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62375"/>
            <a:ext cx="3143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生教組長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A536A6-10B0-4D9C-97FA-681B3B778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2714625"/>
            <a:ext cx="3143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623150-77FD-4D45-B15F-0D2BE2134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3000375"/>
            <a:ext cx="314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8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rPr>
              <a:t>111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11153B-AE58-4C0F-B22B-BC8AA3119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3762375"/>
            <a:ext cx="3143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校長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ACE3EA-54C1-4C6C-B0D3-CFBDFBC69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714625"/>
            <a:ext cx="3143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A62FE3-01D1-4875-A9CC-02E0B616A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000375"/>
            <a:ext cx="314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8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rPr>
              <a:t>114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7559F9-0302-4614-86A2-726536265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762375"/>
            <a:ext cx="3143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學務主任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B0D010F-DE4F-4725-A7D4-BED2B92EF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95875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名次不能只歸因於報告者職稱。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87034DA-5BEB-449C-BB9A-6FA92057C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來源：使用者原簡報第 29 頁。</a:t>
            </a:r>
          </a:p>
        </p:txBody>
      </p:sp>
    </p:spTree>
    <p:extLst>
      <p:ext uri="{BB962C8B-B14F-4D97-AF65-F5344CB8AC3E}">
        <p14:creationId xmlns:p14="http://schemas.microsoft.com/office/powerpoint/2010/main" val="1494740176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1717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55A7BE-8FDF-4AFC-A9C0-06E11EE81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91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BDB9B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BDB9B0"/>
                </a:solidFill>
                <a:latin typeface="Microsoft JhengHei"/>
                <a:ea typeface="Microsoft JhengHei"/>
                <a:cs typeface="Microsoft JhengHei"/>
              </a:rPr>
              <a:t>25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1AA07E-8584-4329-9125-7A0CADF14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我的建議：不要迷信校長一定要上台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B17B51-D4D7-4995-978B-226F28020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9906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2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2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誰最適合報告？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69F655-431C-4084-8C6E-EF1C312AA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55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0FF03D-34D7-4840-97D5-F5CAB3740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857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FCF3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000" b="1">
                <a:solidFill>
                  <a:srgbClr val="FFCF33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D882EE-637F-4E3C-99BC-5FAFE3A79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686050"/>
            <a:ext cx="857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知道校本問題的人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5A473B-3D5D-4E15-A02E-58DA2763D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766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55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118A42-75C3-4AAB-9CFD-855F74190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48075"/>
            <a:ext cx="857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FCF3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000" b="1">
                <a:solidFill>
                  <a:srgbClr val="FFCF33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3D96C7-EE30-47FB-840F-14AC993A2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686175"/>
            <a:ext cx="857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找得到證據的人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68AE4E-DC6A-4F75-996D-42B5F86E7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55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9BE8A7-1FC1-4AA1-9A9A-9303F3868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48200"/>
            <a:ext cx="857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FCF3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000" b="1">
                <a:solidFill>
                  <a:srgbClr val="FFCF33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AFEAAD-54A9-4274-8FDB-1BC0BE104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686300"/>
            <a:ext cx="857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敢說出制度界線的人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3578E86-E71C-45EF-8980-A5D8D698E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BDB9B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>
                <a:solidFill>
                  <a:srgbClr val="BDB9B0"/>
                </a:solidFill>
                <a:latin typeface="Microsoft JhengHei"/>
                <a:ea typeface="Microsoft JhengHei"/>
                <a:cs typeface="Microsoft JhengHei"/>
              </a:rPr>
              <a:t>本頁為依三次報告者經驗提出的實務建議，不是評分規定。</a:t>
            </a:r>
          </a:p>
        </p:txBody>
      </p:sp>
    </p:spTree>
    <p:extLst>
      <p:ext uri="{BB962C8B-B14F-4D97-AF65-F5344CB8AC3E}">
        <p14:creationId xmlns:p14="http://schemas.microsoft.com/office/powerpoint/2010/main" val="2011004210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74F797-0FB5-4653-BCC9-53001F6EC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91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26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EF4102-A533-4B5B-8C64-2208A138E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事半功倍的核心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BBC68B-F017-41A5-98D5-4951EFF0B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6375"/>
            <a:ext cx="8096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7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7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效率不是少做，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444B02-278C-4A2E-9BC5-98330E128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33625"/>
            <a:ext cx="10096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8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8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rPr>
              <a:t>是每份資料只做一次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D468A9-E705-4C6F-B702-D9D1C2FE8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00500"/>
            <a:ext cx="8763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平時服務教學與安全管理，訪視時只是再次使用。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3BCD65-8815-488E-867A-C007A6D77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29250"/>
            <a:ext cx="6191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F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31144A-19E8-4836-96E2-F90B87B2A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整理自網站即時上傳、公民講堂共用素材與校本資料流程。</a:t>
            </a:r>
          </a:p>
        </p:txBody>
      </p:sp>
    </p:spTree>
    <p:extLst>
      <p:ext uri="{BB962C8B-B14F-4D97-AF65-F5344CB8AC3E}">
        <p14:creationId xmlns:p14="http://schemas.microsoft.com/office/powerpoint/2010/main" val="274534269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6F2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298F5D6-622E-44AB-907D-785873F15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91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27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7E64F4-389F-485F-93A4-F6F75B515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可直接複製的工作流程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972A20-04CC-4A8A-B5AC-86737AEE1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9906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五步驟，把訪視變成平常工作副產品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271A6E-2E46-4E2D-8A7A-E41707CD4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1905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5A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01EB88-589E-4530-A24D-88CF6D4E7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190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91C6DC-E5BA-4766-A3CD-2C4A8B1B4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24250"/>
            <a:ext cx="190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列問題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7E5004-28AA-4A78-860D-5BFBBE41D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43375"/>
            <a:ext cx="1905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650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通學與事故風險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F7A2B8-D931-44C4-A491-04DC4F456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571750"/>
            <a:ext cx="1905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5A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6E4DBB-41B6-4C16-A84A-3978C8E0F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857500"/>
            <a:ext cx="190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55A7EA-285E-4B32-9899-F5CEDF22A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3524250"/>
            <a:ext cx="190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借時間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719764-AB86-46A0-ADAA-3DABF42B1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4143375"/>
            <a:ext cx="1905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650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導師課與既有學科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2B868F-C4D4-46C5-802A-8C6FF7668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571750"/>
            <a:ext cx="1905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5A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B8A045-2B28-4A0C-887E-13E138810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857500"/>
            <a:ext cx="190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C4DA11-0B4D-4E5B-90EC-A940261BA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524250"/>
            <a:ext cx="190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共用素材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E917E90-4B9E-4736-BFAA-044FFA4EB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143375"/>
            <a:ext cx="1905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650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一個資料庫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CED3DBE-EE75-4FC2-B92C-8F057DF4C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571750"/>
            <a:ext cx="1905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5A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B684DCB-8955-4B40-AA94-5FC45B69A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857500"/>
            <a:ext cx="190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6DAEC35-A86E-4953-845F-BFB9B91E1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524250"/>
            <a:ext cx="190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即時歸檔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6B8FA4D-B538-4093-8FC3-E94138689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143375"/>
            <a:ext cx="1905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650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依指標放網站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1C73D40-AEED-4400-9B18-192729029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571750"/>
            <a:ext cx="1905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87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B3D2BDA-9FE3-4D60-BF24-971A040F7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857500"/>
            <a:ext cx="190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87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7877D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D5B4924-46B1-41B2-B840-22EE07F6C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524250"/>
            <a:ext cx="190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追工程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462C4DA-3FFA-47FE-93E6-3073C981E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143375"/>
            <a:ext cx="1905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650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責任人與時程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B14F9C9-0052-4CA3-AACF-C39D5B7D7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案例轉譯：竹光國中 114 訪視網站。</a:t>
            </a:r>
          </a:p>
        </p:txBody>
      </p:sp>
    </p:spTree>
    <p:extLst>
      <p:ext uri="{BB962C8B-B14F-4D97-AF65-F5344CB8AC3E}">
        <p14:creationId xmlns:p14="http://schemas.microsoft.com/office/powerpoint/2010/main" val="144683998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7300C54-BB6E-49A2-A867-3A23DA51C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91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28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EDAE4A-2931-4860-92DE-D48D465D3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報告不需要一本書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EF4E41-F65A-4A06-8CAA-1FB2E4F65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9906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一張表，只講五件事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51F761-A460-4FD2-8CE2-1C3522C73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0"/>
            <a:ext cx="1905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2E97BB-5117-473F-9E90-A8F78984A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000375"/>
            <a:ext cx="1562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問題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A7881E-6E8C-442C-905B-8CDF07DEB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762375"/>
            <a:ext cx="15621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6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哪裡有風險？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71E307-AD50-4D06-B3FF-DE0B99F3C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667000"/>
            <a:ext cx="1905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71D263-1A36-4A2E-87CD-46E5E5284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000375"/>
            <a:ext cx="1562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做法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9ED0E7-10DF-4FE7-B06E-A429D002E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762375"/>
            <a:ext cx="15621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6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誰做了什麼？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D38A1D-F0C5-438A-8F98-6CAAE41A6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667000"/>
            <a:ext cx="1905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1A0C03-EA06-4440-85C0-A845B1D6A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000375"/>
            <a:ext cx="1562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證據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8AEA1F-D4DA-4661-B65E-400D98665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762375"/>
            <a:ext cx="15621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6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如何確認做過？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2152306-6888-434B-BAB7-A8D3A3A4D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667000"/>
            <a:ext cx="1905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F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124A8B3-25D4-4A60-A601-7791239E4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000375"/>
            <a:ext cx="1562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rPr>
              <a:t>結果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268B8A-D20C-47B6-89E2-86669A91A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762375"/>
            <a:ext cx="15621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6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什麼條件改變？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C96E86-98AF-426D-A5A8-7FCA7233F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667000"/>
            <a:ext cx="1905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DADE014-DAFA-4C1B-B861-65A2FBAAC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000375"/>
            <a:ext cx="1562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下一步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ECAACD6-064F-4D7D-9A00-36D77CCF9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762375"/>
            <a:ext cx="15621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6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誰何時接手？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7780AD3-1110-4074-A454-A835CCA7C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建議格式：問題 → 做法 → 證據 → 結果 → 下一步。</a:t>
            </a:r>
          </a:p>
        </p:txBody>
      </p:sp>
    </p:spTree>
    <p:extLst>
      <p:ext uri="{BB962C8B-B14F-4D97-AF65-F5344CB8AC3E}">
        <p14:creationId xmlns:p14="http://schemas.microsoft.com/office/powerpoint/2010/main" val="297954577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CF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45F2237-A2C5-47F9-A522-9A56EDB38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91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29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134F23-3A2D-4A60-A311-A0EEEF59B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減量清單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A6B9A5-2088-4100-B64F-E9A91E5F2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9906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五樣東西，不必為訪視重做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EA4E7B-9FA3-4577-B0F0-680B85996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3837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AB2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FC011A-4F47-44A5-9F2E-98434F3DF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52675"/>
            <a:ext cx="66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BDCA28-C5D7-47D2-BD07-F835AD2AD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2371725"/>
            <a:ext cx="895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不另開一門交通安全課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209EC7-F272-4C96-9AE3-B63F463F3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417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AB2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114408-7C68-499A-A0D3-2A5843F72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38475"/>
            <a:ext cx="66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0AA0AB-D366-4FFF-8FB5-45BA3B5BD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3057525"/>
            <a:ext cx="895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不為每次訪視重做網站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174E49-B6A8-4A97-BD21-2CAAE1312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0997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AB2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31A92F7-4122-404F-A03B-06F203294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24275"/>
            <a:ext cx="66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01DA304-2131-4923-A8C0-F22B30C8D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3743325"/>
            <a:ext cx="895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不臨時補活動與照片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933BED-4C6F-4C31-AB34-456BB60D1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9577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AB2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D95D86-E940-4875-917F-DDC217DD1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10075"/>
            <a:ext cx="66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CF9F542-4CFC-4E60-8836-24BD93003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4429125"/>
            <a:ext cx="895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不重複向處室收同一份資料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009DF1-B46D-4595-BC54-04AC29135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8157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AB2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B6C49D3-8409-4B24-AE01-F5D226978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95875"/>
            <a:ext cx="66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D35D6F5-7308-4CC7-859B-EA8042B26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5114925"/>
            <a:ext cx="895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不把工程問題包成教育成果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74C527F-1A9A-4B5D-BC85-64E668DE1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把時間留給真正能降低風險的工作。</a:t>
            </a:r>
          </a:p>
        </p:txBody>
      </p:sp>
    </p:spTree>
    <p:extLst>
      <p:ext uri="{BB962C8B-B14F-4D97-AF65-F5344CB8AC3E}">
        <p14:creationId xmlns:p14="http://schemas.microsoft.com/office/powerpoint/2010/main" val="1812875753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6F2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EB4AB47-868D-4142-AD8C-2E8F91269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91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488CC6-D2DA-4A17-8ED1-1029DB5CA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訪視的測量邊界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86A03D-572F-4BBB-93D7-5CC6C37A0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9906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評鑑測到的，可能只是資料呈現能力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AFCBCE-3723-4853-90B4-D064BABD8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33625"/>
            <a:ext cx="23812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D4C9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478903-B99A-4225-B924-8BC6FD1C1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71750"/>
            <a:ext cx="200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投入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010E00-A862-4385-8E1E-0B4EF3CD2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20002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57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人力、經費、會議、志工與行政時間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828885-20EE-4089-B948-D16682FDD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333625"/>
            <a:ext cx="23812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D4C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2E5ADF-A23D-4A48-A554-CCDDC078F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571750"/>
            <a:ext cx="200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流程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D9098E-5325-427B-9D8B-45F65F439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162300"/>
            <a:ext cx="20002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57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課程、宣導、網站上傳、資料彙整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4D5A24-9632-4F97-9A97-4DA4B5F5D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333625"/>
            <a:ext cx="23812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D4C9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DB81CF-0C9A-4167-ABBB-0A34F8F14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571750"/>
            <a:ext cx="200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產出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34B6709-8592-49BE-B22A-A2E45F1BA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162300"/>
            <a:ext cx="20002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57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活動場次、文件份數、照片與成果冊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A804E5B-0B2D-483C-88AB-8E5A26396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333625"/>
            <a:ext cx="23812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F33"/>
          </a:solidFill>
          <a:ln xmlns:a="http://schemas.openxmlformats.org/drawingml/2006/main" w="14288">
            <a:solidFill>
              <a:srgbClr val="FFCF3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2611DE0-AF57-40A2-A47C-FD82CCB9A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571750"/>
            <a:ext cx="200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結果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E4A6FDF-8EA4-4F2C-A82C-3689CD3A1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162300"/>
            <a:ext cx="20002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57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速度下降？風險降低？通學路線更安全？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A62BB44-2469-481B-8502-40F11AC81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91125"/>
            <a:ext cx="9810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前三者可以證明「做過」；只有結果能回答「有沒有更安全」。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8D383F6-B95B-4FAD-8993-657EA823C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評估架構參考：UK Government, Magenta Book（process / impact / outcomes）。</a:t>
            </a:r>
          </a:p>
        </p:txBody>
      </p:sp>
    </p:spTree>
    <p:extLst>
      <p:ext uri="{BB962C8B-B14F-4D97-AF65-F5344CB8AC3E}">
        <p14:creationId xmlns:p14="http://schemas.microsoft.com/office/powerpoint/2010/main" val="2072441867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BF05C7A-2663-4F66-8D62-07FBC1F6B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91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31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445777-7817-485B-896C-131921AF2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不是反對評鑑，是要求評鑑回答正確問題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709A7F-8516-4491-905B-F5BA7F37D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9906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四問評鑑：它有資格代表「安全」嗎？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884165-482E-40C3-BBE7-1F7DC9EE7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33625"/>
            <a:ext cx="4857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4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30467E-D109-474C-ACC2-B5000544B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62225"/>
            <a:ext cx="6286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8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7FA914-5233-487E-8262-1B9C2C5BC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571750"/>
            <a:ext cx="3714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構念是什麼？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948400-058D-4C4C-9649-1E1FC54EB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019425"/>
            <a:ext cx="3714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50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評的是交通安全、行政完整度，還是簡報表現？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9E5742-450C-45BF-AAD1-46AA98B6C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333625"/>
            <a:ext cx="4857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4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058F01-0039-4195-ABCA-4D0C76C99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562225"/>
            <a:ext cx="6286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8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23564C-C8DD-47B4-91C6-A42896D67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571750"/>
            <a:ext cx="3714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評分穩不穩？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9D9034-062C-4B9D-B94E-5914A6F21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019425"/>
            <a:ext cx="3714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50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相同證據換一組人，結果會不會完全不同？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1D1AB4-7C94-4471-ABCF-FC8815FD3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0"/>
            <a:ext cx="4857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4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47DF480-62E7-40BC-8798-F3ABDE1F6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19600"/>
            <a:ext cx="6286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8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52928A-266B-48BA-BB07-25554FBDD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429125"/>
            <a:ext cx="3714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能連到結果嗎？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68CD5BE-7A50-4F86-9F2B-E15F75D6F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876800"/>
            <a:ext cx="3714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50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高分是否對應更低的速度、事故與通學風險？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56C4F56-40FD-4F04-AF9B-16F3FBD0D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191000"/>
            <a:ext cx="4857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4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D92E43D-0D99-4B3A-9361-CDB73DF5B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419600"/>
            <a:ext cx="6286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8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AFACBC6-2664-49F4-9127-A3B68C402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429125"/>
            <a:ext cx="3714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會不會扭曲行為？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6F48F08-B9B8-4154-B7FC-04416BCB0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876800"/>
            <a:ext cx="3714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50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學校是否被迫把時間花在可拍照、可裝訂的工作？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DE18B45-6D83-4F48-9493-F617A9550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依三次訪視經驗提出的效度檢核；不宣稱已完成正式心理計量研究。</a:t>
            </a:r>
          </a:p>
        </p:txBody>
      </p:sp>
    </p:spTree>
    <p:extLst>
      <p:ext uri="{BB962C8B-B14F-4D97-AF65-F5344CB8AC3E}">
        <p14:creationId xmlns:p14="http://schemas.microsoft.com/office/powerpoint/2010/main" val="445796890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1717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CC16B2-3E33-4355-952F-3EB665440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91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BDB9B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BDB9B0"/>
                </a:solidFill>
                <a:latin typeface="Microsoft JhengHei"/>
                <a:ea typeface="Microsoft JhengHei"/>
                <a:cs typeface="Microsoft JhengHei"/>
              </a:rPr>
              <a:t>32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B4618C-59AF-4A62-9945-85FF8271B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教育現場已經 overloading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002BAF-B43E-4AB5-965C-5FC8E4F38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43000"/>
            <a:ext cx="6858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把行政負荷當成安全證據，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516CD7-70BA-4148-9A79-79C83B2C4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5715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0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rPr>
              <a:t>成本由誰承擔？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E05B06-5697-4792-AB61-1D1C2B20A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0"/>
            <a:ext cx="5810250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1875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OECD TALIS 2024：平均約 52% 教師把過多行政工作視為工作壓力來源；行政時間增加與福祉下降的關聯尤其明顯。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29AFF5-1BFC-4196-AC2B-460EDE366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1952625"/>
            <a:ext cx="371475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6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6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新增任務前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36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6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請先說明：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36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6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要刪掉什麼？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6BD9A9-E10E-4415-A6AE-317252391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4619625"/>
            <a:ext cx="3143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F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340913-2E35-488E-A12A-F5991FE64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BDB9B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>
                <a:solidFill>
                  <a:srgbClr val="BDB9B0"/>
                </a:solidFill>
                <a:latin typeface="Microsoft JhengHei"/>
                <a:ea typeface="Microsoft JhengHei"/>
                <a:cs typeface="Microsoft JhengHei"/>
              </a:rPr>
              <a:t>來源：OECD, Results from TALIS 2024, “The demands of teaching”.</a:t>
            </a:r>
          </a:p>
        </p:txBody>
      </p:sp>
    </p:spTree>
    <p:extLst>
      <p:ext uri="{BB962C8B-B14F-4D97-AF65-F5344CB8AC3E}">
        <p14:creationId xmlns:p14="http://schemas.microsoft.com/office/powerpoint/2010/main" val="1403629668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6F2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CA3488-7B3D-440D-B5FA-915858BA8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91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33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3017E2-9B63-4E8A-A3BA-CC502DC13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把注意力拉回真實世界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37DACE-E1CC-46A4-AEC3-8F3962274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9906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即使評鑑失真，交通安全仍然真實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CE1FC8-E485-4D15-84CD-AD053202C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4762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875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7875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rPr>
              <a:t>2,858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3A748C-CCD3-42C3-8EF8-1A4A29F92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86200"/>
            <a:ext cx="4286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87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臺灣 2025 年道路交通事故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87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30 日內死亡人數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DC5149-A1EA-4C4A-8EC5-B450D4381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571750"/>
            <a:ext cx="4572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875" b="1">
                <a:solidFill>
                  <a:srgbClr val="1787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7875" b="1">
                <a:solidFill>
                  <a:srgbClr val="17877D"/>
                </a:solidFill>
                <a:latin typeface="Microsoft JhengHei"/>
                <a:ea typeface="Microsoft JhengHei"/>
                <a:cs typeface="Microsoft JhengHei"/>
              </a:rPr>
              <a:t>119萬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635488-4633-4F2A-93E2-5B7C59629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886200"/>
            <a:ext cx="4095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87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全球每年道路交通死亡；道路傷害仍是 5–29 歲主要死因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C3F01A-0004-4A92-9A8B-BA233A86D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來源：交通部 168 交通安全入口網（2026-03-25）；WHO Global status report on road safety 2023。</a:t>
            </a:r>
          </a:p>
        </p:txBody>
      </p:sp>
    </p:spTree>
    <p:extLst>
      <p:ext uri="{BB962C8B-B14F-4D97-AF65-F5344CB8AC3E}">
        <p14:creationId xmlns:p14="http://schemas.microsoft.com/office/powerpoint/2010/main" val="274296754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CF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BF0F55-9A4A-4E69-AA90-E3E812907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91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34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FEE2D6-342B-432A-9852-23241AE49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重新定義交通安全教育的目的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3C79D6-FC34-42AF-B448-A89FE6416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38250"/>
            <a:ext cx="971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目的不是訓練永不犯錯的用路人。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FD2D2B-6AB3-4148-8777-26F52BA7E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10382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49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9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rPr>
              <a:t>而是打造犯錯仍能回家的環境。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25002B-231A-413A-951F-88F9584E5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0"/>
            <a:ext cx="1238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87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FD6105-E507-48A0-B5AF-AADD54001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05375"/>
            <a:ext cx="8667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這就是人本交通，也是 Safe System 的倫理起點。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2F06B1-0990-483A-B687-42B365321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概念來源：FHWA Zero Deaths and Safe System；WHO Safe System approach。</a:t>
            </a:r>
          </a:p>
        </p:txBody>
      </p:sp>
    </p:spTree>
    <p:extLst>
      <p:ext uri="{BB962C8B-B14F-4D97-AF65-F5344CB8AC3E}">
        <p14:creationId xmlns:p14="http://schemas.microsoft.com/office/powerpoint/2010/main" val="170301075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1717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83F5BC3-11C0-4CD6-8A1C-28F4D4136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91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BDB9B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BDB9B0"/>
                </a:solidFill>
                <a:latin typeface="Microsoft JhengHei"/>
                <a:ea typeface="Microsoft JhengHei"/>
                <a:cs typeface="Microsoft JhengHei"/>
              </a:rPr>
              <a:t>35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AD59E4-1375-43FB-B44F-ABDD46E26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國際共同語言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191DCB-6CBD-4D16-B229-E29FC2D3C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9906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2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2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Safe System 的六個原則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7D3C9E-7933-4D22-A4BF-DE54158E4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323850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24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01C29E-C7DF-4C04-A27A-3B8CE7782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7620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F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A794EA-CF90-4D97-B9CA-5AD233CC7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9555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死傷不可接受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7CBE37-FCAF-443F-BD6B-A7EF5730F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52750"/>
            <a:ext cx="2714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350" b="0">
                <a:solidFill>
                  <a:srgbClr val="D5D0C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D5D0C7"/>
                </a:solidFill>
                <a:latin typeface="Microsoft JhengHei"/>
                <a:ea typeface="Microsoft JhengHei"/>
                <a:cs typeface="Microsoft JhengHei"/>
              </a:rPr>
              <a:t>目標不是少一點，而是避免死亡與重傷。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248DFE-E274-4E40-83EF-EE03FD717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286000"/>
            <a:ext cx="323850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24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771CA03-C605-4429-B735-935BF4B99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286000"/>
            <a:ext cx="7620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F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AF9FAF-4EDD-4F62-80F3-7E8D1E092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49555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人一定會犯錯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43DA3B-F9A5-4B70-9FB0-EF3276355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952750"/>
            <a:ext cx="2714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350" b="0">
                <a:solidFill>
                  <a:srgbClr val="D5D0C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D5D0C7"/>
                </a:solidFill>
                <a:latin typeface="Microsoft JhengHei"/>
                <a:ea typeface="Microsoft JhengHei"/>
                <a:cs typeface="Microsoft JhengHei"/>
              </a:rPr>
              <a:t>系統必須預期錯誤，而不是只責怪個人。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4FC90F-3CC3-483F-86D3-8D8FACA35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286000"/>
            <a:ext cx="323850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24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8CE358-6FA0-466E-9CDD-881279E7F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286000"/>
            <a:ext cx="7620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F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A375531-81BA-497F-8618-9A84CBF3A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49555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人體承受有限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9C8969-53B5-4BE3-B80E-8575F4082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952750"/>
            <a:ext cx="2714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350" b="0">
                <a:solidFill>
                  <a:srgbClr val="D5D0C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D5D0C7"/>
                </a:solidFill>
                <a:latin typeface="Microsoft JhengHei"/>
                <a:ea typeface="Microsoft JhengHei"/>
                <a:cs typeface="Microsoft JhengHei"/>
              </a:rPr>
              <a:t>速度與撞擊角度必須符合人的生理極限。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673492C-08E4-4023-BBDD-9B86AF4BF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48125"/>
            <a:ext cx="323850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24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C5E108F-B8B5-4A9D-9DC8-0070A2E2C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48125"/>
            <a:ext cx="7620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F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0A7EBE5-E52C-40CC-AA49-A73FCD8EE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57675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責任共同承擔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7C8A83D-5B43-4A70-BE0E-0B48EF5BC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14875"/>
            <a:ext cx="2714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350" b="0">
                <a:solidFill>
                  <a:srgbClr val="D5D0C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D5D0C7"/>
                </a:solidFill>
                <a:latin typeface="Microsoft JhengHei"/>
                <a:ea typeface="Microsoft JhengHei"/>
                <a:cs typeface="Microsoft JhengHei"/>
              </a:rPr>
              <a:t>設計者、管理者與用路人都有責任。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B5D4E7A-7AE0-4A9D-A702-54FC5C5EB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4048125"/>
            <a:ext cx="323850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24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F70313F-7C87-4B51-9006-C7F985D2D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4048125"/>
            <a:ext cx="7620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F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C84A337-B4BA-44E3-A1B3-0619D59A0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4257675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安全要主動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9DB4900-7E28-4B07-BF22-23A3D6257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4714875"/>
            <a:ext cx="2714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350" b="0">
                <a:solidFill>
                  <a:srgbClr val="D5D0C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D5D0C7"/>
                </a:solidFill>
                <a:latin typeface="Microsoft JhengHei"/>
                <a:ea typeface="Microsoft JhengHei"/>
                <a:cs typeface="Microsoft JhengHei"/>
              </a:rPr>
              <a:t>在死亡發生前，先找出高風險位置。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D922DC5-84D9-4123-B5AD-9537738B4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048125"/>
            <a:ext cx="323850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24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918B117-D5F5-4F35-892B-A223F897B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048125"/>
            <a:ext cx="7620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F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041C4A1-C37C-4D84-AC7E-70023D07A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257675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需要多重防護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E6AC93B-FA31-4A46-8DA7-E79A5128E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714875"/>
            <a:ext cx="2714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350" b="0">
                <a:solidFill>
                  <a:srgbClr val="D5D0C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D5D0C7"/>
                </a:solidFill>
                <a:latin typeface="Microsoft JhengHei"/>
                <a:ea typeface="Microsoft JhengHei"/>
                <a:cs typeface="Microsoft JhengHei"/>
              </a:rPr>
              <a:t>一道防線失敗，還有下一道保住生命。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838C0D2-E175-45B4-A65E-A74B53551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BDB9B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>
                <a:solidFill>
                  <a:srgbClr val="BDB9B0"/>
                </a:solidFill>
                <a:latin typeface="Microsoft JhengHei"/>
                <a:ea typeface="Microsoft JhengHei"/>
                <a:cs typeface="Microsoft JhengHei"/>
              </a:rPr>
              <a:t>來源：FHWA, Zero Deaths and Safe System。</a:t>
            </a:r>
          </a:p>
        </p:txBody>
      </p:sp>
    </p:spTree>
    <p:extLst>
      <p:ext uri="{BB962C8B-B14F-4D97-AF65-F5344CB8AC3E}">
        <p14:creationId xmlns:p14="http://schemas.microsoft.com/office/powerpoint/2010/main" val="7438388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6F2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9510B0E-8798-4023-83E6-D28BAA090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91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36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B4620E-0015-4437-9BBF-0E3050D4B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責任必須被看見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DCB76D-3B2E-4890-BC92-103035976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9906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教育只是五道防線之一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865762-F2B0-4756-B2AE-899468BD1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71625"/>
            <a:ext cx="7239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rPr>
              <a:t>不能獨自背負安全結果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E550CE-893C-4DC5-9D81-2E2A98311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1905000" cy="200025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75D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448255-22A8-41B8-A856-F1BC1D277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476625"/>
            <a:ext cx="15621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安全用路人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C21226-440F-46BF-9896-CE319F5CD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714625"/>
            <a:ext cx="1905000" cy="200025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1787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95D7D4-BA7F-43E0-8053-7EC47F99D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476625"/>
            <a:ext cx="15621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安全道路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423DF3-7213-40F5-AC30-565B838B8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714625"/>
            <a:ext cx="1905000" cy="200025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05A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31F196-3EDF-4092-9C8A-1DA874479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476625"/>
            <a:ext cx="15621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安全速度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E6037D-75E7-433B-93FA-D3DED8A72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714625"/>
            <a:ext cx="1905000" cy="200025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8C5D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85639F-F925-4D60-97D2-EF3A1D256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476625"/>
            <a:ext cx="15621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安全車輛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6B872A-1C6A-4A6A-915F-566D080A7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714625"/>
            <a:ext cx="1905000" cy="200025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5551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138A335-CD8E-4B51-8FB2-E3B98B8BE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476625"/>
            <a:ext cx="15621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事故後照護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3FE869E-B3D2-4690-93DE-658105C2B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91125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任何一層失效，其他層都應降低後果；這才叫系統。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50E38F8-BC59-43FC-B169-382FBAA29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來源：FHWA Safe System elements。</a:t>
            </a:r>
          </a:p>
        </p:txBody>
      </p:sp>
    </p:spTree>
    <p:extLst>
      <p:ext uri="{BB962C8B-B14F-4D97-AF65-F5344CB8AC3E}">
        <p14:creationId xmlns:p14="http://schemas.microsoft.com/office/powerpoint/2010/main" val="59366419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429E38-A2F1-4318-A665-E38BDABA0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91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37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373DCC-0CDF-49CD-80EF-B1BED5450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教育的邊界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9890E9-3725-4F5B-B071-9F7312461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38250"/>
            <a:ext cx="4953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只給資訊，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6A5AFF-E06E-41AB-AE6F-56DEF97AC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0500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3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rPr>
              <a:t>幾乎不會單獨奏效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05866E-C646-47C8-B701-1EB74F0E0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0375"/>
            <a:ext cx="53340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187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FHWA 的人因教材直接指出：僅提供資訊通常無法改變行為。教育要與工程、執法、制度與可行選擇一起發生。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53DA73-9119-4829-B2CE-D75A298C2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428750"/>
            <a:ext cx="41910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5B4BD5-2C31-4CFE-AD27-F44E373CB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952625"/>
            <a:ext cx="32385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1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不要把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31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工程怠惰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31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的後果，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31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歸咎到教育上。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17EF87-A462-4F22-8D98-BE2D133ED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572000"/>
            <a:ext cx="2000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F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2A5DC6-774C-40EE-9899-5ECEBA564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來源：FHWA Road Safety Fundamentals, Unit 2；使用者原簡報第 14 頁。</a:t>
            </a:r>
          </a:p>
        </p:txBody>
      </p:sp>
    </p:spTree>
    <p:extLst>
      <p:ext uri="{BB962C8B-B14F-4D97-AF65-F5344CB8AC3E}">
        <p14:creationId xmlns:p14="http://schemas.microsoft.com/office/powerpoint/2010/main" val="419932981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6F2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EC9865-599C-416D-8701-935B13061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91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38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E6EA4F-B669-4737-B1D3-A214CD544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在地經驗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F18707-F28A-40FD-899A-F3C236D99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5905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環境決定人能不能做對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A94755-2E76-4733-856A-E354B50DB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33625"/>
            <a:ext cx="47625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187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一句「十次車禍九次快」，敵不過讓駕駛自然減速、縮短穿越距離、提升可見性的工程。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058DCA-4D30-46A3-A095-86B22AB8C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4857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250" b="1">
                <a:solidFill>
                  <a:srgbClr val="1787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7877D"/>
                </a:solidFill>
                <a:latin typeface="Microsoft JhengHei"/>
                <a:ea typeface="Microsoft JhengHei"/>
                <a:cs typeface="Microsoft JhengHei"/>
              </a:rPr>
              <a:t>教育教判斷；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2250" b="1">
                <a:solidFill>
                  <a:srgbClr val="1787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7877D"/>
                </a:solidFill>
                <a:latin typeface="Microsoft JhengHei"/>
                <a:ea typeface="Microsoft JhengHei"/>
                <a:cs typeface="Microsoft JhengHei"/>
              </a:rPr>
              <a:t>環境讓正確判斷做得到。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9D595A-086C-4342-806E-D3999A1C3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095375"/>
            <a:ext cx="51435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71717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36ff2c190646b6"/>
          <a:stretch xmlns:a="http://schemas.openxmlformats.org/drawingml/2006/main"/>
        </p:blipFill>
        <p:spPr>
          <a:xfrm xmlns:a="http://schemas.openxmlformats.org/drawingml/2006/main">
            <a:off x="6229350" y="1750219"/>
            <a:ext cx="4953000" cy="2786063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A772C8-A4C2-488B-9BD5-FAC11BDC9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334000"/>
            <a:ext cx="47625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F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815B61-E078-4ED0-A658-3FB4E1711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案例來源：使用者原簡報第 10–11 頁；圖片為臺北路口降速措施案例。</a:t>
            </a:r>
          </a:p>
        </p:txBody>
      </p:sp>
    </p:spTree>
    <p:extLst>
      <p:ext uri="{BB962C8B-B14F-4D97-AF65-F5344CB8AC3E}">
        <p14:creationId xmlns:p14="http://schemas.microsoft.com/office/powerpoint/2010/main" val="1159638974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07F6A5-75FA-4C13-A607-5082CFDED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91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39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D0BB5C-890F-48E0-AD75-D6E4F229A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國外不是更會宣導，而是更早改變系統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9C762A-5AA8-4D22-98B7-F353D35DC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9906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瑞典與荷蘭把安全放進設計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52D0AA-D7A8-4F4E-A4EA-9034A67B9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28875"/>
            <a:ext cx="5048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8D37DF-73E3-4103-AD18-60E56C556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4857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8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瑞典｜Vision Zero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A2BDEA-62AC-4C60-99DA-EC10C38B9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81375"/>
            <a:ext cx="4762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80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1997 年成為國家政策。倫理前提是死亡與重傷不可接受；道路系統設計者必須承擔防止嚴重後果的責任。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650DBD-B149-4A9C-B313-069CD0B2E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428875"/>
            <a:ext cx="5048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87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41A601-81F3-4D8F-9F5E-F56AF6E99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714625"/>
            <a:ext cx="4857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87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850" b="1">
                <a:solidFill>
                  <a:srgbClr val="17877D"/>
                </a:solidFill>
                <a:latin typeface="Microsoft JhengHei"/>
                <a:ea typeface="Microsoft JhengHei"/>
                <a:cs typeface="Microsoft JhengHei"/>
              </a:rPr>
              <a:t>荷蘭｜Sustainable Safety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27893B-F425-4592-8328-104F5722D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381375"/>
            <a:ext cx="4762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80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道路功能要清楚、速度與使用者相容、設計可預期、容錯且具限制性；安全是設計原則，不是補救活動。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464F39-C039-4E88-A432-E35D256DF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來源：Swedish Transport Administration / Vision Zero Academy；SWOV Sustainable Road Safety。</a:t>
            </a:r>
          </a:p>
        </p:txBody>
      </p:sp>
    </p:spTree>
    <p:extLst>
      <p:ext uri="{BB962C8B-B14F-4D97-AF65-F5344CB8AC3E}">
        <p14:creationId xmlns:p14="http://schemas.microsoft.com/office/powerpoint/2010/main" val="381630869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6F2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732B63C-AE00-4631-8703-021F10505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91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C0F537-A4D6-4E44-87CD-505E31A2B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教育仍然重要，但角色要精準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D9FC46-43F0-445D-A89C-8C76E6F0F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9906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學校真正該教的三件事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7B666D-E387-4BC3-8BFB-DBCE48168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28875"/>
            <a:ext cx="32385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A26A9D-248B-4B95-88B8-470E06F00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91125"/>
            <a:ext cx="32385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87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4B4B98-7A41-488C-B254-846E974C2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6225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保護自己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1372E2-F915-4EC7-A247-0F69AE43C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429000"/>
            <a:ext cx="26670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65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風險感知、視線死角、速度判斷、防衛性用路與不同環境的應變。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A4CD3B-4B21-47C2-8449-D07AE8A75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428875"/>
            <a:ext cx="32385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E70D09-59DB-4130-A7E3-2AFB360BF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5191125"/>
            <a:ext cx="32385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F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42DBF3-2E1B-4E4B-8279-A706F5BA4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76225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看懂系統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2A037F-D9B9-40A9-AA84-583E17D34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429000"/>
            <a:ext cx="26670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65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辨識道路功能、穿越距離、車速、衝突點，以及設計如何影響行為。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C6AE95-2CB6-4935-8AC2-FC366EA61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428875"/>
            <a:ext cx="32385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EA53E5-17A6-405F-BB4A-1F0D36545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191125"/>
            <a:ext cx="32385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5A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E0833D-5141-4003-B87B-CCE6A52E2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76225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參與改變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A37CDE9-ED2E-46D1-9139-C8944846F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429000"/>
            <a:ext cx="26670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65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調查通學路線、提出改善方案、與公部門溝通，成為支持人本交通的公民。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F823D5-7B5F-4420-92D6-6CB1CDA80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內容整合：Safe System、人本交通與使用者原簡報第 20–25 頁。</a:t>
            </a:r>
          </a:p>
        </p:txBody>
      </p:sp>
    </p:spTree>
    <p:extLst>
      <p:ext uri="{BB962C8B-B14F-4D97-AF65-F5344CB8AC3E}">
        <p14:creationId xmlns:p14="http://schemas.microsoft.com/office/powerpoint/2010/main" val="1004790224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1717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BC951C5-0682-4C7B-8E64-0F1589CF5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91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BDB9B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BDB9B0"/>
                </a:solidFill>
                <a:latin typeface="Microsoft JhengHei"/>
                <a:ea typeface="Microsoft JhengHei"/>
                <a:cs typeface="Microsoft JhengHei"/>
              </a:rPr>
              <a:t>41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9C51B7-509A-43FC-BCDB-E0CED63E0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不用再新增一套大型課程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F72968-F7B8-416B-8E25-3441E1A75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9906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2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2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一支影片，轉成 10 分鐘的公民課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3EEAC4-07BB-4CE6-9E43-0953A488E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0"/>
            <a:ext cx="23812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24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23E14E-636C-47B8-8315-4DC42BAA6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0"/>
            <a:ext cx="2381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F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9FACD8-0A61-4815-BB06-EBBC2B7A0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48000"/>
            <a:ext cx="1952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看見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15B1BB-5B80-4338-A3FA-0E9E2084D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667125"/>
            <a:ext cx="19526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500" b="0">
                <a:solidFill>
                  <a:srgbClr val="D5D0C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D5D0C7"/>
                </a:solidFill>
                <a:latin typeface="Microsoft JhengHei"/>
                <a:ea typeface="Microsoft JhengHei"/>
                <a:cs typeface="Microsoft JhengHei"/>
              </a:rPr>
              <a:t>哪個位置讓人不安？誰最脆弱？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BA34A8-0097-4DC5-99BE-FE0494DE7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667000"/>
            <a:ext cx="23812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24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170AA1-93AB-432B-B414-0FF43C8C0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667000"/>
            <a:ext cx="2381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F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3DF73F-1D82-4E01-8086-E1D626CBE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048000"/>
            <a:ext cx="1952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命名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0D92EF-61FF-46C5-BB1C-28E3FA144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667125"/>
            <a:ext cx="19526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500" b="0">
                <a:solidFill>
                  <a:srgbClr val="D5D0C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D5D0C7"/>
                </a:solidFill>
                <a:latin typeface="Microsoft JhengHei"/>
                <a:ea typeface="Microsoft JhengHei"/>
                <a:cs typeface="Microsoft JhengHei"/>
              </a:rPr>
              <a:t>問題是速度、視距、動線，還是責任設計？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82BA23-C749-43AF-9D0C-3E59ABC9A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667000"/>
            <a:ext cx="23812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24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C22A58-2247-4A43-B0F6-ED7E1F7F8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667000"/>
            <a:ext cx="2381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F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A5ABDA0-4E4A-4B91-A041-5CE2B0F97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048000"/>
            <a:ext cx="1952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重畫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31D5C56-0AA3-406A-9758-83F053164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667125"/>
            <a:ext cx="19526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500" b="0">
                <a:solidFill>
                  <a:srgbClr val="D5D0C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D5D0C7"/>
                </a:solidFill>
                <a:latin typeface="Microsoft JhengHei"/>
                <a:ea typeface="Microsoft JhengHei"/>
                <a:cs typeface="Microsoft JhengHei"/>
              </a:rPr>
              <a:t>如果容許人犯錯，道路要改哪一處？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CC337BA-2EA4-45BA-9B61-6EF3C1AFB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667000"/>
            <a:ext cx="23812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24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ADC0FE4-3D05-43F8-9DDD-10C38639D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667000"/>
            <a:ext cx="2381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F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12BE3DF-EE94-4888-B997-56859E2C3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048000"/>
            <a:ext cx="1952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發聲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6B727A6-B175-4B0A-87C7-4B1B1F982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667125"/>
            <a:ext cx="19526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500" b="0">
                <a:solidFill>
                  <a:srgbClr val="D5D0C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D5D0C7"/>
                </a:solidFill>
                <a:latin typeface="Microsoft JhengHei"/>
                <a:ea typeface="Microsoft JhengHei"/>
                <a:cs typeface="Microsoft JhengHei"/>
              </a:rPr>
              <a:t>用一張圖、一段理由，提出可回應的建議。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8650513-E779-4688-BBC0-6156A43CB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BDB9B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>
                <a:solidFill>
                  <a:srgbClr val="BDB9B0"/>
                </a:solidFill>
                <a:latin typeface="Microsoft JhengHei"/>
                <a:ea typeface="Microsoft JhengHei"/>
                <a:cs typeface="Microsoft JhengHei"/>
              </a:rPr>
              <a:t>教學轉譯建議：觀察 → 系統語言 → 設計 → 公民表達。</a:t>
            </a:r>
          </a:p>
        </p:txBody>
      </p:sp>
    </p:spTree>
    <p:extLst>
      <p:ext uri="{BB962C8B-B14F-4D97-AF65-F5344CB8AC3E}">
        <p14:creationId xmlns:p14="http://schemas.microsoft.com/office/powerpoint/2010/main" val="2129774246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1964557-2603-452C-B0A7-C30F73759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91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42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0E2467-2959-4C21-90AE-13A5862A0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影片不是答案，是討論的起點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6D40FA-7B08-4ECB-BEAF-A23442313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9906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三支可直接使用的影片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34F32D-735D-4492-81B2-1B0238FFC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3837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4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66F8C7-7992-4B95-B061-C1F2F673C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66975"/>
            <a:ext cx="952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rPr>
              <a:t>5′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2EA935-A16A-4ACB-B8B4-647F41E05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457450"/>
            <a:ext cx="581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FHWA｜The Safe System Approach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6E8DC7-FEF4-43A1-AFF5-0C782678C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847975"/>
            <a:ext cx="581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官方資源：人會犯錯、責任共享、多重防護。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7E08EE-95E6-4854-8491-7AE61E18C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600325"/>
            <a:ext cx="3190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highways.dot.gov/safety/zero-deaths/zero-deaths-resources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E8042F-1DB2-48CC-8B76-1E16F31CB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766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4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66080E-4561-4227-802F-EF49653D7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05225"/>
            <a:ext cx="952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rPr>
              <a:t>8′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E6E68D-B098-4AF3-85B9-0678D9D1F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695700"/>
            <a:ext cx="581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BicycleDutch｜Systematic Safety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271E8C-3FEA-407F-886D-F7006FACC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086225"/>
            <a:ext cx="581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荷蘭街道如何把 Vision Zero 變成系統設計。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BF0F8F-944A-4076-9778-320C5E7D3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838575"/>
            <a:ext cx="3190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youtu.be/5aNtsWvNYKE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4FC2EF-3997-47BA-B02C-56C326A68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1487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4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54F95A-FE34-4D3F-8D8B-CD759F991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43475"/>
            <a:ext cx="952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rPr>
              <a:t>5′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5994A00-791E-4388-9CD5-CA33A50F6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933950"/>
            <a:ext cx="581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Not Just Bikes｜Traffic Calming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047C27-7B4D-42F4-8A37-6E77C82DF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324475"/>
            <a:ext cx="581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觀察自我解釋的減速設計，而非只看速限牌。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94CF43C-A769-496E-9400-0D9794415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5076825"/>
            <a:ext cx="3190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youtu.be/bAxRYrpbnuA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DA38A3A-292D-480B-BE51-A08128C0A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非官方影片用於引發觀察與比較；政策事實請回到 FHWA、WHO、SWOV 等來源。</a:t>
            </a:r>
          </a:p>
        </p:txBody>
      </p:sp>
    </p:spTree>
    <p:extLst>
      <p:ext uri="{BB962C8B-B14F-4D97-AF65-F5344CB8AC3E}">
        <p14:creationId xmlns:p14="http://schemas.microsoft.com/office/powerpoint/2010/main" val="1159205631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6F2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F01536D-CC09-4F76-BCC9-C3275B6D3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91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43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944130-81CB-4561-AF16-F16F7043F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不加課，把零散議題變成進程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99AA24-9BA4-42BA-8F8A-77F96A0F8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9906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把既有班會課排成可累積的能力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353349-EB69-4CAC-A9E3-A4EB56EFB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1562100" cy="2524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6964E9-7720-4818-8B84-3C4F7731B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15621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5D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8707B4-12FD-48DE-913B-CD201D0B7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57500"/>
            <a:ext cx="1238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七上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799058-F3D1-4E40-937C-5333F1F71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29000"/>
            <a:ext cx="1238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35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我家在這裡：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35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畫出通學路線與風險點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14A79B-BBD5-4F98-A0FD-79636DB30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571750"/>
            <a:ext cx="1562100" cy="2524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3AA755-B937-44C5-993C-DA8D59E7C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571750"/>
            <a:ext cx="15621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87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AEAF7F-D1F4-4C84-A087-27B6C9DAF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857500"/>
            <a:ext cx="1238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七下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9319A2-A782-4433-82E4-E83A9E511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429000"/>
            <a:ext cx="1238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35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危險路口：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35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停、看、聽與視距判斷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330612-53CB-4F49-A5C1-90187DD1B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571750"/>
            <a:ext cx="1562100" cy="2524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727524C-93B5-4BE4-A24A-FAD363075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571750"/>
            <a:ext cx="15621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5D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358F889-1E11-4B63-A5C8-52200B94C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857500"/>
            <a:ext cx="1238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八上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8062551-A7C0-411C-9A64-C7D168741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429000"/>
            <a:ext cx="1238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35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行路禮儀：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35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權利義務與弱勢用路人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313057-9F3B-4934-8C44-45330E738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571750"/>
            <a:ext cx="1562100" cy="2524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CF442D9-5D9A-4FAF-B561-8666D39A8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571750"/>
            <a:ext cx="15621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87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0D0F483-6846-40A2-BE7C-7CAC2402A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857500"/>
            <a:ext cx="1238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八下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5C6068F-285A-4F52-A441-736715DAD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429000"/>
            <a:ext cx="1238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35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乘車安全：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35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速度、碰撞與防護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1FA49DF-D71F-46FB-9CC4-4CF2DDB46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571750"/>
            <a:ext cx="1562100" cy="2524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6F186F4-06DC-483E-ADD0-80C79D297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571750"/>
            <a:ext cx="15621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5D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396414E-70F6-405E-BEA1-36AEF0FE8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857500"/>
            <a:ext cx="1238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九上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7C6AF06-B39D-4EED-9970-0951AFE14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429000"/>
            <a:ext cx="1238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35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大眾運輸：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35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公共空間與移動公平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B6A2B2C-FD30-4554-BCC1-30CB83789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571750"/>
            <a:ext cx="1562100" cy="2524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0934AB2-5A46-4FAB-9873-8AFEFDA67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571750"/>
            <a:ext cx="15621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87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39C5A88-A6F4-4180-BF97-7C0B59846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2857500"/>
            <a:ext cx="1238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九下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ECD1E6A-7572-4295-8D36-19B9F1295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3429000"/>
            <a:ext cx="1238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35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防衛駕駛：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35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Safe System 與公民提案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E3177B4-F0B6-4F5A-8021-ADABE4021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改寫自使用者原簡報第 25–26 頁。</a:t>
            </a:r>
          </a:p>
        </p:txBody>
      </p:sp>
    </p:spTree>
    <p:extLst>
      <p:ext uri="{BB962C8B-B14F-4D97-AF65-F5344CB8AC3E}">
        <p14:creationId xmlns:p14="http://schemas.microsoft.com/office/powerpoint/2010/main" val="648086586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D2C8B2-13A3-4974-B957-3B8FB3FDF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91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44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874CC8-8304-4D01-95E8-65335D688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減量，才有可能做深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A04144-0863-4BE3-9A73-364414B30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9906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停止堆疊，開始聚焦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70E4EA-7B12-4158-9456-E8C38DB87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47625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5A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447F4D-3462-4ABA-A0B9-B48E809A7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0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00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rPr>
              <a:t>STOP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C0E914-A533-430C-87A3-C29C6FC61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0"/>
            <a:ext cx="4762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72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• 為訪視臨時補照片與成果冊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72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• 用口號與道德勸說責怪弱勢者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72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• 每個社會問題都新增一堂課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72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• 用活動數量代替風險變化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30A07E-796F-401C-AA2B-C43F79CE4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381250"/>
            <a:ext cx="47625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87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49A3D6-5BEC-4271-B974-87F73ECD8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667000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787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000" b="1">
                <a:solidFill>
                  <a:srgbClr val="17877D"/>
                </a:solidFill>
                <a:latin typeface="Microsoft JhengHei"/>
                <a:ea typeface="Microsoft JhengHei"/>
                <a:cs typeface="Microsoft JhengHei"/>
              </a:rPr>
              <a:t>START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948880-B404-443D-B0A1-61D6D47BF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333750"/>
            <a:ext cx="4762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72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• 每年做一次通學路線風險盤點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72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• 每屆完成一個學生改善提案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72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• 跨公民、數學、科技課共用素材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72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• 同一網站即時保存真實工作</a:t>
            </a:r>
          </a:p>
        </p:txBody>
      </p:sp>
    </p:spTree>
    <p:extLst>
      <p:ext uri="{BB962C8B-B14F-4D97-AF65-F5344CB8AC3E}">
        <p14:creationId xmlns:p14="http://schemas.microsoft.com/office/powerpoint/2010/main" val="1822148381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6F2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DF1D15-316B-475D-943A-C108FC108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91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45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B108B8-D8BE-4E3F-AE13-DBB85AE67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共同責任不是共同甩鍋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68E50D-F14E-4E60-B868-508D9B812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9906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學校負責學習；政府負責讓改變發生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73D0C1-978A-4E4C-910E-9B35E1B28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409575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5C26FE-E239-46AB-AB6B-8B024B026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667000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學校可以承擔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0AC7AE-6AF5-4D75-BB49-616E5A999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33750"/>
            <a:ext cx="333375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57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• 學生風險感知與系統素養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57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• 通學經驗與風險點的回報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57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• 跨領域公民提案與公共溝通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57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• 校內接送管理與志工協作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DE58DB-F9C6-4E18-BF95-64F259909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2381250"/>
            <a:ext cx="6410325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21BA95-10B5-44DD-B84C-859A38924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2667000"/>
            <a:ext cx="571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主管機關／教授／交通專業必須承擔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BA2E3F-766E-4B40-BD5B-DF3AA8694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3333750"/>
            <a:ext cx="561975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500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• 道路設計、速度管理與執法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500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• 風險資料、工程優先順序與改善時程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500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• 一致、可重現、有申訴機制的評估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500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• 刪減行政要求並提供人力、經費、素材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500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• 學校提報後得到正式工程回應</a:t>
            </a:r>
          </a:p>
        </p:txBody>
      </p:sp>
    </p:spTree>
    <p:extLst>
      <p:ext uri="{BB962C8B-B14F-4D97-AF65-F5344CB8AC3E}">
        <p14:creationId xmlns:p14="http://schemas.microsoft.com/office/powerpoint/2010/main" val="1047165928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207860C-CEB4-421B-B18D-17548F890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91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46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E2BD82-845B-4461-A69D-39F895EAC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建議的新評估邏輯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2104B2-0C85-4000-96FE-8AF923412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9906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評鑑要從「資料齊全」走向「安全改變」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A97A4F-7D52-4E54-9C27-4DC4FA541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238125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4B9E99-F85E-4FBC-AC4C-BE920DE22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238125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6A6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847D96-BFFB-4B6C-8C32-3631988FE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05125"/>
            <a:ext cx="200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流程證據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890E08-307B-47DB-98C0-046DC05A0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2000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50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是否建立跨局處責任、風險提報與回應機制？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8BE865-A07B-4822-953A-DDC64AB9D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571750"/>
            <a:ext cx="238125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7A32FB9-1B00-4736-AFA8-63FC3759E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571750"/>
            <a:ext cx="238125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F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E33F73-64F5-42B0-8428-531461817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905125"/>
            <a:ext cx="200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產出證據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690D13-512B-4E3B-872C-0447E960E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571875"/>
            <a:ext cx="2000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50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完成哪些工程、課程與學生提案？品質如何？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BE42A1-0D7B-4DEA-A58C-B0110B93F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571750"/>
            <a:ext cx="238125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40E2EE3-B663-4406-9BE2-9471D1484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571750"/>
            <a:ext cx="238125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87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F4384F-2225-4AF5-BC26-B5D66251B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905125"/>
            <a:ext cx="200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結果證據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8468F95-2DE9-4069-9179-3E89CD704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571875"/>
            <a:ext cx="2000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50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車速、停讓、衝突點、通學感受與系統理解是否改善？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4D136B8-5A12-4346-9BD2-5E3B73225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571750"/>
            <a:ext cx="238125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006C5E7-659A-4DE0-9C1F-C72FFCFC5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571750"/>
            <a:ext cx="238125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5A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76AD667-F05C-4DBF-854B-5A98AF454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905125"/>
            <a:ext cx="200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可信機制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FDEE22B-E56F-44E3-8274-E40B5452A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571875"/>
            <a:ext cx="2000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50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評分者校準、多重證據、公開準則、回饋與申訴。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6BF2CE2-1549-421C-8BE8-8619A679A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評估設計參考：UK Government Magenta Book；Safe System proactive safety。</a:t>
            </a:r>
          </a:p>
        </p:txBody>
      </p:sp>
    </p:spTree>
    <p:extLst>
      <p:ext uri="{BB962C8B-B14F-4D97-AF65-F5344CB8AC3E}">
        <p14:creationId xmlns:p14="http://schemas.microsoft.com/office/powerpoint/2010/main" val="131655338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1717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DC3D89B-5952-42F1-90E0-96FE52C5C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91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BDB9B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BDB9B0"/>
                </a:solidFill>
                <a:latin typeface="Microsoft JhengHei"/>
                <a:ea typeface="Microsoft JhengHei"/>
                <a:cs typeface="Microsoft JhengHei"/>
              </a:rPr>
              <a:t>47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D93694-B088-4DEF-80EB-4F6A98E51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請把制度改成支持安全，而不是生產資料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DFFA53-05E7-40E8-976A-613AB891C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9906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2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2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給教授與長官的三個請求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D78AA1-FE69-46AE-9119-0A38C3E04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2887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55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95E7AE-CB4C-498E-9FEA-71B7CC71D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38425"/>
            <a:ext cx="952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FCF3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FFCF33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60BDF4-A6EB-4A15-91A1-8AF46300E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695575"/>
            <a:ext cx="9144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少看一本成果冊，多看一條通學路。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B27F82-908A-40FC-B781-38F298C7A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7187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55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46221C-8D50-466C-AAD0-CAF4C085D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81425"/>
            <a:ext cx="952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FCF3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FFCF33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94F247-74F4-48FB-8323-30053E18B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838575"/>
            <a:ext cx="9144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新增任務前，先刪除等量行政負擔。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EA30B8-6CAA-482C-8064-2972EBF99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1487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55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454E041-E628-424B-BAEF-DB0DC0055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24425"/>
            <a:ext cx="952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FCF3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FFCF33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159308-C5C8-4D1C-A753-D8167E95E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981575"/>
            <a:ext cx="9144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學校提出風險後，請給工程回應、時程與責任人。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8B130C-31DB-4678-8580-51DFAD9C2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BDB9B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>
                <a:solidFill>
                  <a:srgbClr val="BDB9B0"/>
                </a:solidFill>
                <a:latin typeface="Microsoft JhengHei"/>
                <a:ea typeface="Microsoft JhengHei"/>
                <a:cs typeface="Microsoft JhengHei"/>
              </a:rPr>
              <a:t>本頁為演講者依教育現場經驗提出的制度倡議。</a:t>
            </a:r>
          </a:p>
        </p:txBody>
      </p:sp>
    </p:spTree>
    <p:extLst>
      <p:ext uri="{BB962C8B-B14F-4D97-AF65-F5344CB8AC3E}">
        <p14:creationId xmlns:p14="http://schemas.microsoft.com/office/powerpoint/2010/main" val="645100863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FCF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5A47C5-A189-4DE4-BC6E-77175554F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91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48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2B3B62-3544-4C69-8FE2-B96A95A0C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最後，不要只問學校做了幾份資料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0F0937-BBB5-40C9-8EC5-60940BCDC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7620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9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請問孩子走出校門時，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7C69B3-E954-47E9-AD2D-0CE0667B3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71700"/>
            <a:ext cx="8191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43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350" b="1">
                <a:solidFill>
                  <a:srgbClr val="F05A47"/>
                </a:solidFill>
                <a:latin typeface="Microsoft JhengHei"/>
                <a:ea typeface="Microsoft JhengHei"/>
                <a:cs typeface="Microsoft JhengHei"/>
              </a:rPr>
              <a:t>這個系統，容許他犯一次錯嗎？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E8840E-FF6F-4F90-8E24-F5B0B0033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38625"/>
            <a:ext cx="6000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A42CC0-0F6F-41B6-9054-4CC4BB677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428750"/>
            <a:ext cx="2095500" cy="2762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c65e2758fe4d16"/>
          <a:stretch xmlns:a="http://schemas.openxmlformats.org/drawingml/2006/main"/>
        </p:blipFill>
        <p:spPr>
          <a:xfrm xmlns:a="http://schemas.openxmlformats.org/drawingml/2006/main">
            <a:off x="9144000" y="1619250"/>
            <a:ext cx="1714500" cy="1714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60FB38-719E-4A21-9E33-7330D0A17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3619500"/>
            <a:ext cx="1809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案例資料網站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DDEC1F-9FBC-42B6-8CC7-B0DB03472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網站：https://sites.google.com/mail.zgjh.hc.edu.tw/safe/首頁</a:t>
            </a:r>
          </a:p>
        </p:txBody>
      </p:sp>
    </p:spTree>
    <p:extLst>
      <p:ext uri="{BB962C8B-B14F-4D97-AF65-F5344CB8AC3E}">
        <p14:creationId xmlns:p14="http://schemas.microsoft.com/office/powerpoint/2010/main" val="537597955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602631D-ACA9-4C48-AAFD-6433D25A0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91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49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16072B-45E2-4F97-9887-B0F64DB72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帶回去繼續看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1E99CC-47CD-49AD-B365-AE6BFBC60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9906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延伸資源與影片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5470D6-625D-40FF-B7CB-6B512065A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4857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4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1C4F9F-C6AC-439D-8B03-AF6E60D52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574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WHO｜Global road safety 2023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672904-892E-4CB6-82CC-BEF34A0F8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384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who.int/publications/b/68866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613908-17EE-44B3-A90A-DF4168B5B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286000"/>
            <a:ext cx="4857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4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F6E713-C11F-41A0-A2D2-D503F4E46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4574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FHWA｜Zero Deaths and Safe System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EC7FD0-6673-47ED-8DE7-A0BAEB4FC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384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highways.dot.gov/safety/zero-deaths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71FBB4-1DA3-46C4-AD4B-5D74E6D80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0"/>
            <a:ext cx="4857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4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4F69D7-291C-4F52-B074-339031BD2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004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SWOV｜Sustainable Road Safety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6E0957-6616-4219-89A6-AE658B5F1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814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swov.nl/.../FS Sustainable Safety.pdf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64C090-1104-4CA1-8401-5CA8AC89A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429000"/>
            <a:ext cx="4857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4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B430D5-C697-4172-8305-D9EB2F231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6004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OECD｜TALIS 2024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6F8410-FB9F-4829-8C23-48DD8FFAF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9814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oecd.org/.../the-demands-of-teaching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2B37C39-904A-4273-A2E6-90F9320EA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0"/>
            <a:ext cx="4857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4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1C1E44C-E5F8-4F4A-8FED-8F81C6D80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434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BicycleDutch｜Systematic Safety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1C5CBA6-2073-4274-A05E-C0E1A805C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244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youtu.be/5aNtsWvNYKE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13A90B4-8762-4F4C-BDB9-86FC94332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572000"/>
            <a:ext cx="4857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4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C1F9887-22A2-486F-966B-BDA32A302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7434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Not Just Bikes｜Traffic Calming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F8D820D-19E1-4D0D-9B5B-979053855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51244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youtu.be/bAxRYrpbnuA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E4E2C21-9254-44D4-A702-A84209AE9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完整來源與使用說明見本專案 SOURCES.md。</a:t>
            </a:r>
          </a:p>
        </p:txBody>
      </p:sp>
    </p:spTree>
    <p:extLst>
      <p:ext uri="{BB962C8B-B14F-4D97-AF65-F5344CB8AC3E}">
        <p14:creationId xmlns:p14="http://schemas.microsoft.com/office/powerpoint/2010/main" val="1800503513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6F2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BDBD85-E31A-47C8-B9B1-1D6C4953F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91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C6D9EC-48DB-46F4-9E7A-A8BCC53E4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附錄｜案例證據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0842FC-FF95-49C7-A0B3-AA8CE413E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5715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200" b="1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原始訪視材料保留為案例證據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DA6A10-6A41-4EDF-A277-61C7AB1A0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28875"/>
            <a:ext cx="4762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95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71717"/>
                </a:solidFill>
                <a:latin typeface="Microsoft JhengHei"/>
                <a:ea typeface="Microsoft JhengHei"/>
                <a:cs typeface="Microsoft JhengHei"/>
              </a:rPr>
              <a:t>平時即時上傳、訪視重點、教授建議與評分表都應被保留；但它們證明的是工作歷程，不自動等於道路風險下降。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322873-67B7-410D-BBA5-EE48374FB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095375"/>
            <a:ext cx="5181600" cy="423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71717"/>
            </a:solidFill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52e89b5b7342f3"/>
          <a:stretch xmlns:a="http://schemas.openxmlformats.org/drawingml/2006/main"/>
        </p:blipFill>
        <p:spPr>
          <a:xfrm xmlns:a="http://schemas.openxmlformats.org/drawingml/2006/main">
            <a:off x="6191250" y="1810941"/>
            <a:ext cx="4991100" cy="2807494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178267-19A9-4F70-994E-AE9E2A734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505450"/>
            <a:ext cx="457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F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FC3839-1EBC-4948-8158-BAD7474C2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>
                <a:solidFill>
                  <a:srgbClr val="6D6A63"/>
                </a:solidFill>
                <a:latin typeface="Microsoft JhengHei"/>
                <a:ea typeface="Microsoft JhengHei"/>
                <a:cs typeface="Microsoft JhengHei"/>
              </a:rPr>
              <a:t>案例來源：使用者原簡報第 32–36 頁。</a:t>
            </a:r>
          </a:p>
        </p:txBody>
      </p:sp>
    </p:spTree>
    <p:extLst>
      <p:ext uri="{BB962C8B-B14F-4D97-AF65-F5344CB8AC3E}">
        <p14:creationId xmlns:p14="http://schemas.microsoft.com/office/powerpoint/2010/main" val="185393236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2026-07-22T23:13:19.9780000Z</dcterms:created>
  <dcterms:modified xsi:type="dcterms:W3CDTF">2026-07-22T23:13:19.9780000Z</dcterms:modified>
</coreProperties>
</file>