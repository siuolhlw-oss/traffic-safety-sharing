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b4c6b808b842c4" /><Relationship Type="http://schemas.openxmlformats.org/officeDocument/2006/relationships/extended-properties" Target="/docProps/app.xml" Id="Rae4b1dea32124f63" /><Relationship Type="http://schemas.openxmlformats.org/officeDocument/2006/relationships/officeDocument" Target="/ppt/presentation.xml" Id="R05cf3ccb6f0a47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026d1d144f488a"/>
  </p:sldMasterIdLst>
  <p:notesMasterIdLst>
    <p:notesMasterId xmlns:r="http://schemas.openxmlformats.org/officeDocument/2006/relationships" r:id="R77661c1b163848e0"/>
  </p:notesMasterIdLst>
  <p:sldIdLst>
    <p:sldId xmlns:r="http://schemas.openxmlformats.org/officeDocument/2006/relationships" id="256" r:id="R308cd5e5821345c6"/>
    <p:sldId xmlns:r="http://schemas.openxmlformats.org/officeDocument/2006/relationships" id="257" r:id="R9e9b263056ad426c"/>
    <p:sldId xmlns:r="http://schemas.openxmlformats.org/officeDocument/2006/relationships" id="258" r:id="Re1a43d7d368142a0"/>
    <p:sldId xmlns:r="http://schemas.openxmlformats.org/officeDocument/2006/relationships" id="259" r:id="R85007032f46945df"/>
    <p:sldId xmlns:r="http://schemas.openxmlformats.org/officeDocument/2006/relationships" id="260" r:id="R14b9941f4f3e4175"/>
    <p:sldId xmlns:r="http://schemas.openxmlformats.org/officeDocument/2006/relationships" id="261" r:id="Rbbbf05da315e45e0"/>
    <p:sldId xmlns:r="http://schemas.openxmlformats.org/officeDocument/2006/relationships" id="262" r:id="R8506357236ba4d57"/>
    <p:sldId xmlns:r="http://schemas.openxmlformats.org/officeDocument/2006/relationships" id="263" r:id="R8e883a1cf7e148dd"/>
    <p:sldId xmlns:r="http://schemas.openxmlformats.org/officeDocument/2006/relationships" id="264" r:id="Rfcfb89c716fc4d61"/>
    <p:sldId xmlns:r="http://schemas.openxmlformats.org/officeDocument/2006/relationships" id="265" r:id="R657588e914b54bb4"/>
    <p:sldId xmlns:r="http://schemas.openxmlformats.org/officeDocument/2006/relationships" id="266" r:id="R6c7f59dfddae4ac7"/>
    <p:sldId xmlns:r="http://schemas.openxmlformats.org/officeDocument/2006/relationships" id="267" r:id="R178776d4a17d44fe"/>
    <p:sldId xmlns:r="http://schemas.openxmlformats.org/officeDocument/2006/relationships" id="268" r:id="R83abc96169224c6c"/>
    <p:sldId xmlns:r="http://schemas.openxmlformats.org/officeDocument/2006/relationships" id="269" r:id="R6094d178bdd64be0"/>
    <p:sldId xmlns:r="http://schemas.openxmlformats.org/officeDocument/2006/relationships" id="270" r:id="R550a8ccc158b4032"/>
    <p:sldId xmlns:r="http://schemas.openxmlformats.org/officeDocument/2006/relationships" id="271" r:id="R7c293a63f6e04192"/>
    <p:sldId xmlns:r="http://schemas.openxmlformats.org/officeDocument/2006/relationships" id="272" r:id="R2b8dfd48ad0c4edd"/>
    <p:sldId xmlns:r="http://schemas.openxmlformats.org/officeDocument/2006/relationships" id="273" r:id="R4ce57299d9d04dd8"/>
    <p:sldId xmlns:r="http://schemas.openxmlformats.org/officeDocument/2006/relationships" id="274" r:id="Re05812996551468c"/>
    <p:sldId xmlns:r="http://schemas.openxmlformats.org/officeDocument/2006/relationships" id="275" r:id="Raf169aaa8a2b4574"/>
    <p:sldId xmlns:r="http://schemas.openxmlformats.org/officeDocument/2006/relationships" id="276" r:id="R0e91999e06184ddb"/>
    <p:sldId xmlns:r="http://schemas.openxmlformats.org/officeDocument/2006/relationships" id="277" r:id="Rb8be54e49cfe4dc5"/>
    <p:sldId xmlns:r="http://schemas.openxmlformats.org/officeDocument/2006/relationships" id="278" r:id="Rc8ede81ade944339"/>
    <p:sldId xmlns:r="http://schemas.openxmlformats.org/officeDocument/2006/relationships" id="279" r:id="R15decbd134d64dc4"/>
    <p:sldId xmlns:r="http://schemas.openxmlformats.org/officeDocument/2006/relationships" id="280" r:id="Rfeb7cb3c13214abe"/>
    <p:sldId xmlns:r="http://schemas.openxmlformats.org/officeDocument/2006/relationships" id="281" r:id="Rdf6c6fe2779e4ba5"/>
    <p:sldId xmlns:r="http://schemas.openxmlformats.org/officeDocument/2006/relationships" id="282" r:id="R124181f032484d08"/>
    <p:sldId xmlns:r="http://schemas.openxmlformats.org/officeDocument/2006/relationships" id="283" r:id="Rcc3072dd5be9490f"/>
    <p:sldId xmlns:r="http://schemas.openxmlformats.org/officeDocument/2006/relationships" id="284" r:id="R4cef01307a464923"/>
    <p:sldId xmlns:r="http://schemas.openxmlformats.org/officeDocument/2006/relationships" id="285" r:id="R1b475bb608474ea1"/>
    <p:sldId xmlns:r="http://schemas.openxmlformats.org/officeDocument/2006/relationships" id="286" r:id="R84140e4fb7e7428b"/>
    <p:sldId xmlns:r="http://schemas.openxmlformats.org/officeDocument/2006/relationships" id="287" r:id="R68b29f31968140e5"/>
    <p:sldId xmlns:r="http://schemas.openxmlformats.org/officeDocument/2006/relationships" id="288" r:id="R1b17a00cd89241aa"/>
    <p:sldId xmlns:r="http://schemas.openxmlformats.org/officeDocument/2006/relationships" id="289" r:id="Rb8eb40886dcd461f"/>
    <p:sldId xmlns:r="http://schemas.openxmlformats.org/officeDocument/2006/relationships" id="290" r:id="Rc3aedb9fbda046ba"/>
    <p:sldId xmlns:r="http://schemas.openxmlformats.org/officeDocument/2006/relationships" id="291" r:id="R3e90a95e3cf74bdc"/>
    <p:sldId xmlns:r="http://schemas.openxmlformats.org/officeDocument/2006/relationships" id="292" r:id="R6c6517aa8bc54f49"/>
    <p:sldId xmlns:r="http://schemas.openxmlformats.org/officeDocument/2006/relationships" id="293" r:id="Rdf247750d50a4376"/>
    <p:sldId xmlns:r="http://schemas.openxmlformats.org/officeDocument/2006/relationships" id="294" r:id="R87d64c89ae1241ae"/>
    <p:sldId xmlns:r="http://schemas.openxmlformats.org/officeDocument/2006/relationships" id="295" r:id="R77eb78d147204187"/>
    <p:sldId xmlns:r="http://schemas.openxmlformats.org/officeDocument/2006/relationships" id="296" r:id="R6d2cba8db2e54a84"/>
    <p:sldId xmlns:r="http://schemas.openxmlformats.org/officeDocument/2006/relationships" id="297" r:id="R37d0e0250364401f"/>
    <p:sldId xmlns:r="http://schemas.openxmlformats.org/officeDocument/2006/relationships" id="298" r:id="R1a3c23d2afe94827"/>
    <p:sldId xmlns:r="http://schemas.openxmlformats.org/officeDocument/2006/relationships" id="299" r:id="R384fd68d63bc4678"/>
    <p:sldId xmlns:r="http://schemas.openxmlformats.org/officeDocument/2006/relationships" id="300" r:id="R7db7bc6eda6d4f55"/>
    <p:sldId xmlns:r="http://schemas.openxmlformats.org/officeDocument/2006/relationships" id="301" r:id="R0045d563f7aa4db2"/>
    <p:sldId xmlns:r="http://schemas.openxmlformats.org/officeDocument/2006/relationships" id="302" r:id="R4145c4adc60e4764"/>
    <p:sldId xmlns:r="http://schemas.openxmlformats.org/officeDocument/2006/relationships" id="303" r:id="R4526aa9b1b054e74"/>
    <p:sldId xmlns:r="http://schemas.openxmlformats.org/officeDocument/2006/relationships" id="304" r:id="R021cee98a2f2498b"/>
    <p:sldId xmlns:r="http://schemas.openxmlformats.org/officeDocument/2006/relationships" id="305" r:id="R096cc9ca429b4ac3"/>
    <p:sldId xmlns:r="http://schemas.openxmlformats.org/officeDocument/2006/relationships" id="306" r:id="Rf4b9d3e99cb545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8e9e326aea4079" /><Relationship Type="http://schemas.openxmlformats.org/officeDocument/2006/relationships/slideMaster" Target="/ppt/slideMasters/slideMaster1.xml" Id="R16026d1d144f488a" /><Relationship Type="http://schemas.openxmlformats.org/officeDocument/2006/relationships/notesMaster" Target="/ppt/notesMasters/notesMaster1.xml" Id="R77661c1b163848e0" /><Relationship Type="http://schemas.openxmlformats.org/officeDocument/2006/relationships/presProps" Target="/ppt/presProps.xml" Id="Rabca86699faa4741" /><Relationship Type="http://schemas.openxmlformats.org/officeDocument/2006/relationships/tableStyles" Target="/ppt/tableStyles.xml" Id="R2cc77d9313aa4964" /><Relationship Type="http://schemas.openxmlformats.org/officeDocument/2006/relationships/slide" Target="/ppt/slides/slide1.xml" Id="R308cd5e5821345c6" /><Relationship Type="http://schemas.openxmlformats.org/officeDocument/2006/relationships/slide" Target="/ppt/slides/slide2.xml" Id="R9e9b263056ad426c" /><Relationship Type="http://schemas.openxmlformats.org/officeDocument/2006/relationships/slide" Target="/ppt/slides/slide3.xml" Id="Re1a43d7d368142a0" /><Relationship Type="http://schemas.openxmlformats.org/officeDocument/2006/relationships/slide" Target="/ppt/slides/slide4.xml" Id="R85007032f46945df" /><Relationship Type="http://schemas.openxmlformats.org/officeDocument/2006/relationships/slide" Target="/ppt/slides/slide5.xml" Id="R14b9941f4f3e4175" /><Relationship Type="http://schemas.openxmlformats.org/officeDocument/2006/relationships/slide" Target="/ppt/slides/slide6.xml" Id="Rbbbf05da315e45e0" /><Relationship Type="http://schemas.openxmlformats.org/officeDocument/2006/relationships/slide" Target="/ppt/slides/slide7.xml" Id="R8506357236ba4d57" /><Relationship Type="http://schemas.openxmlformats.org/officeDocument/2006/relationships/slide" Target="/ppt/slides/slide8.xml" Id="R8e883a1cf7e148dd" /><Relationship Type="http://schemas.openxmlformats.org/officeDocument/2006/relationships/slide" Target="/ppt/slides/slide9.xml" Id="Rfcfb89c716fc4d61" /><Relationship Type="http://schemas.openxmlformats.org/officeDocument/2006/relationships/slide" Target="/ppt/slides/slide10.xml" Id="R657588e914b54bb4" /><Relationship Type="http://schemas.openxmlformats.org/officeDocument/2006/relationships/slide" Target="/ppt/slides/slide11.xml" Id="R6c7f59dfddae4ac7" /><Relationship Type="http://schemas.openxmlformats.org/officeDocument/2006/relationships/slide" Target="/ppt/slides/slide12.xml" Id="R178776d4a17d44fe" /><Relationship Type="http://schemas.openxmlformats.org/officeDocument/2006/relationships/slide" Target="/ppt/slides/slide13.xml" Id="R83abc96169224c6c" /><Relationship Type="http://schemas.openxmlformats.org/officeDocument/2006/relationships/slide" Target="/ppt/slides/slide14.xml" Id="R6094d178bdd64be0" /><Relationship Type="http://schemas.openxmlformats.org/officeDocument/2006/relationships/slide" Target="/ppt/slides/slide15.xml" Id="R550a8ccc158b4032" /><Relationship Type="http://schemas.openxmlformats.org/officeDocument/2006/relationships/slide" Target="/ppt/slides/slide16.xml" Id="R7c293a63f6e04192" /><Relationship Type="http://schemas.openxmlformats.org/officeDocument/2006/relationships/slide" Target="/ppt/slides/slide17.xml" Id="R2b8dfd48ad0c4edd" /><Relationship Type="http://schemas.openxmlformats.org/officeDocument/2006/relationships/slide" Target="/ppt/slides/slide18.xml" Id="R4ce57299d9d04dd8" /><Relationship Type="http://schemas.openxmlformats.org/officeDocument/2006/relationships/slide" Target="/ppt/slides/slide19.xml" Id="Re05812996551468c" /><Relationship Type="http://schemas.openxmlformats.org/officeDocument/2006/relationships/slide" Target="/ppt/slides/slide20.xml" Id="Raf169aaa8a2b4574" /><Relationship Type="http://schemas.openxmlformats.org/officeDocument/2006/relationships/slide" Target="/ppt/slides/slide21.xml" Id="R0e91999e06184ddb" /><Relationship Type="http://schemas.openxmlformats.org/officeDocument/2006/relationships/slide" Target="/ppt/slides/slide22.xml" Id="Rb8be54e49cfe4dc5" /><Relationship Type="http://schemas.openxmlformats.org/officeDocument/2006/relationships/slide" Target="/ppt/slides/slide23.xml" Id="Rc8ede81ade944339" /><Relationship Type="http://schemas.openxmlformats.org/officeDocument/2006/relationships/slide" Target="/ppt/slides/slide24.xml" Id="R15decbd134d64dc4" /><Relationship Type="http://schemas.openxmlformats.org/officeDocument/2006/relationships/slide" Target="/ppt/slides/slide25.xml" Id="Rfeb7cb3c13214abe" /><Relationship Type="http://schemas.openxmlformats.org/officeDocument/2006/relationships/slide" Target="/ppt/slides/slide26.xml" Id="Rdf6c6fe2779e4ba5" /><Relationship Type="http://schemas.openxmlformats.org/officeDocument/2006/relationships/slide" Target="/ppt/slides/slide27.xml" Id="R124181f032484d08" /><Relationship Type="http://schemas.openxmlformats.org/officeDocument/2006/relationships/slide" Target="/ppt/slides/slide28.xml" Id="Rcc3072dd5be9490f" /><Relationship Type="http://schemas.openxmlformats.org/officeDocument/2006/relationships/slide" Target="/ppt/slides/slide29.xml" Id="R4cef01307a464923" /><Relationship Type="http://schemas.openxmlformats.org/officeDocument/2006/relationships/slide" Target="/ppt/slides/slide30.xml" Id="R1b475bb608474ea1" /><Relationship Type="http://schemas.openxmlformats.org/officeDocument/2006/relationships/slide" Target="/ppt/slides/slide31.xml" Id="R84140e4fb7e7428b" /><Relationship Type="http://schemas.openxmlformats.org/officeDocument/2006/relationships/slide" Target="/ppt/slides/slide32.xml" Id="R68b29f31968140e5" /><Relationship Type="http://schemas.openxmlformats.org/officeDocument/2006/relationships/slide" Target="/ppt/slides/slide33.xml" Id="R1b17a00cd89241aa" /><Relationship Type="http://schemas.openxmlformats.org/officeDocument/2006/relationships/slide" Target="/ppt/slides/slide34.xml" Id="Rb8eb40886dcd461f" /><Relationship Type="http://schemas.openxmlformats.org/officeDocument/2006/relationships/slide" Target="/ppt/slides/slide35.xml" Id="Rc3aedb9fbda046ba" /><Relationship Type="http://schemas.openxmlformats.org/officeDocument/2006/relationships/slide" Target="/ppt/slides/slide36.xml" Id="R3e90a95e3cf74bdc" /><Relationship Type="http://schemas.openxmlformats.org/officeDocument/2006/relationships/slide" Target="/ppt/slides/slide37.xml" Id="R6c6517aa8bc54f49" /><Relationship Type="http://schemas.openxmlformats.org/officeDocument/2006/relationships/slide" Target="/ppt/slides/slide38.xml" Id="Rdf247750d50a4376" /><Relationship Type="http://schemas.openxmlformats.org/officeDocument/2006/relationships/slide" Target="/ppt/slides/slide39.xml" Id="R87d64c89ae1241ae" /><Relationship Type="http://schemas.openxmlformats.org/officeDocument/2006/relationships/slide" Target="/ppt/slides/slide40.xml" Id="R77eb78d147204187" /><Relationship Type="http://schemas.openxmlformats.org/officeDocument/2006/relationships/slide" Target="/ppt/slides/slide41.xml" Id="R6d2cba8db2e54a84" /><Relationship Type="http://schemas.openxmlformats.org/officeDocument/2006/relationships/slide" Target="/ppt/slides/slide42.xml" Id="R37d0e0250364401f" /><Relationship Type="http://schemas.openxmlformats.org/officeDocument/2006/relationships/slide" Target="/ppt/slides/slide43.xml" Id="R1a3c23d2afe94827" /><Relationship Type="http://schemas.openxmlformats.org/officeDocument/2006/relationships/slide" Target="/ppt/slides/slide44.xml" Id="R384fd68d63bc4678" /><Relationship Type="http://schemas.openxmlformats.org/officeDocument/2006/relationships/slide" Target="/ppt/slides/slide45.xml" Id="R7db7bc6eda6d4f55" /><Relationship Type="http://schemas.openxmlformats.org/officeDocument/2006/relationships/slide" Target="/ppt/slides/slide46.xml" Id="R0045d563f7aa4db2" /><Relationship Type="http://schemas.openxmlformats.org/officeDocument/2006/relationships/slide" Target="/ppt/slides/slide47.xml" Id="R4145c4adc60e4764" /><Relationship Type="http://schemas.openxmlformats.org/officeDocument/2006/relationships/slide" Target="/ppt/slides/slide48.xml" Id="R4526aa9b1b054e74" /><Relationship Type="http://schemas.openxmlformats.org/officeDocument/2006/relationships/slide" Target="/ppt/slides/slide49.xml" Id="R021cee98a2f2498b" /><Relationship Type="http://schemas.openxmlformats.org/officeDocument/2006/relationships/slide" Target="/ppt/slides/slide50.xml" Id="R096cc9ca429b4ac3" /><Relationship Type="http://schemas.openxmlformats.org/officeDocument/2006/relationships/slide" Target="/ppt/slides/slide51.xml" Id="Rf4b9d3e99cb545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98b16353fb4f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b1edeaf46d4d56" /><Relationship Type="http://schemas.openxmlformats.org/officeDocument/2006/relationships/notesMaster" Target="/ppt/notesMasters/notesMaster1.xml" Id="R550dc4aed9514d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069f73541c4e38" /><Relationship Type="http://schemas.openxmlformats.org/officeDocument/2006/relationships/notesMaster" Target="/ppt/notesMasters/notesMaster1.xml" Id="Rb01b790a6fdb4f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f2129a5d514334" /><Relationship Type="http://schemas.openxmlformats.org/officeDocument/2006/relationships/notesMaster" Target="/ppt/notesMasters/notesMaster1.xml" Id="Rec91f2f6f1ee42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f2f398433c4909" /><Relationship Type="http://schemas.openxmlformats.org/officeDocument/2006/relationships/notesMaster" Target="/ppt/notesMasters/notesMaster1.xml" Id="R09fded66cf9941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549510de544950" /><Relationship Type="http://schemas.openxmlformats.org/officeDocument/2006/relationships/notesMaster" Target="/ppt/notesMasters/notesMaster1.xml" Id="Rd48633f01d084b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3944d0854f46a6" /><Relationship Type="http://schemas.openxmlformats.org/officeDocument/2006/relationships/notesMaster" Target="/ppt/notesMasters/notesMaster1.xml" Id="Rd603a781e7324a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4c503f42ac4bf8" /><Relationship Type="http://schemas.openxmlformats.org/officeDocument/2006/relationships/notesMaster" Target="/ppt/notesMasters/notesMaster1.xml" Id="R26c0e3ad31d746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96c658c0fc44af" /><Relationship Type="http://schemas.openxmlformats.org/officeDocument/2006/relationships/notesMaster" Target="/ppt/notesMasters/notesMaster1.xml" Id="Rdb2bfa0b308b49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83a83e73e74190" /><Relationship Type="http://schemas.openxmlformats.org/officeDocument/2006/relationships/notesMaster" Target="/ppt/notesMasters/notesMaster1.xml" Id="R706d14435a4641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21d23da6264f31" /><Relationship Type="http://schemas.openxmlformats.org/officeDocument/2006/relationships/notesMaster" Target="/ppt/notesMasters/notesMaster1.xml" Id="Ra6742fb879c847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bdc676112e4ee0" /><Relationship Type="http://schemas.openxmlformats.org/officeDocument/2006/relationships/notesMaster" Target="/ppt/notesMasters/notesMaster1.xml" Id="R1d1aa7c2e18643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641b15088d44f5" /><Relationship Type="http://schemas.openxmlformats.org/officeDocument/2006/relationships/notesMaster" Target="/ppt/notesMasters/notesMaster1.xml" Id="R5121dc17ffad47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9a621e561d4db4" /><Relationship Type="http://schemas.openxmlformats.org/officeDocument/2006/relationships/notesMaster" Target="/ppt/notesMasters/notesMaster1.xml" Id="R5e1e99bb27e042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2cc2f20a9847c2" /><Relationship Type="http://schemas.openxmlformats.org/officeDocument/2006/relationships/notesMaster" Target="/ppt/notesMasters/notesMaster1.xml" Id="Ra7618c56c18643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ba7122b04c4b1f" /><Relationship Type="http://schemas.openxmlformats.org/officeDocument/2006/relationships/notesMaster" Target="/ppt/notesMasters/notesMaster1.xml" Id="R08a65c23c6c243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17ff573a774941" /><Relationship Type="http://schemas.openxmlformats.org/officeDocument/2006/relationships/notesMaster" Target="/ppt/notesMasters/notesMaster1.xml" Id="Rae10dd937e7e44b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659975b7234dd8" /><Relationship Type="http://schemas.openxmlformats.org/officeDocument/2006/relationships/notesMaster" Target="/ppt/notesMasters/notesMaster1.xml" Id="R868db5809463447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cf72c8b7284dc0" /><Relationship Type="http://schemas.openxmlformats.org/officeDocument/2006/relationships/notesMaster" Target="/ppt/notesMasters/notesMaster1.xml" Id="Rea30fe50a3ce4eb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fc377a2a13d4f8a" /><Relationship Type="http://schemas.openxmlformats.org/officeDocument/2006/relationships/notesMaster" Target="/ppt/notesMasters/notesMaster1.xml" Id="Rc5059779c38049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eeac98a711d4dda" /><Relationship Type="http://schemas.openxmlformats.org/officeDocument/2006/relationships/notesMaster" Target="/ppt/notesMasters/notesMaster1.xml" Id="Rb431508fdc314b9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9c103d31da6478a" /><Relationship Type="http://schemas.openxmlformats.org/officeDocument/2006/relationships/notesMaster" Target="/ppt/notesMasters/notesMaster1.xml" Id="R0d5238375c2a4e0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273d05a05464e3c" /><Relationship Type="http://schemas.openxmlformats.org/officeDocument/2006/relationships/notesMaster" Target="/ppt/notesMasters/notesMaster1.xml" Id="Rd634359d2398452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e58b7b7d534d64" /><Relationship Type="http://schemas.openxmlformats.org/officeDocument/2006/relationships/notesMaster" Target="/ppt/notesMasters/notesMaster1.xml" Id="Rd81ad619ca0948e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c062e39370b4355" /><Relationship Type="http://schemas.openxmlformats.org/officeDocument/2006/relationships/notesMaster" Target="/ppt/notesMasters/notesMaster1.xml" Id="R22be86871aad43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d115abb8ac54f57" /><Relationship Type="http://schemas.openxmlformats.org/officeDocument/2006/relationships/notesMaster" Target="/ppt/notesMasters/notesMaster1.xml" Id="Rfa35f69a0502458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df4b8cde1f74821" /><Relationship Type="http://schemas.openxmlformats.org/officeDocument/2006/relationships/notesMaster" Target="/ppt/notesMasters/notesMaster1.xml" Id="R8c2954b788d940c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f06b2d8387341f6" /><Relationship Type="http://schemas.openxmlformats.org/officeDocument/2006/relationships/notesMaster" Target="/ppt/notesMasters/notesMaster1.xml" Id="R41543d4e183d4e0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2220023ee674c64" /><Relationship Type="http://schemas.openxmlformats.org/officeDocument/2006/relationships/notesMaster" Target="/ppt/notesMasters/notesMaster1.xml" Id="R73723778c59e419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513804e6063486c" /><Relationship Type="http://schemas.openxmlformats.org/officeDocument/2006/relationships/notesMaster" Target="/ppt/notesMasters/notesMaster1.xml" Id="R934291b5fbef4f3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8cd5f2337bb4b1e" /><Relationship Type="http://schemas.openxmlformats.org/officeDocument/2006/relationships/notesMaster" Target="/ppt/notesMasters/notesMaster1.xml" Id="R7c8c2fe47488462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0e1c40f9a4f4698" /><Relationship Type="http://schemas.openxmlformats.org/officeDocument/2006/relationships/notesMaster" Target="/ppt/notesMasters/notesMaster1.xml" Id="R92788d180c1a41c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9edee072a94461d" /><Relationship Type="http://schemas.openxmlformats.org/officeDocument/2006/relationships/notesMaster" Target="/ppt/notesMasters/notesMaster1.xml" Id="R6bcdf84f4e7b467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71d8e66933e47d0" /><Relationship Type="http://schemas.openxmlformats.org/officeDocument/2006/relationships/notesMaster" Target="/ppt/notesMasters/notesMaster1.xml" Id="R68014b2f3b6e46f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bcd093bfac44919" /><Relationship Type="http://schemas.openxmlformats.org/officeDocument/2006/relationships/notesMaster" Target="/ppt/notesMasters/notesMaster1.xml" Id="Rc1b24e62826943b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58de0374e184576" /><Relationship Type="http://schemas.openxmlformats.org/officeDocument/2006/relationships/notesMaster" Target="/ppt/notesMasters/notesMaster1.xml" Id="Rfbe5b70763a84a2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20156c6bc254318" /><Relationship Type="http://schemas.openxmlformats.org/officeDocument/2006/relationships/notesMaster" Target="/ppt/notesMasters/notesMaster1.xml" Id="Rdbc67c8440e64b4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96f56e40c104dee" /><Relationship Type="http://schemas.openxmlformats.org/officeDocument/2006/relationships/notesMaster" Target="/ppt/notesMasters/notesMaster1.xml" Id="R5e52cb6ddd00475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af69510cf464520" /><Relationship Type="http://schemas.openxmlformats.org/officeDocument/2006/relationships/notesMaster" Target="/ppt/notesMasters/notesMaster1.xml" Id="R5c841278d0284b9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7e00243d8a2469e" /><Relationship Type="http://schemas.openxmlformats.org/officeDocument/2006/relationships/notesMaster" Target="/ppt/notesMasters/notesMaster1.xml" Id="R092f5ed97749483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346cf4eae52461a" /><Relationship Type="http://schemas.openxmlformats.org/officeDocument/2006/relationships/notesMaster" Target="/ppt/notesMasters/notesMaster1.xml" Id="R5818e78e70024b2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cdb08273e6b47e2" /><Relationship Type="http://schemas.openxmlformats.org/officeDocument/2006/relationships/notesMaster" Target="/ppt/notesMasters/notesMaster1.xml" Id="Re7d8def06cce432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431690ee49745c5" /><Relationship Type="http://schemas.openxmlformats.org/officeDocument/2006/relationships/notesMaster" Target="/ppt/notesMasters/notesMaster1.xml" Id="R69f3532392bc432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ed81fe9fc3e439e" /><Relationship Type="http://schemas.openxmlformats.org/officeDocument/2006/relationships/notesMaster" Target="/ppt/notesMasters/notesMaster1.xml" Id="R0c408ab5bc204bb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eb5a6bdbaf944b7" /><Relationship Type="http://schemas.openxmlformats.org/officeDocument/2006/relationships/notesMaster" Target="/ppt/notesMasters/notesMaster1.xml" Id="R7c775bfe88554b5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fd188d63b364e60" /><Relationship Type="http://schemas.openxmlformats.org/officeDocument/2006/relationships/notesMaster" Target="/ppt/notesMasters/notesMaster1.xml" Id="Rdb8e1fc6e40745d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5c8d9e850e34a30" /><Relationship Type="http://schemas.openxmlformats.org/officeDocument/2006/relationships/notesMaster" Target="/ppt/notesMasters/notesMaster1.xml" Id="R89bc9d5edbae469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645bc100cf34bbc" /><Relationship Type="http://schemas.openxmlformats.org/officeDocument/2006/relationships/notesMaster" Target="/ppt/notesMasters/notesMaster1.xml" Id="R4f0056595e6a4fe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416fccf92104a64" /><Relationship Type="http://schemas.openxmlformats.org/officeDocument/2006/relationships/notesMaster" Target="/ppt/notesMasters/notesMaster1.xml" Id="R8b97daab877f488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252eff91eee4ca0" /><Relationship Type="http://schemas.openxmlformats.org/officeDocument/2006/relationships/notesMaster" Target="/ppt/notesMasters/notesMaster1.xml" Id="Rf6a5f272727245d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32ac456cad948c3" /><Relationship Type="http://schemas.openxmlformats.org/officeDocument/2006/relationships/notesMaster" Target="/ppt/notesMasters/notesMaster1.xml" Id="R42aa43c9dd28498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1c966a880574a66" /><Relationship Type="http://schemas.openxmlformats.org/officeDocument/2006/relationships/notesMaster" Target="/ppt/notesMasters/notesMaster1.xml" Id="R2b98b5035e184f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5089bf5d049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78f4b6fe554a44" /><Relationship Type="http://schemas.openxmlformats.org/officeDocument/2006/relationships/slideLayout" Target="/ppt/slideLayouts/slideLayout1.xml" Id="R3a3f6b4bb6a340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3f6b4bb6a340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5315bd1fd4834" /><Relationship Type="http://schemas.openxmlformats.org/officeDocument/2006/relationships/notesSlide" Target="/ppt/notesSlides/notesSlide1.xml" Id="R939a8c01be964b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44075041e4ad7" /><Relationship Type="http://schemas.openxmlformats.org/officeDocument/2006/relationships/notesSlide" Target="/ppt/notesSlides/notesSlide2.xml" Id="Rd29cf185707f40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278ad90194a72" /><Relationship Type="http://schemas.openxmlformats.org/officeDocument/2006/relationships/notesSlide" Target="/ppt/notesSlides/notesSlide3.xml" Id="R2d1e9e9e903841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1cae4453b4318" /><Relationship Type="http://schemas.openxmlformats.org/officeDocument/2006/relationships/notesSlide" Target="/ppt/notesSlides/notesSlide4.xml" Id="R8b220f9cff9f45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f484995264d10" /><Relationship Type="http://schemas.openxmlformats.org/officeDocument/2006/relationships/notesSlide" Target="/ppt/notesSlides/notesSlide5.xml" Id="Rfd6f3a60f59e4e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8dcf8b2564083" /><Relationship Type="http://schemas.openxmlformats.org/officeDocument/2006/relationships/image" Target="/ppt/media/image.png" Id="R80101d896ee746a1" /><Relationship Type="http://schemas.openxmlformats.org/officeDocument/2006/relationships/notesSlide" Target="/ppt/notesSlides/notesSlide6.xml" Id="R60fa36be920442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d9dbcfd3a4f84" /><Relationship Type="http://schemas.openxmlformats.org/officeDocument/2006/relationships/notesSlide" Target="/ppt/notesSlides/notesSlide7.xml" Id="R4af346b650c642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172eb56284746" /><Relationship Type="http://schemas.openxmlformats.org/officeDocument/2006/relationships/image" Target="/ppt/media/image2.png" Id="R44cbe5c2866a40d3" /><Relationship Type="http://schemas.openxmlformats.org/officeDocument/2006/relationships/notesSlide" Target="/ppt/notesSlides/notesSlide8.xml" Id="R3227b49585164b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d0243fec48a3" /><Relationship Type="http://schemas.openxmlformats.org/officeDocument/2006/relationships/notesSlide" Target="/ppt/notesSlides/notesSlide9.xml" Id="R438d1fc32ee544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fd8cbcb1c4104" /><Relationship Type="http://schemas.openxmlformats.org/officeDocument/2006/relationships/notesSlide" Target="/ppt/notesSlides/notesSlide10.xml" Id="Ra6ce3501773346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74c4768c54288" /><Relationship Type="http://schemas.openxmlformats.org/officeDocument/2006/relationships/notesSlide" Target="/ppt/notesSlides/notesSlide11.xml" Id="R186dcd4d22bb42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40ceb353d4f4a" /><Relationship Type="http://schemas.openxmlformats.org/officeDocument/2006/relationships/notesSlide" Target="/ppt/notesSlides/notesSlide12.xml" Id="R60d8699a57f849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df1f623774736" /><Relationship Type="http://schemas.openxmlformats.org/officeDocument/2006/relationships/notesSlide" Target="/ppt/notesSlides/notesSlide13.xml" Id="R5548419a14be45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ff0faeb1449b0" /><Relationship Type="http://schemas.openxmlformats.org/officeDocument/2006/relationships/notesSlide" Target="/ppt/notesSlides/notesSlide14.xml" Id="Rbef6628a04204d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abff2982c4aec" /><Relationship Type="http://schemas.openxmlformats.org/officeDocument/2006/relationships/notesSlide" Target="/ppt/notesSlides/notesSlide15.xml" Id="Rca65c7e99b1c412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3f3b2c7b943a4" /><Relationship Type="http://schemas.openxmlformats.org/officeDocument/2006/relationships/notesSlide" Target="/ppt/notesSlides/notesSlide16.xml" Id="Rebc5468d4d6c4ca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7e313447b4c77" /><Relationship Type="http://schemas.openxmlformats.org/officeDocument/2006/relationships/notesSlide" Target="/ppt/notesSlides/notesSlide17.xml" Id="R2f33f7dc95b04b2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2f0f351d54c3e" /><Relationship Type="http://schemas.openxmlformats.org/officeDocument/2006/relationships/image" Target="/ppt/media/image3.png" Id="Rdb8fa11888b24c19" /><Relationship Type="http://schemas.openxmlformats.org/officeDocument/2006/relationships/notesSlide" Target="/ppt/notesSlides/notesSlide18.xml" Id="R7b757e97f731438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c55df1a924f26" /><Relationship Type="http://schemas.openxmlformats.org/officeDocument/2006/relationships/image" Target="/ppt/media/image.jpeg" Id="R94f6f17b35954cef" /><Relationship Type="http://schemas.openxmlformats.org/officeDocument/2006/relationships/notesSlide" Target="/ppt/notesSlides/notesSlide19.xml" Id="R79e4d8423eb4413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e1a5412f64e63" /><Relationship Type="http://schemas.openxmlformats.org/officeDocument/2006/relationships/image" Target="/ppt/media/image2.jpeg" Id="R4a2aaee971294f6a" /><Relationship Type="http://schemas.openxmlformats.org/officeDocument/2006/relationships/notesSlide" Target="/ppt/notesSlides/notesSlide20.xml" Id="R330904451fc04a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bc78397e34825" /><Relationship Type="http://schemas.openxmlformats.org/officeDocument/2006/relationships/image" Target="/ppt/media/image4.png" Id="R3bacbbc74bba42bd" /><Relationship Type="http://schemas.openxmlformats.org/officeDocument/2006/relationships/notesSlide" Target="/ppt/notesSlides/notesSlide21.xml" Id="R933c8c27b44946e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6db5e37d94fa4" /><Relationship Type="http://schemas.openxmlformats.org/officeDocument/2006/relationships/notesSlide" Target="/ppt/notesSlides/notesSlide22.xml" Id="R8cc177ff73cd4ed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2dc354eff4566" /><Relationship Type="http://schemas.openxmlformats.org/officeDocument/2006/relationships/notesSlide" Target="/ppt/notesSlides/notesSlide23.xml" Id="R242943a4177a4e9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4872684ce4b66" /><Relationship Type="http://schemas.openxmlformats.org/officeDocument/2006/relationships/notesSlide" Target="/ppt/notesSlides/notesSlide24.xml" Id="Rf6cab63dd7f7472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db8d8cb734bf5" /><Relationship Type="http://schemas.openxmlformats.org/officeDocument/2006/relationships/notesSlide" Target="/ppt/notesSlides/notesSlide25.xml" Id="R85069db928ea457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f8d81872e4b22" /><Relationship Type="http://schemas.openxmlformats.org/officeDocument/2006/relationships/notesSlide" Target="/ppt/notesSlides/notesSlide26.xml" Id="R9156438cd6ee495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600c7a5424d72" /><Relationship Type="http://schemas.openxmlformats.org/officeDocument/2006/relationships/notesSlide" Target="/ppt/notesSlides/notesSlide27.xml" Id="R025376f2a2d742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9dcd6ef334c6e" /><Relationship Type="http://schemas.openxmlformats.org/officeDocument/2006/relationships/notesSlide" Target="/ppt/notesSlides/notesSlide28.xml" Id="R6be16e055b964ba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ddb3822fd4f54" /><Relationship Type="http://schemas.openxmlformats.org/officeDocument/2006/relationships/notesSlide" Target="/ppt/notesSlides/notesSlide29.xml" Id="Rf6460100c015405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e22db83c34c27" /><Relationship Type="http://schemas.openxmlformats.org/officeDocument/2006/relationships/notesSlide" Target="/ppt/notesSlides/notesSlide30.xml" Id="R66f320d0db914be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23fdee32141ac" /><Relationship Type="http://schemas.openxmlformats.org/officeDocument/2006/relationships/notesSlide" Target="/ppt/notesSlides/notesSlide31.xml" Id="Rc566511af05b4f5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6c24e0f424e8e" /><Relationship Type="http://schemas.openxmlformats.org/officeDocument/2006/relationships/notesSlide" Target="/ppt/notesSlides/notesSlide32.xml" Id="Re9740978e603410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98f3fef86485a" /><Relationship Type="http://schemas.openxmlformats.org/officeDocument/2006/relationships/notesSlide" Target="/ppt/notesSlides/notesSlide33.xml" Id="R3be825614e6843d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c26a6cf5c41b1" /><Relationship Type="http://schemas.openxmlformats.org/officeDocument/2006/relationships/notesSlide" Target="/ppt/notesSlides/notesSlide34.xml" Id="Rd9979a1fd7d547f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c364d3cc2452e" /><Relationship Type="http://schemas.openxmlformats.org/officeDocument/2006/relationships/notesSlide" Target="/ppt/notesSlides/notesSlide35.xml" Id="Rc35c187919524cc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d19992e72406a" /><Relationship Type="http://schemas.openxmlformats.org/officeDocument/2006/relationships/notesSlide" Target="/ppt/notesSlides/notesSlide36.xml" Id="R0616ee3dc18943a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58e3378a748e4" /><Relationship Type="http://schemas.openxmlformats.org/officeDocument/2006/relationships/notesSlide" Target="/ppt/notesSlides/notesSlide37.xml" Id="R492e2f7d6bec4b0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4641004694a40" /><Relationship Type="http://schemas.openxmlformats.org/officeDocument/2006/relationships/image" Target="/ppt/media/image5.png" Id="Rf126d57954014a49" /><Relationship Type="http://schemas.openxmlformats.org/officeDocument/2006/relationships/notesSlide" Target="/ppt/notesSlides/notesSlide38.xml" Id="Rc3db01be343745e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204f4ccce4523" /><Relationship Type="http://schemas.openxmlformats.org/officeDocument/2006/relationships/notesSlide" Target="/ppt/notesSlides/notesSlide39.xml" Id="Rfa5d678132844f8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f9eb060ef402c" /><Relationship Type="http://schemas.openxmlformats.org/officeDocument/2006/relationships/notesSlide" Target="/ppt/notesSlides/notesSlide40.xml" Id="R2ac5c272470548a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b793369b54bea" /><Relationship Type="http://schemas.openxmlformats.org/officeDocument/2006/relationships/notesSlide" Target="/ppt/notesSlides/notesSlide41.xml" Id="R206be3cd82674c1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d9ace80634cf6" /><Relationship Type="http://schemas.openxmlformats.org/officeDocument/2006/relationships/notesSlide" Target="/ppt/notesSlides/notesSlide42.xml" Id="R563ff735b5e343c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6ee3b03e842d2" /><Relationship Type="http://schemas.openxmlformats.org/officeDocument/2006/relationships/notesSlide" Target="/ppt/notesSlides/notesSlide43.xml" Id="R06f935ce1796479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ed541372e4e17" /><Relationship Type="http://schemas.openxmlformats.org/officeDocument/2006/relationships/notesSlide" Target="/ppt/notesSlides/notesSlide44.xml" Id="R83a6d2bcb00b4d4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30424d1894e79" /><Relationship Type="http://schemas.openxmlformats.org/officeDocument/2006/relationships/notesSlide" Target="/ppt/notesSlides/notesSlide45.xml" Id="Rf138ebc652c9447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9e7199f184079" /><Relationship Type="http://schemas.openxmlformats.org/officeDocument/2006/relationships/notesSlide" Target="/ppt/notesSlides/notesSlide46.xml" Id="R2812e7cfdcf7495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3d62c655a4e0e" /><Relationship Type="http://schemas.openxmlformats.org/officeDocument/2006/relationships/notesSlide" Target="/ppt/notesSlides/notesSlide47.xml" Id="Rb98f702f569a43a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aea5eada64218" /><Relationship Type="http://schemas.openxmlformats.org/officeDocument/2006/relationships/notesSlide" Target="/ppt/notesSlides/notesSlide48.xml" Id="R1e4579adda0042c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fb0e28bb94aa8" /><Relationship Type="http://schemas.openxmlformats.org/officeDocument/2006/relationships/image" Target="/ppt/media/image6.png" Id="R3e0da3a2e2144c63" /><Relationship Type="http://schemas.openxmlformats.org/officeDocument/2006/relationships/notesSlide" Target="/ppt/notesSlides/notesSlide49.xml" Id="Rb4458c6ff74441a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6e9ec8b4a4510" /><Relationship Type="http://schemas.openxmlformats.org/officeDocument/2006/relationships/notesSlide" Target="/ppt/notesSlides/notesSlide50.xml" Id="R1fdbbd3292f24f4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1222cf5c641ba" /><Relationship Type="http://schemas.openxmlformats.org/officeDocument/2006/relationships/image" Target="/ppt/media/image7.png" Id="R074dc04a6db84e36" /><Relationship Type="http://schemas.openxmlformats.org/officeDocument/2006/relationships/notesSlide" Target="/ppt/notesSlides/notesSlide51.xml" Id="R0e04e853890a4a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AE8CB-0296-48D5-BF6B-1985FDDD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30003-FECB-4DFF-95F6-C3327ED8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交通安全訪視經驗分享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74127-59C3-4C70-87B5-6982A951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訪視可以打分，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9BF3B-4993-4A1E-8826-ACC5DC5E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安全不能靠打分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F598A-FE10-4855-81E7-2EA16D20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762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從三次訪視、低效度評鑑，走向人本交通與教育現場的合理角色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265A2-E3B4-4C84-968E-D325EFF2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竹光國中　學務主任 黃隆偉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16A8C-5877-4D3C-95D9-A8F9CBEE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619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3CF87-EE67-4B6C-97DC-7BF0866F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9715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379931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B04240-42B7-4027-B1E6-BC7D5877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4CFA5-570D-48BA-98F0-837E82B9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這場分享不只是成果展示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99DC31-0B5A-4E9B-815E-45892033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今天，我想和大家一起釐清四件事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46D03-4BE3-4DB7-AC20-DA94CC06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08EB4-7C8D-4D1A-9805-5A8280A1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65C14B-6D01-4616-8C35-B9D6D803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經驗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31CF2-E5A7-49F7-9BEB-CCAE4C5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194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三次訪視，為什麼會得到三種不同結果？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1BF66-17EF-45BE-AB93-DE630658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C259B-0816-4E3F-9805-395F93DB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ACBA7-6E16-4AA4-B469-73D645E7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F9E73-FF5B-42E9-B029-FE7E12D8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194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文件齊全，能代表道路更安全嗎？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836472-D260-4F63-A98F-CAC62ADC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B3C14-AD5F-4015-BB3B-0E759C3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EFB8C7-AC70-4EE1-9B36-ACD020D9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86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目的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0F3299-9C59-4A21-B8A8-4CB2B2E2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交通安全應打造什麼樣的人本環境？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DDB33D-FBCE-413F-A4E3-14B0CE06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EE2180-E919-4C5C-A601-D87CAC9F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767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B153A-02A6-46D7-916B-90B849A5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86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邊界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136EB-D2E9-4819-913F-B8D530E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339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教育可以做什麼，制度必須承擔什麼？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EC4837-D65B-494F-B3D5-CE8BC053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希望最後，我們能把「通過訪視」與「真正降低風險」分開思考。</a:t>
            </a:r>
          </a:p>
        </p:txBody>
      </p:sp>
    </p:spTree>
    <p:extLst>
      <p:ext uri="{BB962C8B-B14F-4D97-AF65-F5344CB8AC3E}">
        <p14:creationId xmlns:p14="http://schemas.microsoft.com/office/powerpoint/2010/main" val="103325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DA743-5421-44C9-92E8-9BC2F0DA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5CBE8-2262-4C3C-9E78-6A7966CD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先看最重要的證據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604BC-AAEA-470C-96B9-6B92009B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同一批資料，三種判決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B4ACF-C983-4FBC-8519-840346D9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7AF14-A26C-4473-AEBC-E6BDC390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第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08C55-EFCC-4DFC-BB8E-B8C57BD7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108 年｜甲等第一名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C813A-21B1-46FB-A0F6-4AEB7D64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BA179-86BC-451D-891B-B058C1E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倒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275FCA-4B7B-40C1-A8EE-15E2A2D4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111 年｜甲等倒數第一名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50447-1AEB-4FBD-BBC4-B9AEC26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1434A-7251-4616-8DBE-DC37AB24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第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E3A1C-2A49-452E-80BE-DFABF8B4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114 年｜優等第一名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6FAC6-0145-4992-9001-F17F7A80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資料幾乎一樣。如果真實安全沒有劇烈變動，名次到底代表什麼？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921E4-7917-4C3A-9DBA-7DDD2014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來源：使用者提供之《交通安全訪視經驗分享115.pptx》第 5–6 頁。</a:t>
            </a:r>
          </a:p>
        </p:txBody>
      </p:sp>
    </p:spTree>
    <p:extLst>
      <p:ext uri="{BB962C8B-B14F-4D97-AF65-F5344CB8AC3E}">
        <p14:creationId xmlns:p14="http://schemas.microsoft.com/office/powerpoint/2010/main" val="3686143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B13DF-FDA2-49F2-814B-58E3AE60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B19EF-4ADF-4B08-8C3C-86531233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114 年優等，到底做對了什麼？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7310B6-B56B-400B-9D6F-19B21906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先把有用的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4D54D-9C04-4C5B-8185-6325195F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3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留下來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E92E5-DB52-4B2A-B0B7-9B7A97E4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不是教大家做更厚的成果冊，而是拆出能複製、能省時間、能真的降低風險的做法。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B7678-99DF-4FC0-9EB1-02969597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37108-9A10-406F-9B35-E7D0EDEE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案例來源：竹光國中 114 年交通安全訪視網站與使用者原始簡報。</a:t>
            </a:r>
          </a:p>
        </p:txBody>
      </p:sp>
    </p:spTree>
    <p:extLst>
      <p:ext uri="{BB962C8B-B14F-4D97-AF65-F5344CB8AC3E}">
        <p14:creationId xmlns:p14="http://schemas.microsoft.com/office/powerpoint/2010/main" val="7581556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A6B7BC-F1D5-4262-A044-C8B7D40D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B000A-55AE-498E-9948-3FEDD063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先看評鑑架構，再決定資料放哪裡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DC973-8EA7-402F-A9F0-224849A2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114 訪視看的，是四條工作線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B2BF3-4046-4456-8354-DFAF1137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74048-5C25-4526-94C0-7071A586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494F7-08E6-40CB-ACB7-E2CD3D2C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55270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組織計畫與宣導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1410C-92CD-43C1-9830-849B5079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194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目標、分工、會議與追蹤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C92AF-8E0B-4408-9D08-02BAE9B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B1821-B899-4231-B5E1-557C16F2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43175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C1C0F-08AB-4D63-9ECE-AF82F7F7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5270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教學與活動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41225-1A91-493F-B91F-4B260359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194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課程、活動、能力與回饋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ACD2D-B4A0-40A4-8E0C-AEA1D1E3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0F67E-352A-4E7B-BB9B-6BDFF2B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1DDD55-84FB-4AFF-9F13-8ABF1CA5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148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安全與輔導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DD88A-C150-4153-AD8A-3B5C78BC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8155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通學、導護、事故與接送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436350-3D24-4A5F-BA1B-23CEE6CD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9575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76DA18-CB75-438E-9B76-73955B4B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05300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78E03-FBC2-4BA1-BAED-FDD7184F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148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創新與成效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A7BF4-89DA-4DE2-957C-CCFEA706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8155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校本問題與可檢核改變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0B2C2-4805-4495-8454-CB5AE453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來源：竹光國中交通安全訪視網站分類；原簡報第 33 頁。</a:t>
            </a:r>
          </a:p>
        </p:txBody>
      </p:sp>
    </p:spTree>
    <p:extLst>
      <p:ext uri="{BB962C8B-B14F-4D97-AF65-F5344CB8AC3E}">
        <p14:creationId xmlns:p14="http://schemas.microsoft.com/office/powerpoint/2010/main" val="1454136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E2C95-739A-4663-8C5E-6F0BACEE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0101C-51CE-4F09-8129-330BA873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01｜資料治理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53C68-7D59-47EB-A867-195E9DC1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61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資料平時進網站，訪視前不用重做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506CA-A60B-49E2-933C-4B0B11A5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同一份證據，平時就依指標歸位。訪視只是打開網站，不再臨時追照片、重排成果冊。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284FA-BB61-493B-ACA6-B076E9EE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一次蒐集，多次使用。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A53EF-8FC2-40EC-B069-A67B92B0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90625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01d896ee746a1"/>
          <a:stretch xmlns:a="http://schemas.openxmlformats.org/drawingml/2006/main"/>
        </p:blipFill>
        <p:spPr>
          <a:xfrm xmlns:a="http://schemas.openxmlformats.org/drawingml/2006/main">
            <a:off x="6286500" y="1872258"/>
            <a:ext cx="4857750" cy="273248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8BAC4E-06B2-4511-B6D6-89FB81A4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來源：使用者原簡報第 31–32 頁；竹光國中交通安全訪視網站。</a:t>
            </a:r>
          </a:p>
        </p:txBody>
      </p:sp>
    </p:spTree>
    <p:extLst>
      <p:ext uri="{BB962C8B-B14F-4D97-AF65-F5344CB8AC3E}">
        <p14:creationId xmlns:p14="http://schemas.microsoft.com/office/powerpoint/2010/main" val="16186929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F679E-6B80-4A72-ADA4-44BE17DC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DC728-C9EB-4434-86B5-F53F3921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02｜借既有時間做深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3304D-E8B3-482E-8118-C37E6406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每週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1F20A-6389-440F-A541-0872AB74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191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2 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3BDAE-8854-42F2-9F6A-4F85F74B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既有導師時間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D6797-F187-439A-A355-3428B3EB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素材集中在網路，導師直接取用；不另開一門交通安全課。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96B4D-B311-409A-91B8-5A8016E4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95750"/>
            <a:ext cx="3333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A821A2-7281-4C60-A7EC-4879E8CB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4-3「學校自評特色與優點」。</a:t>
            </a:r>
          </a:p>
        </p:txBody>
      </p:sp>
    </p:spTree>
    <p:extLst>
      <p:ext uri="{BB962C8B-B14F-4D97-AF65-F5344CB8AC3E}">
        <p14:creationId xmlns:p14="http://schemas.microsoft.com/office/powerpoint/2010/main" val="2079658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79DA3-9B66-45A4-AC47-3B379C72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0F6F3-1965-4B7D-B5EB-994729E8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效率亮點 03｜公民講堂素材庫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4E6DB-9616-4280-8F76-94B06B38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61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不是每位導師各做一份教材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8878D-BD09-4BAA-B1AD-B4F1E410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行政端整理主題資料夾，教師在導師時間選用；交通安全只是共享素材庫的一部分。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565CB-87A5-4EFE-8DBC-582D2AA0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048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be5c2866a40d3"/>
          <a:stretch xmlns:a="http://schemas.openxmlformats.org/drawingml/2006/main"/>
        </p:blipFill>
        <p:spPr>
          <a:xfrm xmlns:a="http://schemas.openxmlformats.org/drawingml/2006/main">
            <a:off x="6286500" y="1872258"/>
            <a:ext cx="4857750" cy="273248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0689D4-4A7D-4814-B66A-19DA86E9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來源：使用者原簡報第 27–28 頁。</a:t>
            </a:r>
          </a:p>
        </p:txBody>
      </p:sp>
    </p:spTree>
    <p:extLst>
      <p:ext uri="{BB962C8B-B14F-4D97-AF65-F5344CB8AC3E}">
        <p14:creationId xmlns:p14="http://schemas.microsoft.com/office/powerpoint/2010/main" val="6106538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851B5-B6FF-450D-9CA0-ED777FB1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64EE4-70A8-4D15-A00B-79DFD84F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04｜不另開課，借學科教風險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BD7DD-E64C-4E27-99BC-7E59FCC1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現有課程，本來就能承載交通問題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36293-C595-4FA5-A363-8A6B2B11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08207-7725-4FDE-B581-BADFFA34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數學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96E72-252F-44CB-971F-ED8FE6B8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0507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相似形 × 大車視線死角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3CDB3-C3D4-43BD-A3CF-1488C1A6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9A813-F066-47E7-A82E-045DC75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自然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1C7F3-8BC3-4544-AE90-01861D94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摩擦力、速率、牛頓運動定律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747CC5-F4DD-48AA-BD87-86EC88D1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C0C1F-640B-4B92-8ED6-C766F4E5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社會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55DF-8026-4EB0-A494-13F28B5D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957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政府與人民在行政法中的角色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9C191-2B45-462E-8C5B-29193E0E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188B0-201D-46F7-BEC7-B02B91C3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英語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054512-24FB-456B-81F4-04B89309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7682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移動情境與交通表達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495EF7-2307-4897-8694-6C89FE2B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2-1-1、2-1-2；課程清單涵蓋七至九年級。</a:t>
            </a:r>
          </a:p>
        </p:txBody>
      </p:sp>
    </p:spTree>
    <p:extLst>
      <p:ext uri="{BB962C8B-B14F-4D97-AF65-F5344CB8AC3E}">
        <p14:creationId xmlns:p14="http://schemas.microsoft.com/office/powerpoint/2010/main" val="826385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B8E64-CA8A-44ED-8B31-2B4CC857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44799-3A0C-4156-8471-DB23D04C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一個可直接帶走的跨域案例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49160-4708-4562-88CF-869631A8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相似形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2A75C-5919-4770-91F9-4FBFA4B5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不只算比例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B55B7-56DE-4FF6-974A-6241F5E8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81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用因材網題目模擬大車視線死角，再搭配真實影片，讓抽象幾何變成風險判斷。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DC871-3BC1-4F83-A2D1-2946714B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看得見你，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你看得見我？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A8177-4039-41C4-A70A-F2D5C1BC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2-1-1；使用者原簡報第 23 頁。</a:t>
            </a:r>
          </a:p>
        </p:txBody>
      </p:sp>
    </p:spTree>
    <p:extLst>
      <p:ext uri="{BB962C8B-B14F-4D97-AF65-F5344CB8AC3E}">
        <p14:creationId xmlns:p14="http://schemas.microsoft.com/office/powerpoint/2010/main" val="10173845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4015AE-48D1-4192-B85D-1ECBDD1B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FC8FD-88F9-4C5D-822E-3DBFB43A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05｜先調查，再決定教什麼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C3E81-46D5-41BE-82EA-499C8362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不是先辦活動，而是先看校本問題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05042-3D9E-4868-ADB6-2BDA61A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A9DDD4-74B1-4935-A6FF-F9104A5E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88906-A72C-47FB-BFCC-6FEEAD1C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資訊課填 Google 表單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2A6C6-C739-4A56-8CD6-CA70E100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建立全校通學方式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74C32-E6FB-4558-A0FB-5C0BE06D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3FE0DA-6A53-409C-A13C-3200A149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6B2DF-0444-4B93-9662-62727CC3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量化整理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183D-9ECE-487C-A430-26049D78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看見接送與動線需求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92EB2-8517-439F-895B-59C49CD5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29016-64F3-44AB-9D13-8B45075E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8B3E0-F00A-4BEE-84E3-7A764E76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SWOT 找策略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B57DF0-FB12-45C6-8412-92B8D964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分流、步行、導護配置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26E14-5022-45D7-98F2-720954CB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3-1-1、1-2-1。</a:t>
            </a:r>
          </a:p>
        </p:txBody>
      </p:sp>
    </p:spTree>
    <p:extLst>
      <p:ext uri="{BB962C8B-B14F-4D97-AF65-F5344CB8AC3E}">
        <p14:creationId xmlns:p14="http://schemas.microsoft.com/office/powerpoint/2010/main" val="19115563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07D93-D011-4649-A5DB-0FE4C6B4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62697-3D7C-4C9E-9FCE-C66180FC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校本策略｜先把動線做清楚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CC48E-333F-486E-A393-A873CE3B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汽車、機車、步行，不搶同一條線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43E30-C9ED-4A24-8AE5-298C9D37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7B066-65EA-47C4-B4FD-221DDE44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前門長側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59A71-9609-4E85-AD02-9D0D3F26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汽車為主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473CF-7AC9-4996-9374-6C98C57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F1E7A-4C39-4910-9EC2-09F3A860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前門短側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5769B-9BD1-47B7-AB09-199135BC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機車為主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6FFCEE-9B1D-4E55-AD8D-2EB3129E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0022B-1FCC-4556-9770-65E03429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後門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8D052-FC7A-473A-9FD1-76C51256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機車為主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5C2BF5-2346-4477-9FFF-5EB6851F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校內再做人車分流，接送區與學生動線分開。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9FA3F-1A21-497D-BE73-E4428090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1-2-1、3-2-1、3-5-1。</a:t>
            </a:r>
          </a:p>
        </p:txBody>
      </p:sp>
    </p:spTree>
    <p:extLst>
      <p:ext uri="{BB962C8B-B14F-4D97-AF65-F5344CB8AC3E}">
        <p14:creationId xmlns:p14="http://schemas.microsoft.com/office/powerpoint/2010/main" val="3811544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1C95B5-5A46-4CE5-9965-0302F782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1A3A4-4ACC-402D-8169-AA400E99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導護亮點｜不是站了多少人，而是系統能不能接手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ADF55-F3D8-4248-99D1-2DA18F97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四件事讓導護工作可持續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E7F50-569D-4579-849D-E0AEE692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445F0-33D9-43AB-A943-21094847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7DBF3-1E81-47F8-985E-C50B290F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有計畫與名單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D234A-5F28-40CF-82CF-59DAA51C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38B1B-80BD-4B79-B85A-9E2F7184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訓練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7FBEE-137B-4077-876C-46722C9E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會舉旗、懂風險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FBB08-A877-426A-8BC9-72EE06EF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B5FA4-2CAC-4879-8C06-006C4A0C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D0C5E-0B9F-4966-B34F-DC95F8DE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背心、旗子齊備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DF4A0-0A9D-46DB-9592-98CDC4B9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FCE040-462A-40C8-B738-A6121B20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交接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8E01B-C009-4274-ABF0-CB211585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班表與違規紀錄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9E7FF-B653-498D-B534-8F88F5CE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3-3-1、3-3-2。</a:t>
            </a:r>
          </a:p>
        </p:txBody>
      </p:sp>
    </p:spTree>
    <p:extLst>
      <p:ext uri="{BB962C8B-B14F-4D97-AF65-F5344CB8AC3E}">
        <p14:creationId xmlns:p14="http://schemas.microsoft.com/office/powerpoint/2010/main" val="20939395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4016B-01D4-4E35-8F8B-46F6A8C4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5DCBA-7565-46C1-97DA-11573445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輔導亮點｜資料要回到學生身上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BE95C-DBAD-4E9C-BEAD-D386B352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違規資料，不只拿來處罰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179E8-2C1E-4D22-88C0-E668F127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42912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DBEE7-4B46-4C59-885F-824C5E0E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立即制止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D198E-6D53-4B2B-9921-464C8856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留下勸導紀錄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必要時依規定處理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E5CF7-7DD8-46BB-9F18-5AE2934D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60769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9054C-504E-4007-8D60-14562B10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857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更重要的是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E9651-A2FD-4337-B219-5352C7B2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了解違規原因 → 同理處境 → 教會可調整策略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BD4B6-CF15-4E57-BE0E-F9873B3A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事故熱點另整理至班親會資料。來源：網站 3-4-1、3-4-2。</a:t>
            </a:r>
          </a:p>
        </p:txBody>
      </p:sp>
    </p:spTree>
    <p:extLst>
      <p:ext uri="{BB962C8B-B14F-4D97-AF65-F5344CB8AC3E}">
        <p14:creationId xmlns:p14="http://schemas.microsoft.com/office/powerpoint/2010/main" val="15735309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26A70-6C50-4CD0-ABF4-5E0B437B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5D778-9C5D-4383-BE61-F5832D17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114 最值得分享的，不是活動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3D685-FAEB-4C92-A392-61C07285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真正的亮點，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24833-8A4B-4608-8558-EE27A3FE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是讓工程發生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C4817-8540-4CF2-9C19-955AE598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857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學校沒有把危險的最後一哩，再丟回給學生『自己小心』。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970DF-4AF5-4895-BE41-7C28B9DC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581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1FBCE-41B7-484E-AA89-B8AC3A8F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4-4「學校創新特色」。</a:t>
            </a:r>
          </a:p>
        </p:txBody>
      </p:sp>
    </p:spTree>
    <p:extLst>
      <p:ext uri="{BB962C8B-B14F-4D97-AF65-F5344CB8AC3E}">
        <p14:creationId xmlns:p14="http://schemas.microsoft.com/office/powerpoint/2010/main" val="8830205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53E55-C968-4FAC-AA7E-64FF0773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C1A8B-5704-4642-8DA7-282E079F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工程不會只靠學校完成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DA688-8BBA-4704-8C0B-D1C04517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一條通學路，需要五方坐在一起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EE4292-B116-4B7F-8E7E-7DBA8826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FBA00-517E-4CDB-9598-5EAD378F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E9EE1-1E20-4FAB-9D57-1AC534E6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30BBC-DC97-49B6-839E-BBF02DB7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648A6-0CFD-4551-8EFC-521B4A86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DB4F8-C5B5-4446-B9FF-61575E41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74463-CF0D-42F3-9C06-CDD96ADC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DA6C4-0D6A-4D8A-9A72-3384397D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里長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D1FF9-39E2-4872-AA7A-7C7A4073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F3B74-EF04-4E83-A31A-6BBDEA48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居民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37397-F1E5-4EB9-96B0-58C62275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共同會勘｜協商停車｜討論標線｜確認可行方案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BE7B79-C082-4D2F-8585-417BDA64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4-4；112.6 至 113.5 的會勘、協調與施工紀錄。</a:t>
            </a:r>
          </a:p>
        </p:txBody>
      </p:sp>
    </p:spTree>
    <p:extLst>
      <p:ext uri="{BB962C8B-B14F-4D97-AF65-F5344CB8AC3E}">
        <p14:creationId xmlns:p14="http://schemas.microsoft.com/office/powerpoint/2010/main" val="9824484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D757B-1FBD-4025-BCA5-99D27F27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3D8C1-C45B-44AC-8BA1-EC399F8E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最後一哩，具體改了什麼？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4918B-2DCE-43BB-9E60-91DA7C60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 公尺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9194C-DC35-4B0B-9264-D6B42BED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AD79C-EB8C-45F3-98F3-E958CD1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和平路邊線外推，挪出行走空間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18EDD-E631-4DEB-863F-B44A2A67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行人號誌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A436E-951B-4178-A1C3-E1AF575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F18A9-63B4-46CD-BF99-8BCBE8FC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提高辨識，降低誤闖紅燈風險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A8E37-7008-48EF-9EFE-A4A12587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113.05.01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10173-C95B-40B7-A9A6-36D7AB5E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E3CFC-F55A-4DC7-A035-10D235AF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開始畫設標線型人行道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94BAD3-E365-4008-81C3-6406A762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這些是可被現場看見的改變，不是照片數量。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17EBB-9842-4BB9-A2C7-38E87C18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4-4；僅描述工程產出，不宣稱已證明事故下降。</a:t>
            </a:r>
          </a:p>
        </p:txBody>
      </p:sp>
    </p:spTree>
    <p:extLst>
      <p:ext uri="{BB962C8B-B14F-4D97-AF65-F5344CB8AC3E}">
        <p14:creationId xmlns:p14="http://schemas.microsoft.com/office/powerpoint/2010/main" val="2220853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8D6B1-89D1-4AC4-8D02-B0E329B0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09CE82-A226-47AE-9DEF-D7A3472E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照片把動線中斷說清楚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F954F-2F5C-4DC4-8AC8-7BA5E815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429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下一步：把標線型人行道的缺口補滿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1F1EE-2F61-47E3-AB90-4338CA35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476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校內人車分流已用紅箭頭標示方向；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校外 4-4 紀錄仍有住戶門口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暫不劃設的缺口。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84301-06E1-4F23-A21F-E0DA3A0D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訪視資料要說實話：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已完成哪一段？還缺哪一段？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fa11888b24c19"/>
          <a:srcRect xmlns:a="http://schemas.openxmlformats.org/drawingml/2006/main" l="0" t="91" r="0" b="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1095375"/>
            <a:ext cx="5715000" cy="4476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5705C-410C-4384-920A-95D6F1EB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3-2-1、4-4；紅箭頭為原照片標示，部分校外路段仍有缺口。</a:t>
            </a:r>
          </a:p>
        </p:txBody>
      </p:sp>
    </p:spTree>
    <p:extLst>
      <p:ext uri="{BB962C8B-B14F-4D97-AF65-F5344CB8AC3E}">
        <p14:creationId xmlns:p14="http://schemas.microsoft.com/office/powerpoint/2010/main" val="15140520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8D319-D238-4A1C-910E-C09D219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51993-A255-480F-846E-D359628A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工程不是公文往返，是現場把問題說清楚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C57A1-35E1-43B0-B883-19E2D6AC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先一起走一次，才知道該改哪裡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6f17b35954cef"/>
          <a:srcRect xmlns:a="http://schemas.openxmlformats.org/drawingml/2006/main" l="0" t="8818" r="0" b="88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43125"/>
            <a:ext cx="685800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8FED4-FD35-4D0F-B580-7E958F1B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學校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0EAE2-50F5-4526-B554-49AFB9A7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00375"/>
            <a:ext cx="285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交通處｜教育處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里長｜居民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A6CB9-95B0-4480-A8D8-930AA123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619625"/>
            <a:ext cx="2762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A1163-E9B3-4A42-8EC8-62C261C1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530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共同看見，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才有共同決議。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1A3DA-7063-4418-B9BA-46A56177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來源：竹光國中 114 交通安全網站 4-4。</a:t>
            </a:r>
          </a:p>
        </p:txBody>
      </p:sp>
    </p:spTree>
    <p:extLst>
      <p:ext uri="{BB962C8B-B14F-4D97-AF65-F5344CB8AC3E}">
        <p14:creationId xmlns:p14="http://schemas.microsoft.com/office/powerpoint/2010/main" val="15017075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6295C-077C-4942-8E95-BFC4365D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4E90F-43F7-42BB-8630-011B0158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接送分流不是表格，是每天的現場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5AAE0-380B-44A0-AAC5-C04203D5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人、機車與汽車，需要不同的停等空間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69831-E1BD-47A7-B9A9-6969BA6F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81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先看現場衝突，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再決定分流、停等與導護配置。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18302-4924-4907-8418-A3603547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照片讓同仁不用靠想像，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一眼看見尖峰時段的壓力。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aaee971294f6a"/>
          <a:srcRect xmlns:a="http://schemas.openxmlformats.org/drawingml/2006/main" l="0" t="2613" r="0" b="26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24750" y="1428750"/>
            <a:ext cx="34290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15DF0-41DB-4DED-8599-67FA87D2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來源：竹光國中 114 交通安全網站 3-5-1。</a:t>
            </a:r>
          </a:p>
        </p:txBody>
      </p:sp>
    </p:spTree>
    <p:extLst>
      <p:ext uri="{BB962C8B-B14F-4D97-AF65-F5344CB8AC3E}">
        <p14:creationId xmlns:p14="http://schemas.microsoft.com/office/powerpoint/2010/main" val="3984479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12EAE-BEB3-4705-8789-E19E89E4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64C66D-2DF1-430D-8025-70F6785D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從駕駛視角看學校周邊常見路況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6A030-76EB-4CA5-8212-EEDE0A08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572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遠方號誌，會不會吃掉眼前的風險？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cbbc74bba42bd"/>
          <a:srcRect xmlns:a="http://schemas.openxmlformats.org/drawingml/2006/main" l="0" t="2539" r="0" b="25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90750"/>
            <a:ext cx="6858000" cy="3619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E3B1D-8AEA-4C6C-A9E7-48468B0F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無號誌路口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5BC70-0F8B-466F-8827-0A221EB8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行人可能就在近端，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駕駛注意力卻被遠方綠燈拉走。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12DA9-DAF9-4192-B659-0A6EC543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D9D4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D9D4C9"/>
                </a:solidFill>
                <a:latin typeface="Microsoft JhengHei"/>
                <a:ea typeface="Microsoft JhengHei"/>
                <a:cs typeface="Microsoft JhengHei"/>
              </a:rPr>
              <a:t>這不是只靠提醒就能消失的風險。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D82A8-24B9-4F5E-94A6-839DD5B1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來源：使用者原簡報第 9 頁。</a:t>
            </a:r>
          </a:p>
        </p:txBody>
      </p:sp>
    </p:spTree>
    <p:extLst>
      <p:ext uri="{BB962C8B-B14F-4D97-AF65-F5344CB8AC3E}">
        <p14:creationId xmlns:p14="http://schemas.microsoft.com/office/powerpoint/2010/main" val="38513092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B4226-6A31-4A85-8D47-99FF66E9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26E508-0950-41FE-A054-56EB63B6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資料與成果要分開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CEB38-686B-4633-AD28-92061C97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這才叫成果：風險條件被改變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03F83-E2D9-4064-A13F-00EAE664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有文件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7D008-578A-40DC-BDA2-D53CEF6F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4000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會議紀錄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活動照片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網站頁面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FA27E-532C-4FC9-9CAE-52486A4F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有改變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FDF8D-5604-473D-89E9-E17BE3DD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多出行走空間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號誌更可辨識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跨單位有決議與時程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54052-51A5-4C64-9371-80A243A5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案例來源：網站 4-4。事故與車速結果仍需另行追蹤。</a:t>
            </a:r>
          </a:p>
        </p:txBody>
      </p:sp>
    </p:spTree>
    <p:extLst>
      <p:ext uri="{BB962C8B-B14F-4D97-AF65-F5344CB8AC3E}">
        <p14:creationId xmlns:p14="http://schemas.microsoft.com/office/powerpoint/2010/main" val="17470629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156CD-DE8C-499E-AF95-C31348EE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82913-9C4F-45B7-AED2-88445256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教授的回饋：肯定做法，也指出下一步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5A283-43F6-4B12-92DC-7BCC1CCD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三個優點，三個還要補強的地方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4265E-CB24-431D-8AC3-9BF62EE0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8101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18A3C-7DB5-47CD-A03F-7107EF2E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看見的優點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BEA37-3678-447A-9867-8DCEBBD1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81375"/>
            <a:ext cx="4000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計畫執行落實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活動融入交安議題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標誌安排於合適地點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EAB2A-0915-4601-A1A6-1895F781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81250"/>
            <a:ext cx="5695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8A11A-B799-4C30-BD4B-4F004A55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教授的建議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5DDE5-04A3-4F02-AAC2-8340BF24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81375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交通能力融入課程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建立交通能力指標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融入交通四守則與交通素養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FF501-957D-45C4-8630-3386F449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來源：使用者原簡報第 34 頁「教授的建議」。</a:t>
            </a:r>
          </a:p>
        </p:txBody>
      </p:sp>
    </p:spTree>
    <p:extLst>
      <p:ext uri="{BB962C8B-B14F-4D97-AF65-F5344CB8AC3E}">
        <p14:creationId xmlns:p14="http://schemas.microsoft.com/office/powerpoint/2010/main" val="231841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07031-A8A5-4BB3-A13A-646DFCDE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C1AE5-EC83-4FD1-94E5-A1482B1A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訪視時由誰報告？原始資料給了意外答案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1D5A6-A27D-4CD0-A2A6-A2AB142D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三次訪視，三種報告者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72EEF0-F441-4121-81F5-1C67F708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24995-7EEF-4804-B0DE-E125EEA6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87BE6-2E3E-47D7-8B30-962C8A3A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生教組長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F8873-8DC4-41AE-A58B-B823273E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C1B9F-DDF7-49F8-A22C-3D7FD6DA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120FE-3791-4AD5-AB64-9B44F34F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75E94-FFF7-403C-8F38-48F885BC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FD055-D735-4301-93E6-7A4D7020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FCC11-903E-464A-8797-F5E66572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學務主任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D2A3F-C067-4CE0-9E71-B737188F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名次不能只歸因於報告者職稱。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BF4CCB-1984-4A28-AEA5-E63167E6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來源：使用者原簡報第 29 頁。</a:t>
            </a:r>
          </a:p>
        </p:txBody>
      </p:sp>
    </p:spTree>
    <p:extLst>
      <p:ext uri="{BB962C8B-B14F-4D97-AF65-F5344CB8AC3E}">
        <p14:creationId xmlns:p14="http://schemas.microsoft.com/office/powerpoint/2010/main" val="2110817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D65C1D-C2D2-4C24-AE4B-518FC04C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EEDE7-5E8B-4DBE-BB5C-C20B32D6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我的建議：不要迷信校長一定要上台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4C2812-8BED-4FD5-82C8-9ACDA865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誰最適合報告？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CA9F8-0D0F-40E7-BBAB-43CB9288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D6F88-22E4-408F-82DB-F3C33E4E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9B450-9A59-410B-A4AC-684CE205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860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知道校本問題的人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8E7D4-C584-455B-91CF-5101D385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BC423-6E80-4AC0-B430-7CF3BB3D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EECEA-1F5F-492B-8F36-425A1A16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8617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找得到證據的人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F32A8-F7A6-4AFE-A555-3A906F60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FDC8A-4288-4AFC-A917-F5B59F11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4968B-BA7B-4484-B057-DA085154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敢說出制度界線的人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5BA5C-5108-4116-8E30-C4420A2B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本頁為依三次報告者經驗提出的實務建議，不是評分規定。</a:t>
            </a:r>
          </a:p>
        </p:txBody>
      </p:sp>
    </p:spTree>
    <p:extLst>
      <p:ext uri="{BB962C8B-B14F-4D97-AF65-F5344CB8AC3E}">
        <p14:creationId xmlns:p14="http://schemas.microsoft.com/office/powerpoint/2010/main" val="107784742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21E9B-5497-4675-81DB-6D0ED98A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EC126-E981-4388-AC8A-E1E18952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事半功倍的核心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CF8CD-0857-4776-B87B-2147224F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效率不是少做，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30196-9CF9-41F2-990E-30A7463C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是每份資料只做一次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9AB47-B71F-498C-B10D-518314C7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平時服務教學與安全管理，訪視時只是再次使用。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A685C-1174-473E-957B-42CACE6F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619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69231-9C5A-4442-B19C-CAFC92F4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整理自網站即時上傳、公民講堂共用素材與校本資料流程。</a:t>
            </a:r>
          </a:p>
        </p:txBody>
      </p:sp>
    </p:spTree>
    <p:extLst>
      <p:ext uri="{BB962C8B-B14F-4D97-AF65-F5344CB8AC3E}">
        <p14:creationId xmlns:p14="http://schemas.microsoft.com/office/powerpoint/2010/main" val="149153233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E8A5F-6A7E-4718-876D-FE6EC928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FDAC9-0426-42E6-A880-ADAB6F7A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可直接複製的工作流程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431AC-4DCB-49FC-B5D9-A0A0C896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五步驟，把訪視變成平常工作副產品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740D1-6CDF-44D0-8BBD-8E443300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7C177-F7CB-4EDE-A17A-2B056CF2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5D6A0-F788-421F-8C48-57C86B8B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列問題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825A6-1990-4990-93C2-79E060A3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通學與事故風險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1D838-AB24-4BC4-975A-83EA4168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8C01-D205-42C5-A61F-2F3FEFAF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23057-C00A-4036-AE27-6E5C4AE5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借時間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E42E9-8D57-4FAC-AFC6-81FEBF0A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導師課與既有學科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5E9DA-8EFA-4BE4-B149-52EB2CC7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8B7046-D20E-456E-9EBD-BD01BC0D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4642B-A27A-4806-9C23-BC193973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共用素材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3ADE1-1FBF-4D6F-A298-06E0942A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一個資料庫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96515-70B6-4EC3-83AC-F144107D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9B0EFA-1F3D-4404-A4D9-4276D016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F6090-537D-4082-A72A-B8C7A8CA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即時歸檔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BADA3-342B-4665-BE2D-96773E16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依指標放網站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C24CC4-4FA2-4086-A294-B5BD7FB9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0B946E-F6F5-4E9F-B45E-08727A13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A6D20C-426B-4259-AC6A-F3E3DC3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追工程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E86A18-46B2-445E-ADD4-FE34236B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責任人與時程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B04A2E-7F6A-438A-9CB8-BE901569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案例轉譯：竹光國中 114 訪視網站。</a:t>
            </a:r>
          </a:p>
        </p:txBody>
      </p:sp>
    </p:spTree>
    <p:extLst>
      <p:ext uri="{BB962C8B-B14F-4D97-AF65-F5344CB8AC3E}">
        <p14:creationId xmlns:p14="http://schemas.microsoft.com/office/powerpoint/2010/main" val="116563321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CBF4D-9258-42F9-A583-3638274E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F9EE5-09E2-4C0F-802C-76756752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報告不需要一本書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34C82-BC6B-48C3-9417-11994F5D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一張表，只講五件事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6E532-1A95-4AE2-AC8A-D57CC82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022A8-1BE7-40D0-894B-50DF13ED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34FFE-E43F-4141-9203-CD34069B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哪裡有風險？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CE7EB-3F13-4E41-8C4F-5B51FB22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53265-2499-41AE-977B-93BC0723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FEDCB-5BA9-4BA7-AA25-CE65933C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誰做了什麼？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2890B-0D8D-4F7A-8EF0-84AE5D33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4ED48-2B1E-4458-A8E3-7F0028FD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1BD05-8D4E-409C-8820-03904D73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如何確認做過？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E51E5-29C3-4F38-A64A-FA3B4BF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1E5BF-F16C-40A9-9EC4-3FB22EA9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EEA175-CD40-4687-B6EF-4E9AC465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什麼條件改變？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F08C3-2BD6-4208-8C85-EECED0D0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F7D0A2-1B54-4A87-96A1-DBE88A56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439D4-C882-4F66-8939-25E1C98E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誰何時接手？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1D2324-B1EE-41A8-8EB8-A70D45E6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建議格式：問題 → 做法 → 證據 → 結果 → 下一步。</a:t>
            </a:r>
          </a:p>
        </p:txBody>
      </p:sp>
    </p:spTree>
    <p:extLst>
      <p:ext uri="{BB962C8B-B14F-4D97-AF65-F5344CB8AC3E}">
        <p14:creationId xmlns:p14="http://schemas.microsoft.com/office/powerpoint/2010/main" val="179416190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334380-124F-496C-B379-CBD1B64D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858E9-877E-4801-B7E1-31E26389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減量清單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A4558-0D0F-4333-BA96-725DE497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五樣東西，不必為訪視重做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F97F7-FC4D-4425-B0E5-B8BBFD9F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D2F38-C261-441B-8DD7-DACBDDDF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91760-BEC5-4A37-A2FF-F11AFCFE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717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不另開一門交通安全課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863CF-5044-47F3-9503-AB5ED078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C6A29-FC51-452E-8296-794E1EE5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D45895-7823-4535-AC69-F3DE98EF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575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不為每次訪視重做網站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877C8-D479-464B-B4EC-DD554F21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D0E4A-C6F5-466C-A0FF-EB1DA9EE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3206F-939D-44FC-AF01-476FE375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433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不臨時補活動與照片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7D189-2074-4A91-AF1A-6F706EEA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834CE3-A654-4124-961C-90ABF52A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00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2404A-917F-4B4C-A756-75C125D5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4291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不重複向處室收同一份資料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1A1EA7-1AFA-4B0B-87E1-ADE7DE07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9064E-2927-4994-BA8A-2D180C7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DCA0DB-FFA4-49C1-80D4-08E37D28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149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不把工程問題包成教育成果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7BBCCE-6D8B-4CEB-8D14-C59F5069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把時間留給真正能降低風險的工作。</a:t>
            </a:r>
          </a:p>
        </p:txBody>
      </p:sp>
    </p:spTree>
    <p:extLst>
      <p:ext uri="{BB962C8B-B14F-4D97-AF65-F5344CB8AC3E}">
        <p14:creationId xmlns:p14="http://schemas.microsoft.com/office/powerpoint/2010/main" val="2252562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4C06A-2DD2-40E7-999D-7CB89954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123AD-EF12-46F3-A00C-9836C182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訪視的測量邊界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734B1-A44B-423F-84D0-31AB0145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評鑑測到的，可能只是資料呈現能力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C8B77-0225-4802-A3D3-866AA0F0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2F4EB-1C7C-4655-A6DD-97535F6E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投入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190E2-0A1D-4B34-A3BF-30BDFDB2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人力、經費、會議、志工與行政時間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6F703D-C826-4953-8F1A-F096B2AF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DE5F2-64EB-46ED-88AA-DBFDDF6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A7224-6585-4CF0-8F41-2959ECF6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課程、宣導、網站上傳、資料彙整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61211-F1C9-48F8-83B2-F41BE47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1952E-7736-4199-A78A-A1D6E34F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產出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F805F-126F-4659-AB6A-B6317786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活動場次、文件份數、照片與成果冊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CFE13-0E40-4F21-AD7C-4896C8CB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14288">
            <a:solidFill>
              <a:srgbClr val="FFCF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93968-30B4-465C-9167-C2B66212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93C40-4945-4843-BF6B-700BC052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速度下降？風險降低？通學路線更安全？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CA80C-110C-499C-B358-D29E5771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前三者可以證明「做過」；只有結果能回答「有沒有更安全」。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8A1989-122A-4E65-8BD2-F77C98CA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評估架構參考：UK Government, Magenta Book（process / impact / outcomes）。</a:t>
            </a:r>
          </a:p>
        </p:txBody>
      </p:sp>
    </p:spTree>
    <p:extLst>
      <p:ext uri="{BB962C8B-B14F-4D97-AF65-F5344CB8AC3E}">
        <p14:creationId xmlns:p14="http://schemas.microsoft.com/office/powerpoint/2010/main" val="1473376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326D84-D7AD-4892-AF52-C6BC2A66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21FBB-7917-487C-8A07-195CE52E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不是反對評鑑，是要求評鑑回答正確問題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F6F76-6E45-4D74-BEE1-DB6F9F71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四問評鑑：它有資格代表「安全」嗎？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BBF1B-5E82-4B18-8BB3-59802D3B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E37FA-584F-443E-A9B6-E66C1975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4B7E5-C9ED-49CC-8B39-7FA4BDF8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構念是什麼？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28677-2680-40DD-AD79-C54BABF5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194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評的是交通安全、行政完整度，還是簡報表現？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B4C57-032B-488A-920A-5A8C7819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7FD38-B1CF-4469-A9CE-75E6E5B8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B2262-1351-4E2C-A935-6432BF9F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評分穩不穩？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24DA66-110C-46E4-BC55-C8AA5E8D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194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相同證據換一組人，結果會不會完全不同？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78B51-E99B-4572-BC8F-5C2B7A9F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65DA9-366F-437D-B84F-8C30476A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8350A-52F7-4CA5-BB92-2F51A2BE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291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能連到結果嗎？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C13F7-B99C-4781-8E5F-A9A7DF8F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76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高分是否對應更低的速度、事故與通學風險？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636DAD-1554-4322-BFE1-9FA97B60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91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F582D-CF2D-4022-8273-DDD6F35C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1960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93370F-83DC-4EE0-88E1-27996235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291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會不會扭曲行為？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3B6817-E50B-48BE-8807-EDDE4616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76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學校是否被迫把時間花在可拍照、可裝訂的工作？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D514EE-6A75-4899-9FB7-8D53906C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依三次訪視經驗提出的效度檢核；不宣稱已完成正式心理計量研究。</a:t>
            </a:r>
          </a:p>
        </p:txBody>
      </p:sp>
    </p:spTree>
    <p:extLst>
      <p:ext uri="{BB962C8B-B14F-4D97-AF65-F5344CB8AC3E}">
        <p14:creationId xmlns:p14="http://schemas.microsoft.com/office/powerpoint/2010/main" val="210798795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0EE84-001F-4BB1-A1D7-9FFEEAD5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1CAB4-B99A-43A6-8C67-9CA18E46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教育現場已經 overloading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BFB8B-122C-45E8-8A46-F9B467E0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把行政負荷當成安全證據，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16026-8E11-454B-8327-8FC81B42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成本由誰承擔？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AA56C-2F90-4F51-BB2B-78C32B4D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810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OECD TALIS 2024：平均約 52% 教師把過多行政工作視為工作壓力來源；行政時間增加與福祉下降的關聯尤其明顯。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DDA45-6D34-4D45-BC57-1397E803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52625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新增任務前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請先說明：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要刪掉什麼？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B42B0-CF68-4F16-B215-87CE99A5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9625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A0F95-3194-4FF1-8A04-574CE95B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來源：OECD, Results from TALIS 2024, “The demands of teaching”.</a:t>
            </a:r>
          </a:p>
        </p:txBody>
      </p:sp>
    </p:spTree>
    <p:extLst>
      <p:ext uri="{BB962C8B-B14F-4D97-AF65-F5344CB8AC3E}">
        <p14:creationId xmlns:p14="http://schemas.microsoft.com/office/powerpoint/2010/main" val="63286825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E1F43-C2D7-4911-9928-03F1FBC8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1116B-96D1-434F-ABF5-C985EF4D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把注意力拉回真實世界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B7567-F446-43D7-B4EC-FFA0E4BB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即使評鑑失真，交通安全仍然真實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CBB03-FC5C-4566-A680-2B0C1EE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7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87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2,858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DDDC-9299-4C35-BFBD-7296CBC4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臺灣 2025 年道路交通事故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30 日內死亡人數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7C6E7-36E0-43FD-8548-F361FAE8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116萬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E5B09-CE64-466C-9C7E-1B5095E0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86200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WHO 估計 2025 年全球道路交通死亡；道路傷害仍是 5–29 歲主要死因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D2FC9-30D9-44E2-B5CA-D7B9A083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來源：交通部 168 交通安全入口網（2026-03-25）；WHO Road traffic injuries（2026-07-20，2025 年資料）。</a:t>
            </a:r>
          </a:p>
        </p:txBody>
      </p:sp>
    </p:spTree>
    <p:extLst>
      <p:ext uri="{BB962C8B-B14F-4D97-AF65-F5344CB8AC3E}">
        <p14:creationId xmlns:p14="http://schemas.microsoft.com/office/powerpoint/2010/main" val="60937343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EAB02-99EC-4C43-AE1C-C64B17F1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DC6FC-E706-4D67-9722-7C5BDE16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重新定義交通安全教育的目的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C70B3-0B9F-44EB-91DC-6CD7C52A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971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目的不是訓練永不犯錯的用路人。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A16B0-79F9-498D-8CC3-84FD7D4F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9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而是打造犯錯仍能回家的環境。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0DC7E-1E93-4487-87D0-339A3D34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238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51E50-3C61-4B66-AB77-6C44A808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這就是人本交通，也是 Safe System 的倫理起點。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3AC1B-8035-4C54-9D8E-B1C8AF3B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概念來源：FHWA Zero Deaths and Safe System；WHO Safe System approach。</a:t>
            </a:r>
          </a:p>
        </p:txBody>
      </p:sp>
    </p:spTree>
    <p:extLst>
      <p:ext uri="{BB962C8B-B14F-4D97-AF65-F5344CB8AC3E}">
        <p14:creationId xmlns:p14="http://schemas.microsoft.com/office/powerpoint/2010/main" val="196100375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6D9F22-5145-4334-919E-65BC6F00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DC04B-7951-4E44-A89B-6C08A521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國際共同語言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A647A-51F0-4927-832B-B00F54A3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Safe System 的六個原則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3193E-1F9A-4C8A-8A19-5201A6AD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26274-D09A-437E-8B3F-158DDDB0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76114-8B5E-4CBE-9768-C5A4652E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死傷不可接受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8549-31DD-4ACD-9A36-F8754578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目標不是少一點，而是避免死亡與重傷。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66C0F-8513-4FCB-9F65-3F4885AE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B577D-1EC2-47FC-9ED7-01D27B80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25A35-B92F-4862-9ACD-77735ECF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人一定會犯錯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E1860-A810-49DB-A4D2-36F5F8BB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系統必須預期錯誤，而不是只責怪個人。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3FE11-173A-4F13-83F8-0B26A9D3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18E9C-DA47-4DB6-AD2D-CC5BC9F9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04973-52AF-4AB2-9C41-EDE91734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人體承受有限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E2C97-282D-47A6-9678-CCC2BB72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速度與撞擊角度必須符合人的生理極限。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22F0D-BD9E-41A8-8618-C5B53EC5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347ED-B18C-4013-94FE-B9E87DA8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15F783-EC90-4F4E-8DC0-5C2AB23B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責任共同承擔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EA998-C0F7-4839-BB7B-D0842F75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設計者、管理者與用路人都有責任。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CCEF5-D9F8-4F8B-A778-B0F494B2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8781A0-EE32-469D-8E12-8537D6D5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1A3E0E-0051-4F25-8559-5BDBA118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安全要主動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AE60D5-AC3F-4A6E-88CF-EF04D081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在死亡發生前，先找出高風險位置。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936AD7-26BF-4B77-A405-9AD90D2A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670B42-209B-4BC9-B958-7F98594F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B40C62-1AF2-4349-B03C-227ABEF5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需要多重防護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1EF345-D7DD-4ABC-BA05-5646268E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一道防線失敗，還有下一道保住生命。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46DC36-2B03-43E0-933F-72D9A3DA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來源：FHWA, Zero Deaths and Safe System。</a:t>
            </a:r>
          </a:p>
        </p:txBody>
      </p:sp>
    </p:spTree>
    <p:extLst>
      <p:ext uri="{BB962C8B-B14F-4D97-AF65-F5344CB8AC3E}">
        <p14:creationId xmlns:p14="http://schemas.microsoft.com/office/powerpoint/2010/main" val="156057474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138BC5-AD70-4D3B-A882-1CA49E33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4B930-6121-4888-A37F-8654279C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責任必須被看見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7A716-7FBD-4CEE-A2DD-8EFFE73F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教育只是五道防線之一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0CB6-761C-4EF0-AB11-A24015CB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不能獨自背負安全結果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6361A-3F12-4A11-8C0A-A5CCBCFB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67E22-C66A-427A-A76A-6C136F00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安全用路人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1F64C-6653-4B3B-BF0D-D07DAE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B97E8-A70B-492A-AED8-CCDCB61A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安全道路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01B6D-6DDB-452D-BA6A-EEA0D73D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60C6B-EF93-41CA-ADDE-A018904F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安全速度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B2D1D-7CB7-4A8E-A34A-587FAD3C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8C5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E17F0-B2FF-44E6-95D3-96C835EB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安全車輛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F6D32-3011-492C-AC2A-0403539B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5551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3F7B6-FDBF-4C1D-B23F-95D7E44D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事故後照護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3377E-FCEE-4424-BAB6-6650AE04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任何一層失效，其他層都應降低後果；這才叫系統。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70D74-B5AF-4524-A75D-7B17FC4F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來源：FHWA Safe System elements。</a:t>
            </a:r>
          </a:p>
        </p:txBody>
      </p:sp>
    </p:spTree>
    <p:extLst>
      <p:ext uri="{BB962C8B-B14F-4D97-AF65-F5344CB8AC3E}">
        <p14:creationId xmlns:p14="http://schemas.microsoft.com/office/powerpoint/2010/main" val="97811280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ADD2F-6E7C-4039-839A-FA40DC3D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9A2AE-729B-4C09-8235-B3EE1116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教育的邊界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B8400-CBD7-4EEC-AD28-9E1DD934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只給資訊，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E37E4-5177-403D-AF83-9B69848B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幾乎不會單獨奏效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D3FD8-CE0E-4277-9B62-F871EE98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 的人因教材直接指出：僅提供資訊通常無法改變行為。教育要與工程、執法、制度與可行選擇一起發生。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5C804-B5F4-4B5B-B8FC-97432C2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191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E60DE-68AE-4613-932C-BA9968FE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3238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不要把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工程怠惰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的後果，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歸咎到教育上。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B0F14-2617-4A54-8931-879E0122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72000"/>
            <a:ext cx="2000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B2648-AB1B-4ADB-9EF7-71179EAE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來源：FHWA Road Safety Fundamentals, Unit 2；使用者原簡報第 14 頁。</a:t>
            </a:r>
          </a:p>
        </p:txBody>
      </p:sp>
    </p:spTree>
    <p:extLst>
      <p:ext uri="{BB962C8B-B14F-4D97-AF65-F5344CB8AC3E}">
        <p14:creationId xmlns:p14="http://schemas.microsoft.com/office/powerpoint/2010/main" val="156453464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0D66E-F8FA-4336-A918-F0499BE8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A3E5F-68B7-4D2A-A300-3C22015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在地經驗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114861-5582-40D1-B8C1-BBB49EF3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環境決定人能不能做對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D88D1-7A5D-4103-862A-855CA7C0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762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一句「十次車禍九次快」，敵不過讓駕駛自然減速、縮短穿越距離、提升可見性的工程。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035F2-A3F7-4761-9276-47CBEDA3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教育教判斷；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環境讓正確判斷做得到。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F5705-7852-4970-A176-DB034BDC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095375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6d57954014a49"/>
          <a:stretch xmlns:a="http://schemas.openxmlformats.org/drawingml/2006/main"/>
        </p:blipFill>
        <p:spPr>
          <a:xfrm xmlns:a="http://schemas.openxmlformats.org/drawingml/2006/main">
            <a:off x="6229350" y="1750219"/>
            <a:ext cx="4953000" cy="278606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55B33-ED0D-40CD-B752-3F0E395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3400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E3F41-63ED-43A0-8DD4-350DFD6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案例來源：使用者原簡報第 10–11 頁；圖片為臺北路口降速措施案例。</a:t>
            </a:r>
          </a:p>
        </p:txBody>
      </p:sp>
    </p:spTree>
    <p:extLst>
      <p:ext uri="{BB962C8B-B14F-4D97-AF65-F5344CB8AC3E}">
        <p14:creationId xmlns:p14="http://schemas.microsoft.com/office/powerpoint/2010/main" val="154309516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2EA26-4603-4462-8648-7EAA0508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C5326-794A-41C3-9F89-01053FAC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國外不是更會宣導，而是更早改變系統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32F80-906D-4200-A029-3033B5BC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瑞典與荷蘭把安全放進設計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B652F-D6CE-426C-AE30-9FBB196E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7F16F-277C-42C9-8E0F-0D38EFF8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瑞典｜Vision 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1D511-CB72-4BCF-BEAA-822A5DBB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1997 年成為國家政策。倫理前提是死亡與重傷不可接受；道路系統設計者必須承擔防止嚴重後果的責任。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ABEDD-353E-4BC8-B887-644C0A2E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0BE2F-1AE2-4F48-B6C0-AE92CEAD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14625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荷蘭｜Sustainable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32C5B-8EFD-4342-A2EA-FC60D632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81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道路功能要清楚、速度與使用者相容、設計可預期、容錯且具限制性；安全是設計原則，不是補救活動。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AF822-B3DE-4EFC-A4F4-EA8A95EB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來源：Swedish Transport Administration / Vision Zero Academy；SWOV Sustainable Road Safety。</a:t>
            </a:r>
          </a:p>
        </p:txBody>
      </p:sp>
    </p:spTree>
    <p:extLst>
      <p:ext uri="{BB962C8B-B14F-4D97-AF65-F5344CB8AC3E}">
        <p14:creationId xmlns:p14="http://schemas.microsoft.com/office/powerpoint/2010/main" val="128761614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CE8D6-709A-42D5-AA76-C1E2457C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57327-CF04-43D5-8D5A-78BB4FA2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交通安全教育的核心問題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2816C-2550-4400-9CF8-746E87E0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交通安全，到底要教什麼？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335EE-8C2E-4EBE-9CC3-7C637826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教的不是一套永遠不變的規則，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1CE30-065F-4619-940A-CCAEA4FE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而是遇到新的路況，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仍能做出安全判斷的能力。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3F4DD-7B21-46AE-B717-799C4980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428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465A9-F909-4608-AFC2-7A56F21F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風險辨識｜系統理解｜公民參與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037D7-8489-4A35-8DF2-6565B092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內容整合：本專案 GOALS.md、Safe System 與使用者原簡報第 20–25 頁。</a:t>
            </a:r>
          </a:p>
        </p:txBody>
      </p:sp>
    </p:spTree>
    <p:extLst>
      <p:ext uri="{BB962C8B-B14F-4D97-AF65-F5344CB8AC3E}">
        <p14:creationId xmlns:p14="http://schemas.microsoft.com/office/powerpoint/2010/main" val="144322163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38E403-923F-451E-85FC-E721E722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7B28F-9226-4F95-A40B-9AB61E3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教育仍然重要，但角色要精準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FF70E-1C8C-4FC8-95CA-A97220ED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學校真正該教的三件事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F4911-E0D5-4C57-A76D-23B06ED9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E0A36-2696-44DB-A55E-B66E7E2E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0178B-BB53-4BAE-836B-FC778A81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保護自己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CAF867-55B4-4607-BA33-0FAEA418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風險感知、視線死角、速度判斷、防衛性用路與不同環境的應變。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321B0-AAFD-43AF-9F60-3C003DFE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0F9A9-F3C5-47FE-9A6B-E7493244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4486ED-E0B4-4DF4-9422-41C74CF2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看懂系統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3D0BA-F5EC-4CE5-ABA3-E943663D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辨識道路功能、穿越距離、車速、衝突點，以及設計如何影響行為。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8E659-CEFE-483C-A8E4-BBB56E7A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2FD4C-E6F9-46D5-BA52-A77EB7D2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918654-CFD8-4399-95D2-00BB8533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參與改變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CEB6C-9BE2-4EEC-9DAB-4163E602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調查通學路線、提出改善方案、與公部門溝通，成為支持人本交通的公民。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A82580-71A4-4B84-8DC9-72810DF2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內容整合：Safe System、人本交通與使用者原簡報第 20–25 頁。</a:t>
            </a:r>
          </a:p>
        </p:txBody>
      </p:sp>
    </p:spTree>
    <p:extLst>
      <p:ext uri="{BB962C8B-B14F-4D97-AF65-F5344CB8AC3E}">
        <p14:creationId xmlns:p14="http://schemas.microsoft.com/office/powerpoint/2010/main" val="188197934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D3F86-316B-4FA8-8C5C-6FFC8C7D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81E00-6C34-4EB3-9730-61E276A6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不用再新增一套大型課程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61D72-F01A-4249-BA97-9EB2B166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一支影片，轉成 10 分鐘的公民課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E77E3-BCDE-463A-8648-1A25B4DC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6A8FE-C405-4FA7-B848-8B454EF6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95DE5-AC86-4F52-B58D-2FF5583B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看見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50678-3C88-4FCA-9C92-0885015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哪個位置讓人不安？誰最脆弱？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B9C3E-4AE7-4457-9424-83643087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D9582-A190-4A17-A08F-658258D3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02C81-7A49-4D85-B5B9-99E7D808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命名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BE950-FFB3-4DD4-A282-D852D26D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問題是速度、視距、動線，還是責任設計？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B7805-112A-471C-8BA5-05B9AA23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D2E11-057F-4E3D-BEC8-F3656EE8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BAB2E2-CAC4-405B-AD99-EB11ABC5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重畫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8890A-1072-45DE-93B0-01E7A355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如果容許人犯錯，道路要改哪一處？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EA2AEC-B5F0-4169-AF1A-A1162784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1A9BA-81FB-4666-B201-3BD81E9C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DA0FB-4BAB-4A67-B5CC-4F91DEE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發聲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88CA17-89E1-4F99-BD1E-4603550C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用一張圖、一段理由，提出可回應的建議。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88ECA-BE1E-4DC8-A95E-CF94C1A1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教學轉譯建議：觀察 → 系統語言 → 設計 → 公民表達。</a:t>
            </a:r>
          </a:p>
        </p:txBody>
      </p:sp>
    </p:spTree>
    <p:extLst>
      <p:ext uri="{BB962C8B-B14F-4D97-AF65-F5344CB8AC3E}">
        <p14:creationId xmlns:p14="http://schemas.microsoft.com/office/powerpoint/2010/main" val="156625483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C3B5E-B190-458A-9697-C5A57A48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9F994-1B90-4B9F-B23D-22FDAF52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影片不是答案，是討論的起點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1FCA0-B7B8-4608-B8F5-B5BAE43C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三支可直接使用的影片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11CF8-2848-414D-BE48-1C5411AD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C597D-8CD3-4BB2-8AF1-7A1C529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5′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24F5C-3A1C-4903-9FE4-8A64D317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FHWA｜The Safe System Approach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9837C-B145-4FA0-9D98-F942FB53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4797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官方資源：人會犯錯、責任共享、多重防護。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563E7-9CE6-49F7-8E98-12D05F64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03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highways.dot.gov/safety/zero-deaths/zero-deaths-resources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9A82A0-64D2-4600-AFB7-C689F46B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AE137-4DF5-4B05-92C1-43199F18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8′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317193-8351-4517-A7A3-41EEFD1D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957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BicycleDutch｜Systematic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7C75A-2633-451C-830A-00B715B6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862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荷蘭街道如何把 Vision Zero 變成系統設計。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4FFD2-5AEC-4E5C-B232-D3B5010F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3857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youtu.be/5aNtsWvNYKE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399E4-477E-4043-AAC4-A4B5AFA7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93293-9B8A-4312-BF6F-FF57177B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5′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BF356-20C5-411A-B7EC-AB24FFB7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3395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Not Just Bikes｜Traffic Calming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122738-FBDB-4D8A-88B7-2893678B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2447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觀察自我解釋的減速設計，而非只看速限牌。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40B3FE-A03E-40DC-A532-3E2312B5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768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youtu.be/bAxRYrpbnuA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8270F8-B34E-42FF-92A3-F5B7C993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非官方影片用於引發觀察與比較；政策事實請回到 FHWA、WHO、SWOV 等來源。</a:t>
            </a:r>
          </a:p>
        </p:txBody>
      </p:sp>
    </p:spTree>
    <p:extLst>
      <p:ext uri="{BB962C8B-B14F-4D97-AF65-F5344CB8AC3E}">
        <p14:creationId xmlns:p14="http://schemas.microsoft.com/office/powerpoint/2010/main" val="214142992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986EA8-7219-4A9D-A8EF-6B0BA0ED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D7201-B463-45DC-946D-6F892B0C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不加課，把零散議題變成進程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CE052-D26C-48BE-A71B-5EC4A8E0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把既有班會課排成可累積的能力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BB663-819C-4255-91D2-02F0C894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053DE-A64E-460A-9A3B-89C76F7A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AFCC4-6638-4706-9BFB-09C46FDA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七上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FE245-6974-4DC3-AE1E-853358D1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我家在這裡：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畫出通學路線與風險點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D97FB-431B-497D-97E5-45FF535B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23BB5-62F0-409D-9D3D-541FDC13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F6CFA-CC4A-4EB8-B59A-CEFDE8BF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七下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35CD8-61A6-498F-AB7B-4160F4BB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危險路口：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停、看、聽與視距判斷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E130C-98BF-493A-80DD-F82270DD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151E9-EE4D-4DA6-B6DA-24457EA6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515DF3-30E5-4A31-A4ED-5C370ABD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八上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E3411-7C0F-4214-8F7D-831CB89D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行路禮儀：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權利義務與弱勢用路人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003FD-E79E-4725-8F77-6881FCF3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8A836-7EF0-48D5-9F1F-BA79505E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850B3-1F0F-46F0-95AA-9B1E8859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八下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71C61-05AD-4E14-98CE-0E8050B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乘車安全：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速度、碰撞與防護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1CEE8-50BF-40BD-BBC6-285231D2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837CD-5437-4531-AA07-3226182E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B71BC-F114-4D1F-9873-AB32B0C1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九上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9E35F-0B13-40DC-8243-EAAD0F2C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大眾運輸：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公共空間與移動公平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01096B-9EFC-4453-8D8E-4974B26F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458BE-97E5-4D0D-A476-F89A616B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87042-371C-4924-BA42-8CA7067C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九下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970BFD-9004-4579-BE82-0638B332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防衛駕駛：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Safe System 與公民提案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6AE505-D938-448C-B1CC-0E66E401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改寫自使用者原簡報第 25–26 頁。</a:t>
            </a:r>
          </a:p>
        </p:txBody>
      </p:sp>
    </p:spTree>
    <p:extLst>
      <p:ext uri="{BB962C8B-B14F-4D97-AF65-F5344CB8AC3E}">
        <p14:creationId xmlns:p14="http://schemas.microsoft.com/office/powerpoint/2010/main" val="182268585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EDB9C-8743-4E7D-8B0A-8E1A9876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378D4-F5A9-43F8-B4CC-52E68869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減量，才有可能做深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0B1AE-DB82-43A4-8D23-4D4E3EDC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停止堆疊，開始聚焦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00F02-92B6-4CC2-A954-B0FC56DD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DB2F1-41A2-477C-8A1B-5438F00B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STOP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62A96-C11F-4420-83FB-6C8B6C78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為訪視臨時補照片與成果冊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用口號與道德勸說責怪弱勢者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每個社會問題都新增一堂課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用活動數量代替風險變化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C36D6-CE6B-429E-A68A-1A3D5B7E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DDA13-57E4-46D7-BF98-0F3D7A56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172AB-BFB1-4089-A32C-F5A95C66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每年做一次通學路線風險盤點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每屆完成一個學生改善提案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跨公民、數學、科技課共用素材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同一網站即時保存真實工作</a:t>
            </a:r>
          </a:p>
        </p:txBody>
      </p:sp>
    </p:spTree>
    <p:extLst>
      <p:ext uri="{BB962C8B-B14F-4D97-AF65-F5344CB8AC3E}">
        <p14:creationId xmlns:p14="http://schemas.microsoft.com/office/powerpoint/2010/main" val="180183883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82D3F-333B-4CBB-863C-4544CA18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EF388-E61A-415B-82AC-6DFD8389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共同責任不是共同甩鍋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1C4DE-A877-4E23-86C2-4FDA0F6D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學校負責學習；政府負責讓改變發生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EEFB4-B00E-4FD5-8F7B-C96652C6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095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94A00-3C4F-4395-87E5-C7054BE6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學校可以承擔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4C09F-8DDF-4542-A412-BE11CF6B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學生風險感知與系統素養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通學經驗與風險點的回報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跨領域公民提案與公共溝通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校內接送管理與志工協作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2D9CB-01DB-4A87-9EBF-CDDA21DB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81250"/>
            <a:ext cx="64103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FDF01-7CEB-4843-8A51-CE069AAD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670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主管機關／教授／交通專業必須承擔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66007-AE89-4756-8838-6E0B99F0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33750"/>
            <a:ext cx="5619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道路設計、速度管理與執法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風險資料、工程優先順序與改善時程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一致、可重現、有申訴機制的評估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刪減行政要求並提供人力、經費、素材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學校提報後得到正式工程回應</a:t>
            </a:r>
          </a:p>
        </p:txBody>
      </p:sp>
    </p:spTree>
    <p:extLst>
      <p:ext uri="{BB962C8B-B14F-4D97-AF65-F5344CB8AC3E}">
        <p14:creationId xmlns:p14="http://schemas.microsoft.com/office/powerpoint/2010/main" val="14009091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84BAB-698F-4402-93B3-60F7503B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6036D-8B49-41B9-ADD2-A16C0DC4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建議的新評估邏輯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5B24A-87EB-4BC4-B3CC-07F2FF54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評鑑要從「資料齊全」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走向「安全改變」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25471-B24D-4744-92CF-75B50661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8FED2-1130-4FDA-809A-3A55E98C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6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B787D-8646-491B-868D-A3D696C6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流程證據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A5FF3-258D-4E49-BAB6-5F072E7E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是否建立跨局處責任、風險提報與回應機制？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4ECF1-93A6-479D-BEC5-D2E42C03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246FD-6E40-4C89-8D86-F82F5064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C450E-930A-45A6-9E3C-CA7E9B41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產出證據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094F8-8829-4205-8608-FCB9D768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完成哪些工程、課程與學生提案？品質如何？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BE3EE-F458-4500-899C-4964316C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BA519-8892-4148-97FE-4492F979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07E53-359D-4929-AF14-2DF004B7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結果證據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C8E8C-F9B9-4E79-8651-C3BA91D0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車速、停讓、衝突點、通學感受與系統理解是否改善？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41A26-BB2F-45CF-A882-55DFD9E9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29CDF-59C4-4C25-BF69-E7DAA025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2C0E0-E577-478D-A89A-26BA97C9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可信機制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FD348-DF8A-4AE8-86B8-38A9E504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評分者校準、多重證據、公開準則、回饋與申訴。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9EE6BC-F6AB-4839-9A97-7DD6093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評估設計參考：UK Government Magenta Book；Safe System proactive safety。</a:t>
            </a:r>
          </a:p>
        </p:txBody>
      </p:sp>
    </p:spTree>
    <p:extLst>
      <p:ext uri="{BB962C8B-B14F-4D97-AF65-F5344CB8AC3E}">
        <p14:creationId xmlns:p14="http://schemas.microsoft.com/office/powerpoint/2010/main" val="80074869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11A3FC-4AE3-4FA2-8923-A67BB49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4E145-3D91-46C1-8CD3-F770C70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請把制度改成支持安全，而不是生產資料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FD277-5767-4B03-B501-DAC0A830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給教授與長官的三個請求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4A26F-9216-49CC-91B1-85FFAA09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C5E2B-ECED-40E3-BD35-F986B678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4BE77-1E4E-49C7-A82A-3246278A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少看一本成果冊，多看一條通學路。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149C1-1ABC-4CF1-ACE0-7F4DE860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EAC56-7C09-43E0-8035-908D4196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1B6663-5D9E-40AE-94E5-7ADA34B6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38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新增任務前，先刪除等量行政負擔。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39107-AEF1-4CC7-9421-B365A866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9DDFE-286F-4521-98A0-A5C32B54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4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EA8AE-0393-4211-8F5A-654AF06F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81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學校提出風險後，請給工程回應、時程與責任人。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ED54A-C8DA-4724-B337-A48A00C2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本頁為演講者依教育現場經驗提出的制度倡議。</a:t>
            </a:r>
          </a:p>
        </p:txBody>
      </p:sp>
    </p:spTree>
    <p:extLst>
      <p:ext uri="{BB962C8B-B14F-4D97-AF65-F5344CB8AC3E}">
        <p14:creationId xmlns:p14="http://schemas.microsoft.com/office/powerpoint/2010/main" val="168450983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C4135-407E-4FBD-9974-27DA75D3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F4A52-8BFA-490C-9C67-99A4207E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最後，不要只問學校做了幾份資料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6B4B4-92C7-4094-A824-0DFD7866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請問孩子走出校門時，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D4664-9501-408B-A20D-3BB90E7F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819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這個系統，容許他犯一次錯嗎？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2C371-7A52-4DEA-9378-CDBD7954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6000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602D8-445E-4D83-B0D9-86690826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28750"/>
            <a:ext cx="2095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da3a2e2144c63"/>
          <a:stretch xmlns:a="http://schemas.openxmlformats.org/drawingml/2006/main"/>
        </p:blipFill>
        <p:spPr>
          <a:xfrm xmlns:a="http://schemas.openxmlformats.org/drawingml/2006/main">
            <a:off x="9144000" y="161925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AC67D-228D-4105-A676-AD898334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619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案例資料網站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316EE-B44A-43CA-8FB5-5185C472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網站：https://sites.google.com/mail.zgjh.hc.edu.tw/safe/首頁</a:t>
            </a:r>
          </a:p>
        </p:txBody>
      </p:sp>
    </p:spTree>
    <p:extLst>
      <p:ext uri="{BB962C8B-B14F-4D97-AF65-F5344CB8AC3E}">
        <p14:creationId xmlns:p14="http://schemas.microsoft.com/office/powerpoint/2010/main" val="107931931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EB0A67-8EA9-4CE1-8589-B6341611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41DBDC-FC51-460B-A85E-0FEA0CF0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帶回去繼續看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64174-1D19-4CE2-9775-79C3D696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更多資源與影片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46C60-E166-469B-9C15-E37A8708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EC6CB-5D7F-40C2-B01D-21D65A74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WHO｜Road traffic injuries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76490-36BA-4A86-BF98-614A136C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who.int/news-room/fact-sheets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20A52-A9C9-4774-BF13-94BE1B76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86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3220D-1F14-4105-A24B-9EC25A71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FHWA｜Zero Deaths and Safe 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838C9-195A-4DCD-9536-56DA11FD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highways.dot.gov/safety/zero-deaths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BBD07A-491D-413B-A698-47B966F7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60B91E-DB3E-4486-8C52-03037C1B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SWOV｜Sustainable Road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151E4-D4F7-474E-AFBD-099E294A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swov.nl/.../FS Sustainable Safety.pdf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E8C1F-FE79-4A7E-9C05-1D81DAC2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1707F-55A7-48BB-8E18-695F57F5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00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OECD｜TALIS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2CF510-B4EF-47F3-BCB1-F76E33E8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81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oecd.org/.../the-demands-of-teaching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E3751-D8E3-4564-8AAA-CC77E5DF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D12A1-4CE0-40E3-A13C-4FE0F2CE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BicycleDutch｜Systematic Safety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3D51B-3488-48A0-8D6D-80047B06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youtu.be/5aNtsWvNYKE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5A5C8-34BC-4120-B4EF-5C498D71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72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D7CFFB-2DD3-425F-AE85-B70B105A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43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Not Just Bikes｜Traffic Calming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FC7C6E-F454-46EA-85E5-6A40168D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12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youtu.be/bAxRYrpbnuA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5D8FBC-64D3-4991-A9E1-BFBEBA0E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完整來源與使用說明見本專案 SOURCES.md。</a:t>
            </a:r>
          </a:p>
        </p:txBody>
      </p:sp>
    </p:spTree>
    <p:extLst>
      <p:ext uri="{BB962C8B-B14F-4D97-AF65-F5344CB8AC3E}">
        <p14:creationId xmlns:p14="http://schemas.microsoft.com/office/powerpoint/2010/main" val="193545310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CEBC5F-DD91-4B68-83D9-D7D46846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51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3B1D4-CA28-4254-B52E-FE770541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附錄｜案例證據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327F9-F7BE-49C1-8E30-7DA3627D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原始訪視材料保留為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案例證據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91C85-2927-47BD-9741-9E771FD8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平時即時上傳、訪視重點、教授建議與評分表都應被保留；但它們證明的是工作歷程，不自動等於道路風險下降。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1B1A4-39A2-4C4A-BD58-FEBD15AE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095375"/>
            <a:ext cx="5181600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dc04a6db84e36"/>
          <a:stretch xmlns:a="http://schemas.openxmlformats.org/drawingml/2006/main"/>
        </p:blipFill>
        <p:spPr>
          <a:xfrm xmlns:a="http://schemas.openxmlformats.org/drawingml/2006/main">
            <a:off x="6191250" y="1810941"/>
            <a:ext cx="4991100" cy="280749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0DFE6-B171-485B-8C46-F9406DB3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505450"/>
            <a:ext cx="457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DA3D7-16F5-4638-B0CB-FA8C7225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案例來源：使用者原簡報第 32–36 頁。</a:t>
            </a:r>
          </a:p>
        </p:txBody>
      </p:sp>
    </p:spTree>
    <p:extLst>
      <p:ext uri="{BB962C8B-B14F-4D97-AF65-F5344CB8AC3E}">
        <p14:creationId xmlns:p14="http://schemas.microsoft.com/office/powerpoint/2010/main" val="11486159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2026-07-25T12:12:53.5070000Z</dcterms:created>
  <dcterms:modified xsi:type="dcterms:W3CDTF">2026-07-25T12:12:53.5070000Z</dcterms:modified>
</coreProperties>
</file>